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63" r:id="rId4"/>
    <p:sldId id="264" r:id="rId5"/>
    <p:sldId id="259" r:id="rId6"/>
    <p:sldId id="260" r:id="rId7"/>
    <p:sldId id="265" r:id="rId8"/>
    <p:sldId id="266" r:id="rId9"/>
    <p:sldId id="267" r:id="rId10"/>
    <p:sldId id="269"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730BF0D-C37C-34B8-565C-30A47BBA177D}" name="Ash Sarsour" initials="AS" userId="fe0413bc6670795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3"/>
    <p:restoredTop sz="73353"/>
  </p:normalViewPr>
  <p:slideViewPr>
    <p:cSldViewPr snapToGrid="0" snapToObjects="1">
      <p:cViewPr>
        <p:scale>
          <a:sx n="129" d="100"/>
          <a:sy n="129" d="100"/>
        </p:scale>
        <p:origin x="144" y="-28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8/10/relationships/authors" Targe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743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Thanks everyone. 40% of Customer Success tickets are status questions (where's my report, was my sample received). The answers are available in existing systems. This deck covers how we automate those responses safely, and what we are able to accomplish with freed-up capacity. Let's start by taking a look at what the AI engineering team needs from us.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objective is to establish a metric which tells us, what percentage of tickets get resolved without a human touching them. That's the binary test of whether this AI agent is working. We call this our deflection rate. A ticket is deflected when the customer’s inquiry is fully resolved without manual CS response. The goal is for the deflection rate to take away 40% of tickets from CS reps</a:t>
            </a:r>
          </a:p>
          <a:p>
            <a:r>
              <a:rPr lang="en-US" dirty="0"/>
              <a:t xml:space="preserve"> </a:t>
            </a:r>
          </a:p>
          <a:p>
            <a:r>
              <a:rPr lang="en-US" dirty="0"/>
              <a:t xml:space="preserve">We want to establish a highly accurate system that will be able to evaluate the Customer Success tickets automatically responding to status inquires, </a:t>
            </a:r>
          </a:p>
          <a:p>
            <a:endParaRPr lang="en-US" dirty="0"/>
          </a:p>
          <a:p>
            <a:r>
              <a:rPr lang="en-US" dirty="0"/>
              <a:t xml:space="preserve">The sources in which the ai agent operates through are our sources of truth. </a:t>
            </a:r>
          </a:p>
          <a:p>
            <a:endParaRPr lang="en-US" dirty="0"/>
          </a:p>
          <a:p>
            <a:r>
              <a:rPr lang="en-US" dirty="0"/>
              <a:t xml:space="preserve">Three sources of truth: Resolved tickets, status fields (being able to pull order, sample, and report status), and FAQs.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AI agent pulls data fields from Salesforce status fields and lab systems, that are indicated as read-only. Lab is the authoritative source for sample and report status. Salesforce handles Customer Success workflow.</a:t>
            </a:r>
          </a:p>
          <a:p>
            <a:endParaRPr lang="en-US" dirty="0"/>
          </a:p>
          <a:p>
            <a:r>
              <a:rPr lang="en-US" dirty="0"/>
              <a:t xml:space="preserve">The KPIS of deployment: Deflection rate (0 touch), Source of truth match rating (CS Rep judge), Handling time reduction. </a:t>
            </a:r>
          </a:p>
          <a:p>
            <a:endParaRPr lang="en-US" dirty="0"/>
          </a:p>
          <a:p>
            <a:r>
              <a:rPr lang="en-US" dirty="0"/>
              <a:t xml:space="preserve">To determine whether the AI can operate automatically we need to establish confidence logic. Confidence logic is the criteria that can tell us how much we can trust the AI to succeed in responding to tickets. </a:t>
            </a:r>
          </a:p>
          <a:p>
            <a:endParaRPr lang="en-US" dirty="0"/>
          </a:p>
          <a:p>
            <a:r>
              <a:rPr lang="en-US" dirty="0"/>
              <a:t xml:space="preserve">Confidence logic: Composite score of source of truth match % plus CS rep acceptance of AI draft rate </a:t>
            </a:r>
          </a:p>
          <a:p>
            <a:r>
              <a:rPr lang="en-US" dirty="0"/>
              <a:t>If</a:t>
            </a:r>
          </a:p>
          <a:p>
            <a:r>
              <a:rPr lang="en-US" dirty="0"/>
              <a:t>&gt;85% then auto send to physician/staff</a:t>
            </a:r>
          </a:p>
          <a:p>
            <a:r>
              <a:rPr lang="en-US" dirty="0"/>
              <a:t>&gt;50-85% then needs the sidecar check (shadow-phase anyways)</a:t>
            </a:r>
          </a:p>
          <a:p>
            <a:r>
              <a:rPr lang="en-US" dirty="0"/>
              <a:t xml:space="preserve">&lt;50% flagged for manual review </a:t>
            </a:r>
          </a:p>
          <a:p>
            <a:endParaRPr lang="en-US" dirty="0"/>
          </a:p>
          <a:p>
            <a:r>
              <a:rPr lang="en-US" dirty="0"/>
              <a:t xml:space="preserve">The confidence thresholds are moveable and not static, meaning if CS reps are indicating that a 83% confidence AI agent response is accurate 90% of the time, we can move the threshold, or if 90% confidence is incorrect and we’ll be able to observe that in the shadow phase, then we halt deployment and investigate the sources of truth. They are a global starting point but we eventually want to track accuracy by ticket topic. </a:t>
            </a:r>
          </a:p>
          <a:p>
            <a:endParaRPr lang="en-US" dirty="0"/>
          </a:p>
          <a:p>
            <a:r>
              <a:rPr lang="en-US" dirty="0"/>
              <a:t xml:space="preserve">We’re also going to implement guardrails for hallucination, PII sensitive information, and salesforce or lab ops read-only fields by design.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b="1"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expand safely</a:t>
            </a:r>
          </a:p>
          <a:p>
            <a:endParaRPr lang="en-US" dirty="0"/>
          </a:p>
          <a:p>
            <a:r>
              <a:rPr lang="en-US" dirty="0"/>
              <a:t>Beta is paused if incorrect auto responses exceed threshold, Customer Success Satisfaction Scores decline, or escalation errors increase</a:t>
            </a:r>
          </a:p>
          <a:p>
            <a:endParaRPr lang="en-US" dirty="0"/>
          </a:p>
          <a:p>
            <a:r>
              <a:rPr lang="en-US" dirty="0"/>
              <a:t>Also tracking customer sentiment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sidecar is how the feedback loop actually works in practice. Let me show you what the CS rep sees.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 care explanation</a:t>
            </a:r>
          </a:p>
          <a:p>
            <a:endParaRPr lang="en-US" dirty="0"/>
          </a:p>
          <a:p>
            <a:r>
              <a:rPr lang="en-US" dirty="0"/>
              <a:t>Weekly Review with CS Leads, review common issues, frustration or sentiment levels</a:t>
            </a:r>
          </a:p>
          <a:p>
            <a:endParaRPr lang="en-US" dirty="0"/>
          </a:p>
          <a:p>
            <a:r>
              <a:rPr lang="en-US" dirty="0"/>
              <a:t>Monthly Review with AI team, aggregating data to recalibrate thresholds make knowledge updates</a:t>
            </a:r>
          </a:p>
          <a:p>
            <a:r>
              <a:rPr lang="en-US" dirty="0"/>
              <a:t>And improve response quality</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Tempus releases new assays regularly. Each new assay introduces order types, status codes, processing timelines, and report formats the AI was not trained on. 
There’s a 4 step process to deal with them: 
1. DETECT somethings wrong: First sign is usually a spike in low-confidence routing or a jump in escalation rate and the AI starts routing more tickets to humans We’ll need to automate alerts: if deflection rate drops more than 5 points in a week, something must have changed. 
2. DIAGNOSE the problem : Pull sample tickets from the new assay category. What specifically broke? New status codes? Different turnaround time? Cross-reference with Lab Ops to get the full picture of the new assay workflow.
3. FIX it: Work with AI Engineering to update the knowledge base with new assay documentation, processing steps, and timelines. Add new status-code mappings. Retrain the confidence model on labeled tickets from the new assay. Deploy to shadow mode first, not straight to production.
4. PREVENT it from happening again: Validate the fix against a holdout set of new-assay tickets. Then build a standing process: Lab Ops notifies CS Analytics before any new assay launch so the knowledge base update happens before tickets start arriving.
IF ASKED — Who owns the Lab Ops handoff?
This would need to be a shared process between Lab Ops and CS Analytics. I would propose adding a knowledge base update step to the existing assay launch checklist that Lab Ops already follows. CS Analytics owns the update, Lab Ops owns the notification trigger.
IF ASKED — What is the target SLA (turnaround time) for a fix?
Detection should be same-day through automated alerts. Diagnosis is 1-2 days to pull samples and map the new workflow with Lab Ops. The knowledge base update and shadow validation should take 3-5 days. Total target: under one week from detection to production fix.
IF ASKED — What if this does not hit the 40% deflection target?
If after Phase 2 we are at a lower % deflection instead of 40%, I would check whether it is a scope problem (the 40% estimate was wrong and fewer tickets are actually automatable), </a:t>
            </a:r>
            <a:r>
              <a:rPr lang="en-US" b="1" dirty="0"/>
              <a:t>a data quality problem</a:t>
            </a:r>
            <a:r>
              <a:rPr lang="en-US" dirty="0"/>
              <a:t xml:space="preserve"> (status fields in Salesforce are incomplete or stale), or a </a:t>
            </a:r>
            <a:r>
              <a:rPr lang="en-US" b="1" dirty="0"/>
              <a:t>model problem</a:t>
            </a:r>
            <a:r>
              <a:rPr lang="en-US" dirty="0"/>
              <a:t xml:space="preserve"> (</a:t>
            </a:r>
            <a:r>
              <a:rPr lang="en-US" b="1" dirty="0"/>
              <a:t>confidence thresholds are too conservative</a:t>
            </a:r>
            <a:r>
              <a:rPr lang="en-US" dirty="0"/>
              <a:t xml:space="preserve">). Each diagnosis leads to a different fix. </a:t>
            </a:r>
            <a:r>
              <a:rPr lang="en-US" b="1" dirty="0"/>
              <a:t xml:space="preserve">Scope problem </a:t>
            </a:r>
            <a:r>
              <a:rPr lang="en-US" dirty="0"/>
              <a:t xml:space="preserve">means we need to expand to adjacent ticket types. </a:t>
            </a:r>
            <a:r>
              <a:rPr lang="en-US" b="1" dirty="0"/>
              <a:t xml:space="preserve">Data quality </a:t>
            </a:r>
            <a:r>
              <a:rPr lang="en-US" dirty="0"/>
              <a:t>means we work with Salesforce Admin to clean the fields. Model problem means we retrain with more data or adjust thresholds.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Engagement score = A weighted measure of digital interaction such as result views, portal activity, and approved communication engagement.”</a:t>
            </a:r>
          </a:p>
          <a:p>
            <a:endParaRPr lang="en-US" dirty="0"/>
          </a:p>
          <a:p>
            <a:r>
              <a:rPr lang="en-US" dirty="0"/>
              <a:t>Recency of CS = “A recency weighted measure of meaningful CS engagement, with more recent and higher touch interactions scoring more favorably.”</a:t>
            </a:r>
          </a:p>
          <a:p>
            <a:endParaRPr lang="en-US" dirty="0"/>
          </a:p>
          <a:p>
            <a:r>
              <a:rPr lang="en-US" dirty="0"/>
              <a:t xml:space="preserve">Risk tiers  </a:t>
            </a:r>
          </a:p>
          <a:p>
            <a:r>
              <a:rPr lang="en-US" dirty="0"/>
              <a:t xml:space="preserve">Healthy = stable or growing order volume with recent CS engagement </a:t>
            </a:r>
          </a:p>
          <a:p>
            <a:r>
              <a:rPr lang="en-US" dirty="0"/>
              <a:t xml:space="preserve">Watch = slight decline or weaker engagement </a:t>
            </a:r>
          </a:p>
          <a:p>
            <a:r>
              <a:rPr lang="en-US" dirty="0"/>
              <a:t xml:space="preserve">At Risk = meaningful decline or long contact gap </a:t>
            </a:r>
          </a:p>
          <a:p>
            <a:r>
              <a:rPr lang="en-US" dirty="0"/>
              <a:t>Critical = steep decline and weak or absent CS engagement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BI team can build anything, they need to know what data to pull and how to connect it. There are two source systems here.</a:t>
            </a:r>
          </a:p>
          <a:p>
            <a:endParaRPr lang="en-US" dirty="0"/>
          </a:p>
          <a:p>
            <a:r>
              <a:rPr lang="en-US" dirty="0"/>
              <a:t>Salesforce gives us the relationship side/ The lab database gives us the clinical side</a:t>
            </a:r>
          </a:p>
          <a:p>
            <a:endParaRPr lang="en-US" dirty="0"/>
          </a:p>
          <a:p>
            <a:r>
              <a:rPr lang="en-US" dirty="0"/>
              <a:t>The join key between the two systems is physician ID. If that's not available at the order level, BI needs to build a crosswalk between the CRM order ID and the lab order ID. That match rate should be validated before we build anything on top of it if the join is only hitting 70%, our dashboard numbers will be unreliable.</a:t>
            </a:r>
          </a:p>
          <a:p>
            <a:endParaRPr lang="en-US" dirty="0"/>
          </a:p>
          <a:p>
            <a:r>
              <a:rPr lang="en-US" dirty="0"/>
              <a:t>On the right side, these are the derived fields the calculations BI builds on top of the raw data. The ones that matter most are test orders in the last 30 days, the month-over-month and quarter-over-quarter percent change, days since last CS contact, and the churn risk tier which is the composite score we defined on the previous slide.</a:t>
            </a:r>
          </a:p>
          <a:p>
            <a:endParaRPr lang="en-US" dirty="0"/>
          </a:p>
          <a:p>
            <a:r>
              <a:rPr lang="en-US" dirty="0"/>
              <a:t>For filters, the CS manager needs to be able to slice by their own book region, account, physician, CS owner and by risk tier and time period. The default sort should surface the most urgent records first: largest MoM order decline, longest gap since CS contact, and highest churn risk score. That way when a CS manager opens the dashboard on a Monday morning, the first thing they see is the account that needs attention most."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could help a CS Rep/Manager quickly see which accounts are at risk of churning?
The KPIs here indicate how a portfolio is doing right now. For example in this snapshot we’re looking at a CS rep with 127 physicians, 18 at high churn risk (14%) meaning they’re being flagged as critical in their composite score (order activity, engagement score, and cs recency) 34 have not been contacted in 30 days (27%). The -6% MoM order change tells me the portfolio is trending the wrong direction. These five numbers give the CS Manager a 10-second health check before they look at anything else.
THE SCATTER PLOT answers: where should I focus my time today? X-axis is days since last CS contact. Y-axis is MoM order change. Bubble size is proportional to 30-day order volume, so bigger bubbles mean more revenue at stake. The negative correlation here is the story: the longer a physician goes without CS contact, the more likely their orders are declining. Bottom-right quadrant (long gap, declining orders) is the danger zone. Top-left (recent contact, growing orders) is where things are working.
Key outliers to point out:
- Big red bubble near x=15, y=-40%: This physician was contacted recently but orders are still crashing. That tells me the CS outreach is not working. We need to escalate, not just repeat the same playbook. This is DR-041 in the action table.
- Gold bubble at x=70, y=+5%: This physician has not been contacted in 70 days but orders are holding. They might be self-sufficient, or they might be one bad experience away from churning. Worth a proactive check-in.
THE ORDER TREND answers: is the portfolio getting better or worse over time? Color-coded by quarter so the CS Manager can see seasonal patterns. Q2 green (growth period), Q3 blue (peak at 195), Q4 yellow (started declining), Q1 red (accelerating decline to 148). 24% drop since Q3. 
THE HEAT MAP looks at CS Interaction Recency: where is risk concentrated geographically? Each cell is the count of physicians in that region whose last CS contact falls in that time bucket. Green cells in the 0-30d column mean those physicians were recently contacted (good). Dark red cells in the 90d+ column mean multiple physicians are being neglected (bad). Central region has 7 physicians in the 90d+ bucket, which is the worst cell on the map and the first place a CS Manager should look.
THE ACTION TABLE answers: what do I do about it? Sorted by risk tier, Critical first. Key records to discuss:
- DR-041: Critical despite being contacted 12 days ago with HIGH engagement. The intervention is not working. This needs a manager review, not another standard check-in.
- DR-045: At Risk with HIGH engagement but declining 25%. They are logging in and reading emails but reducing volume. One likely driver: they are evaluating a competitor. This needs a different conversation than a disengaged physician.
- DR-023: Watch with LOW engagement but stable orders at 14. This physician does not need hand-holding. Overcontacting them could actually be counterproductive.
BOTTOM LINE: Every visual answers one question. Together they give a CS Manager a complete picture in 60 seconds: how is my book, where is the risk, what is trending, and what do I do about it. This dashboard replaces the binary Active/Inactive with a multi-dimensional view. A CS Manager can log in, see their riskiest accounts immediately, and take action in the same session.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The AI Agent Reduces workload for CS reps safely, and efficiently. Lots of checks in place with confidence routing, sources of truth, and CS intervention. </a:t>
            </a:r>
          </a:p>
          <a:p>
            <a:endParaRPr lang="en-US" dirty="0"/>
          </a:p>
          <a:p>
            <a:r>
              <a:rPr lang="en-US" dirty="0"/>
              <a:t xml:space="preserve">The Dashboard shows a deeper sense of Physician Health with improved KPI’s (order activity, engagement score, and CS contact recency). Shows the CS reps or managers which accounts are the priority to address. </a:t>
            </a:r>
          </a:p>
          <a:p>
            <a:endParaRPr lang="en-US" dirty="0"/>
          </a:p>
          <a:p>
            <a:r>
              <a:rPr lang="en-US" dirty="0"/>
              <a:t xml:space="preserve">Together they work hand in hand to develop efficiency and engagement for the CS team.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26"/>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D7377"/>
          </a:solidFill>
          <a:ln/>
        </p:spPr>
        <p:txBody>
          <a:bodyPr/>
          <a:lstStyle/>
          <a:p>
            <a:endParaRPr lang="en-US"/>
          </a:p>
        </p:txBody>
      </p:sp>
      <p:sp>
        <p:nvSpPr>
          <p:cNvPr id="3" name="Shape 1"/>
          <p:cNvSpPr/>
          <p:nvPr/>
        </p:nvSpPr>
        <p:spPr>
          <a:xfrm>
            <a:off x="137160" y="0"/>
            <a:ext cx="36576" cy="5143500"/>
          </a:xfrm>
          <a:prstGeom prst="rect">
            <a:avLst/>
          </a:prstGeom>
          <a:solidFill>
            <a:srgbClr val="2DD4BF"/>
          </a:solidFill>
          <a:ln/>
        </p:spPr>
        <p:txBody>
          <a:bodyPr/>
          <a:lstStyle/>
          <a:p>
            <a:endParaRPr lang="en-US"/>
          </a:p>
        </p:txBody>
      </p:sp>
      <p:sp>
        <p:nvSpPr>
          <p:cNvPr id="4" name="Shape 2"/>
          <p:cNvSpPr/>
          <p:nvPr/>
        </p:nvSpPr>
        <p:spPr>
          <a:xfrm>
            <a:off x="0" y="4572000"/>
            <a:ext cx="9144000" cy="571500"/>
          </a:xfrm>
          <a:prstGeom prst="rect">
            <a:avLst/>
          </a:prstGeom>
          <a:solidFill>
            <a:srgbClr val="0D7377">
              <a:alpha val="70000"/>
            </a:srgbClr>
          </a:solidFill>
          <a:ln/>
        </p:spPr>
        <p:txBody>
          <a:bodyPr/>
          <a:lstStyle/>
          <a:p>
            <a:endParaRPr lang="en-US"/>
          </a:p>
        </p:txBody>
      </p:sp>
      <p:sp>
        <p:nvSpPr>
          <p:cNvPr id="5" name="Text 3"/>
          <p:cNvSpPr/>
          <p:nvPr/>
        </p:nvSpPr>
        <p:spPr>
          <a:xfrm>
            <a:off x="731520" y="914400"/>
            <a:ext cx="7772400" cy="91440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The Precision Scale Initiative</a:t>
            </a:r>
            <a:endParaRPr lang="en-US" sz="3600" dirty="0"/>
          </a:p>
        </p:txBody>
      </p:sp>
      <p:sp>
        <p:nvSpPr>
          <p:cNvPr id="6" name="Text 4"/>
          <p:cNvSpPr/>
          <p:nvPr/>
        </p:nvSpPr>
        <p:spPr>
          <a:xfrm>
            <a:off x="731520" y="1783080"/>
            <a:ext cx="7772400" cy="502920"/>
          </a:xfrm>
          <a:prstGeom prst="rect">
            <a:avLst/>
          </a:prstGeom>
          <a:noFill/>
          <a:ln/>
        </p:spPr>
        <p:txBody>
          <a:bodyPr wrap="square" lIns="0" tIns="0" rIns="0" bIns="0" rtlCol="0" anchor="ctr"/>
          <a:lstStyle/>
          <a:p>
            <a:pPr marL="0" indent="0">
              <a:buNone/>
            </a:pPr>
            <a:r>
              <a:rPr lang="en-US" sz="2000" dirty="0">
                <a:solidFill>
                  <a:schemeClr val="bg1"/>
                </a:solidFill>
                <a:latin typeface="Calibri" pitchFamily="34" charset="0"/>
                <a:ea typeface="Calibri" pitchFamily="34" charset="-122"/>
                <a:cs typeface="Calibri" pitchFamily="34" charset="-120"/>
              </a:rPr>
              <a:t>Part 1: AI Agent Lifecycle Management</a:t>
            </a:r>
            <a:endParaRPr lang="en-US" sz="2000" dirty="0">
              <a:solidFill>
                <a:schemeClr val="bg1"/>
              </a:solidFill>
            </a:endParaRPr>
          </a:p>
        </p:txBody>
      </p:sp>
      <p:sp>
        <p:nvSpPr>
          <p:cNvPr id="8" name="Text 6"/>
          <p:cNvSpPr/>
          <p:nvPr/>
        </p:nvSpPr>
        <p:spPr>
          <a:xfrm>
            <a:off x="727316" y="2377440"/>
            <a:ext cx="6858000" cy="822960"/>
          </a:xfrm>
          <a:prstGeom prst="rect">
            <a:avLst/>
          </a:prstGeom>
          <a:noFill/>
          <a:ln/>
        </p:spPr>
        <p:txBody>
          <a:bodyPr wrap="square" lIns="0" tIns="0" rIns="0" bIns="0" rtlCol="0" anchor="ctr"/>
          <a:lstStyle/>
          <a:p>
            <a:pPr>
              <a:lnSpc>
                <a:spcPct val="135000"/>
              </a:lnSpc>
            </a:pPr>
            <a:r>
              <a:rPr lang="en-US" sz="1400" dirty="0">
                <a:solidFill>
                  <a:schemeClr val="bg1"/>
                </a:solidFill>
              </a:rPr>
              <a:t>40% of CS tickets are status questions with answers already in our systems. This deck covers how we automate those safely and what we do with the capacity we free up.</a:t>
            </a:r>
          </a:p>
        </p:txBody>
      </p:sp>
      <p:sp>
        <p:nvSpPr>
          <p:cNvPr id="9" name="Text 7"/>
          <p:cNvSpPr/>
          <p:nvPr/>
        </p:nvSpPr>
        <p:spPr>
          <a:xfrm>
            <a:off x="731520" y="3749040"/>
            <a:ext cx="3657600" cy="36576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Ash Sarsour</a:t>
            </a:r>
            <a:endParaRPr lang="en-US" sz="1400" dirty="0"/>
          </a:p>
        </p:txBody>
      </p:sp>
      <p:sp>
        <p:nvSpPr>
          <p:cNvPr id="14" name="Text 9"/>
          <p:cNvSpPr/>
          <p:nvPr/>
        </p:nvSpPr>
        <p:spPr>
          <a:xfrm>
            <a:off x="731520" y="4617720"/>
            <a:ext cx="7315200" cy="4572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Case Presentation  |  Portfolio Case Study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B1D26"/>
          </a:solidFill>
          <a:ln/>
        </p:spPr>
        <p:txBody>
          <a:bodyPr/>
          <a:lstStyle/>
          <a:p>
            <a:endParaRPr lang="en-US"/>
          </a:p>
        </p:txBody>
      </p:sp>
      <p:sp>
        <p:nvSpPr>
          <p:cNvPr id="3" name="Text 1"/>
          <p:cNvSpPr/>
          <p:nvPr/>
        </p:nvSpPr>
        <p:spPr>
          <a:xfrm>
            <a:off x="548640" y="45720"/>
            <a:ext cx="8229600" cy="548640"/>
          </a:xfrm>
          <a:prstGeom prst="rect">
            <a:avLst/>
          </a:prstGeom>
          <a:noFill/>
          <a:ln/>
        </p:spPr>
        <p:txBody>
          <a:bodyPr wrap="square" lIns="0" tIns="0" rIns="0" bIns="0" rtlCol="0" anchor="ctr"/>
          <a:lstStyle/>
          <a:p>
            <a:r>
              <a:rPr lang="en-US" sz="1800" b="1" dirty="0">
                <a:solidFill>
                  <a:schemeClr val="bg1"/>
                </a:solidFill>
                <a:latin typeface="Trebuchet MS" pitchFamily="34" charset="0"/>
                <a:ea typeface="Trebuchet MS" pitchFamily="34" charset="-122"/>
                <a:cs typeface="Trebuchet MS" pitchFamily="34" charset="-120"/>
              </a:rPr>
              <a:t xml:space="preserve">Q1   </a:t>
            </a:r>
            <a:r>
              <a:rPr lang="en-US" dirty="0">
                <a:solidFill>
                  <a:schemeClr val="bg1"/>
                </a:solidFill>
              </a:rPr>
              <a:t>A strong BRD keeps the agent safe, measurable, and useful</a:t>
            </a:r>
            <a:endParaRPr lang="en-US" sz="1800" dirty="0">
              <a:solidFill>
                <a:schemeClr val="bg1"/>
              </a:solidFill>
            </a:endParaRPr>
          </a:p>
        </p:txBody>
      </p:sp>
      <p:sp>
        <p:nvSpPr>
          <p:cNvPr id="4" name="Text 2"/>
          <p:cNvSpPr/>
          <p:nvPr/>
        </p:nvSpPr>
        <p:spPr>
          <a:xfrm>
            <a:off x="1939094" y="786384"/>
            <a:ext cx="8229600" cy="365760"/>
          </a:xfrm>
          <a:prstGeom prst="rect">
            <a:avLst/>
          </a:prstGeom>
          <a:noFill/>
          <a:ln/>
        </p:spPr>
        <p:txBody>
          <a:bodyPr wrap="square" lIns="0" tIns="0" rIns="0" bIns="0" rtlCol="0" anchor="ctr"/>
          <a:lstStyle/>
          <a:p>
            <a:pPr marL="0" indent="0">
              <a:buNone/>
            </a:pPr>
            <a:r>
              <a:rPr lang="en-US" sz="1200" dirty="0">
                <a:solidFill>
                  <a:srgbClr val="4A6572"/>
                </a:solidFill>
                <a:latin typeface="Calibri" pitchFamily="34" charset="0"/>
                <a:ea typeface="Calibri" pitchFamily="34" charset="-122"/>
                <a:cs typeface="Calibri" pitchFamily="34" charset="-120"/>
              </a:rPr>
              <a:t>What the AI Engineering team needs from us to build an agent that reduces workload:</a:t>
            </a:r>
            <a:endParaRPr lang="en-US" sz="1200" dirty="0"/>
          </a:p>
        </p:txBody>
      </p:sp>
      <p:sp>
        <p:nvSpPr>
          <p:cNvPr id="5" name="Shape 3"/>
          <p:cNvSpPr/>
          <p:nvPr/>
        </p:nvSpPr>
        <p:spPr>
          <a:xfrm>
            <a:off x="411480" y="1280160"/>
            <a:ext cx="4023360" cy="1280160"/>
          </a:xfrm>
          <a:prstGeom prst="rect">
            <a:avLst/>
          </a:prstGeom>
          <a:solidFill>
            <a:srgbClr val="FFFFFF"/>
          </a:solidFill>
          <a:ln/>
          <a:effectLst>
            <a:outerShdw blurRad="63500" dist="25400" dir="8100000" algn="bl" rotWithShape="0">
              <a:srgbClr val="000000">
                <a:alpha val="8000"/>
              </a:srgbClr>
            </a:outerShdw>
          </a:effectLst>
        </p:spPr>
        <p:txBody>
          <a:bodyPr/>
          <a:lstStyle/>
          <a:p>
            <a:endParaRPr lang="en-US"/>
          </a:p>
        </p:txBody>
      </p:sp>
      <p:sp>
        <p:nvSpPr>
          <p:cNvPr id="6" name="Shape 4"/>
          <p:cNvSpPr/>
          <p:nvPr/>
        </p:nvSpPr>
        <p:spPr>
          <a:xfrm>
            <a:off x="411480" y="1280160"/>
            <a:ext cx="54864" cy="1280160"/>
          </a:xfrm>
          <a:prstGeom prst="rect">
            <a:avLst/>
          </a:prstGeom>
          <a:solidFill>
            <a:srgbClr val="0D7377"/>
          </a:solidFill>
          <a:ln/>
        </p:spPr>
        <p:txBody>
          <a:bodyPr/>
          <a:lstStyle/>
          <a:p>
            <a:endParaRPr lang="en-US"/>
          </a:p>
        </p:txBody>
      </p:sp>
      <p:sp>
        <p:nvSpPr>
          <p:cNvPr id="8" name="Text 5"/>
          <p:cNvSpPr/>
          <p:nvPr/>
        </p:nvSpPr>
        <p:spPr>
          <a:xfrm>
            <a:off x="652631" y="1344168"/>
            <a:ext cx="3200400" cy="320040"/>
          </a:xfrm>
          <a:prstGeom prst="rect">
            <a:avLst/>
          </a:prstGeom>
          <a:noFill/>
          <a:ln/>
        </p:spPr>
        <p:txBody>
          <a:bodyPr wrap="square" lIns="0" tIns="0" rIns="0" bIns="0" rtlCol="0" anchor="ctr"/>
          <a:lstStyle/>
          <a:p>
            <a:pPr marL="0" indent="0">
              <a:buNone/>
            </a:pPr>
            <a:r>
              <a:rPr lang="en-US" sz="1200" b="1" dirty="0">
                <a:solidFill>
                  <a:srgbClr val="1A2B34"/>
                </a:solidFill>
                <a:latin typeface="Trebuchet MS" pitchFamily="34" charset="0"/>
                <a:ea typeface="Trebuchet MS" pitchFamily="34" charset="-122"/>
                <a:cs typeface="Trebuchet MS" pitchFamily="34" charset="-120"/>
              </a:rPr>
              <a:t>Objective &amp; Scope</a:t>
            </a:r>
            <a:endParaRPr lang="en-US" sz="1200" dirty="0"/>
          </a:p>
        </p:txBody>
      </p:sp>
      <p:sp>
        <p:nvSpPr>
          <p:cNvPr id="9" name="Text 6"/>
          <p:cNvSpPr/>
          <p:nvPr/>
        </p:nvSpPr>
        <p:spPr>
          <a:xfrm>
            <a:off x="640080" y="1664208"/>
            <a:ext cx="3657600" cy="868680"/>
          </a:xfrm>
          <a:prstGeom prst="rect">
            <a:avLst/>
          </a:prstGeom>
          <a:noFill/>
          <a:ln/>
        </p:spPr>
        <p:txBody>
          <a:bodyPr wrap="square" lIns="0" tIns="0" rIns="0" bIns="0" rtlCol="0" anchor="t"/>
          <a:lstStyle/>
          <a:p>
            <a:pPr>
              <a:lnSpc>
                <a:spcPct val="125000"/>
              </a:lnSpc>
            </a:pPr>
            <a:r>
              <a:rPr lang="en-US" sz="1000" b="1" dirty="0">
                <a:solidFill>
                  <a:srgbClr val="4A6572"/>
                </a:solidFill>
                <a:latin typeface="Calibri" pitchFamily="34" charset="0"/>
                <a:ea typeface="Calibri" pitchFamily="34" charset="-122"/>
                <a:cs typeface="Calibri" pitchFamily="34" charset="-120"/>
              </a:rPr>
              <a:t>Our Goal</a:t>
            </a:r>
            <a:r>
              <a:rPr lang="en-US" sz="850" dirty="0">
                <a:solidFill>
                  <a:srgbClr val="4A6572"/>
                </a:solidFill>
                <a:latin typeface="Calibri" pitchFamily="34" charset="0"/>
                <a:ea typeface="Calibri" pitchFamily="34" charset="-122"/>
                <a:cs typeface="Calibri" pitchFamily="34" charset="-120"/>
              </a:rPr>
              <a:t xml:space="preserve">: Improve CS efficiency by automating </a:t>
            </a:r>
            <a:r>
              <a:rPr lang="en-US" sz="850" b="1" dirty="0">
                <a:solidFill>
                  <a:srgbClr val="4A6572"/>
                </a:solidFill>
                <a:latin typeface="Calibri" pitchFamily="34" charset="0"/>
                <a:ea typeface="Calibri" pitchFamily="34" charset="-122"/>
                <a:cs typeface="Calibri" pitchFamily="34" charset="-120"/>
              </a:rPr>
              <a:t>high-confidence status.</a:t>
            </a:r>
            <a:endParaRPr lang="en-US" sz="850" dirty="0">
              <a:solidFill>
                <a:srgbClr val="4A6572"/>
              </a:solidFill>
              <a:latin typeface="Calibri" pitchFamily="34" charset="0"/>
              <a:cs typeface="Calibri" pitchFamily="34" charset="-120"/>
            </a:endParaRPr>
          </a:p>
          <a:p>
            <a:pPr>
              <a:lnSpc>
                <a:spcPct val="125000"/>
              </a:lnSpc>
            </a:pPr>
            <a:r>
              <a:rPr lang="en-US" sz="850" dirty="0">
                <a:solidFill>
                  <a:srgbClr val="4A6572"/>
                </a:solidFill>
                <a:latin typeface="Calibri" pitchFamily="34" charset="0"/>
                <a:cs typeface="Calibri" pitchFamily="34" charset="-120"/>
              </a:rPr>
              <a:t>In-Scope: Status inquiries (report delivery, sample received, processing ETA)</a:t>
            </a:r>
          </a:p>
          <a:p>
            <a:pPr marL="0" indent="0">
              <a:lnSpc>
                <a:spcPct val="125000"/>
              </a:lnSpc>
              <a:buNone/>
            </a:pPr>
            <a:r>
              <a:rPr lang="en-US" sz="850" dirty="0">
                <a:solidFill>
                  <a:srgbClr val="4A6572"/>
                </a:solidFill>
                <a:latin typeface="Calibri" pitchFamily="34" charset="0"/>
                <a:cs typeface="Calibri" pitchFamily="34" charset="-120"/>
              </a:rPr>
              <a:t>Out-of-Scope: Autonomous ordering or acco</a:t>
            </a:r>
            <a:r>
              <a:rPr lang="en-US" sz="850" dirty="0">
                <a:solidFill>
                  <a:srgbClr val="4A6572"/>
                </a:solidFill>
                <a:latin typeface="Calibri" pitchFamily="34" charset="0"/>
                <a:ea typeface="Calibri" pitchFamily="34" charset="-122"/>
                <a:cs typeface="Calibri" pitchFamily="34" charset="-120"/>
              </a:rPr>
              <a:t>unt changes (Phase 2)</a:t>
            </a:r>
            <a:endParaRPr lang="en-US" sz="850" dirty="0"/>
          </a:p>
        </p:txBody>
      </p:sp>
      <p:sp>
        <p:nvSpPr>
          <p:cNvPr id="10" name="Shape 7"/>
          <p:cNvSpPr/>
          <p:nvPr/>
        </p:nvSpPr>
        <p:spPr>
          <a:xfrm>
            <a:off x="411480" y="2377440"/>
            <a:ext cx="4023360" cy="1280160"/>
          </a:xfrm>
          <a:prstGeom prst="rect">
            <a:avLst/>
          </a:prstGeom>
          <a:solidFill>
            <a:srgbClr val="FFFFFF"/>
          </a:solidFill>
          <a:ln/>
          <a:effectLst>
            <a:outerShdw blurRad="63500" dist="25400" dir="8100000" algn="bl" rotWithShape="0">
              <a:srgbClr val="000000">
                <a:alpha val="8000"/>
              </a:srgbClr>
            </a:outerShdw>
          </a:effectLst>
        </p:spPr>
        <p:txBody>
          <a:bodyPr/>
          <a:lstStyle/>
          <a:p>
            <a:endParaRPr lang="en-US"/>
          </a:p>
        </p:txBody>
      </p:sp>
      <p:sp>
        <p:nvSpPr>
          <p:cNvPr id="11" name="Shape 8"/>
          <p:cNvSpPr/>
          <p:nvPr/>
        </p:nvSpPr>
        <p:spPr>
          <a:xfrm>
            <a:off x="411480" y="2377440"/>
            <a:ext cx="54864" cy="1280160"/>
          </a:xfrm>
          <a:prstGeom prst="rect">
            <a:avLst/>
          </a:prstGeom>
          <a:solidFill>
            <a:srgbClr val="0D7377"/>
          </a:solidFill>
          <a:ln/>
        </p:spPr>
        <p:txBody>
          <a:bodyPr/>
          <a:lstStyle/>
          <a:p>
            <a:endParaRPr lang="en-US"/>
          </a:p>
        </p:txBody>
      </p:sp>
      <p:sp>
        <p:nvSpPr>
          <p:cNvPr id="13" name="Text 9"/>
          <p:cNvSpPr/>
          <p:nvPr/>
        </p:nvSpPr>
        <p:spPr>
          <a:xfrm>
            <a:off x="621792" y="2244972"/>
            <a:ext cx="3200400" cy="320040"/>
          </a:xfrm>
          <a:prstGeom prst="rect">
            <a:avLst/>
          </a:prstGeom>
          <a:noFill/>
          <a:ln/>
        </p:spPr>
        <p:txBody>
          <a:bodyPr wrap="square" lIns="0" tIns="0" rIns="0" bIns="0" rtlCol="0" anchor="ctr"/>
          <a:lstStyle/>
          <a:p>
            <a:pPr marL="0" indent="0">
              <a:buNone/>
            </a:pPr>
            <a:r>
              <a:rPr lang="en-US" sz="1200" b="1" dirty="0">
                <a:solidFill>
                  <a:srgbClr val="1A2B34"/>
                </a:solidFill>
                <a:latin typeface="Trebuchet MS" pitchFamily="34" charset="0"/>
                <a:ea typeface="Trebuchet MS" pitchFamily="34" charset="-122"/>
                <a:cs typeface="Trebuchet MS" pitchFamily="34" charset="-120"/>
              </a:rPr>
              <a:t>Data &amp; Architecture</a:t>
            </a:r>
            <a:endParaRPr lang="en-US" sz="1200" dirty="0"/>
          </a:p>
        </p:txBody>
      </p:sp>
      <p:sp>
        <p:nvSpPr>
          <p:cNvPr id="14" name="Text 10"/>
          <p:cNvSpPr/>
          <p:nvPr/>
        </p:nvSpPr>
        <p:spPr>
          <a:xfrm>
            <a:off x="640080" y="2560320"/>
            <a:ext cx="3657600" cy="868680"/>
          </a:xfrm>
          <a:prstGeom prst="rect">
            <a:avLst/>
          </a:prstGeom>
          <a:noFill/>
          <a:ln/>
        </p:spPr>
        <p:txBody>
          <a:bodyPr wrap="square" lIns="0" tIns="0" rIns="0" bIns="0" rtlCol="0" anchor="t"/>
          <a:lstStyle/>
          <a:p>
            <a:pPr marL="0" indent="0">
              <a:lnSpc>
                <a:spcPct val="125000"/>
              </a:lnSpc>
              <a:buNone/>
            </a:pPr>
            <a:r>
              <a:rPr lang="en-US" sz="850" dirty="0">
                <a:solidFill>
                  <a:srgbClr val="4A6572"/>
                </a:solidFill>
                <a:latin typeface="Calibri" pitchFamily="34" charset="0"/>
                <a:ea typeface="Calibri" pitchFamily="34" charset="-122"/>
                <a:cs typeface="Calibri" pitchFamily="34" charset="-120"/>
              </a:rPr>
              <a:t>Retrieval-based architecture grounded in approved internal sources such as resolved tickets, status fields, and FAQs</a:t>
            </a:r>
            <a:endParaRPr lang="en-US" sz="850" dirty="0"/>
          </a:p>
          <a:p>
            <a:pPr>
              <a:lnSpc>
                <a:spcPct val="125000"/>
              </a:lnSpc>
            </a:pPr>
            <a:r>
              <a:rPr lang="en-US" sz="850" dirty="0">
                <a:solidFill>
                  <a:srgbClr val="4A6572"/>
                </a:solidFill>
                <a:latin typeface="Calibri" pitchFamily="34" charset="0"/>
                <a:ea typeface="Calibri" pitchFamily="34" charset="-122"/>
                <a:cs typeface="Calibri" pitchFamily="34" charset="-120"/>
              </a:rPr>
              <a:t xml:space="preserve">Responses grounded in approved source-of-truth systems for order, sample, and report status. </a:t>
            </a:r>
            <a:r>
              <a:rPr lang="en-US" sz="850" dirty="0">
                <a:solidFill>
                  <a:srgbClr val="4A6572"/>
                </a:solidFill>
                <a:latin typeface="Calibri" pitchFamily="34" charset="0"/>
                <a:cs typeface="Calibri" pitchFamily="34" charset="-120"/>
              </a:rPr>
              <a:t>Lab systems remain the authoritative source for sample and report status, while Salesforce supports CS workflow and case visibility</a:t>
            </a:r>
            <a:r>
              <a:rPr lang="en-US" sz="900" dirty="0"/>
              <a:t>.</a:t>
            </a:r>
            <a:endParaRPr lang="en-US" sz="850" dirty="0"/>
          </a:p>
        </p:txBody>
      </p:sp>
      <p:sp>
        <p:nvSpPr>
          <p:cNvPr id="15" name="Shape 11"/>
          <p:cNvSpPr/>
          <p:nvPr/>
        </p:nvSpPr>
        <p:spPr>
          <a:xfrm>
            <a:off x="411480" y="3657600"/>
            <a:ext cx="4023360" cy="1097280"/>
          </a:xfrm>
          <a:prstGeom prst="rect">
            <a:avLst/>
          </a:prstGeom>
          <a:solidFill>
            <a:srgbClr val="FFFFFF"/>
          </a:solidFill>
          <a:ln/>
          <a:effectLst>
            <a:outerShdw blurRad="63500" dist="25400" dir="8100000" algn="bl" rotWithShape="0">
              <a:srgbClr val="000000">
                <a:alpha val="8000"/>
              </a:srgbClr>
            </a:outerShdw>
          </a:effectLst>
        </p:spPr>
        <p:txBody>
          <a:bodyPr/>
          <a:lstStyle/>
          <a:p>
            <a:endParaRPr lang="en-US"/>
          </a:p>
        </p:txBody>
      </p:sp>
      <p:sp>
        <p:nvSpPr>
          <p:cNvPr id="16" name="Shape 12"/>
          <p:cNvSpPr/>
          <p:nvPr/>
        </p:nvSpPr>
        <p:spPr>
          <a:xfrm>
            <a:off x="411480" y="3474720"/>
            <a:ext cx="54864" cy="1280160"/>
          </a:xfrm>
          <a:prstGeom prst="rect">
            <a:avLst/>
          </a:prstGeom>
          <a:solidFill>
            <a:srgbClr val="0D7377"/>
          </a:solidFill>
          <a:ln/>
        </p:spPr>
        <p:txBody>
          <a:bodyPr/>
          <a:lstStyle/>
          <a:p>
            <a:endParaRPr lang="en-US"/>
          </a:p>
        </p:txBody>
      </p:sp>
      <p:sp>
        <p:nvSpPr>
          <p:cNvPr id="18" name="Text 13"/>
          <p:cNvSpPr/>
          <p:nvPr/>
        </p:nvSpPr>
        <p:spPr>
          <a:xfrm>
            <a:off x="640080" y="3346944"/>
            <a:ext cx="3200400" cy="320040"/>
          </a:xfrm>
          <a:prstGeom prst="rect">
            <a:avLst/>
          </a:prstGeom>
          <a:noFill/>
          <a:ln/>
        </p:spPr>
        <p:txBody>
          <a:bodyPr wrap="square" lIns="0" tIns="0" rIns="0" bIns="0" rtlCol="0" anchor="ctr"/>
          <a:lstStyle/>
          <a:p>
            <a:pPr marL="0" indent="0">
              <a:buNone/>
            </a:pPr>
            <a:r>
              <a:rPr lang="en-US" sz="1200" b="1" dirty="0">
                <a:solidFill>
                  <a:srgbClr val="1A2B34"/>
                </a:solidFill>
                <a:latin typeface="Trebuchet MS" pitchFamily="34" charset="0"/>
                <a:ea typeface="Trebuchet MS" pitchFamily="34" charset="-122"/>
                <a:cs typeface="Trebuchet MS" pitchFamily="34" charset="-120"/>
              </a:rPr>
              <a:t>Success Metrics &amp; KPIs</a:t>
            </a:r>
            <a:endParaRPr lang="en-US" sz="1200" dirty="0"/>
          </a:p>
        </p:txBody>
      </p:sp>
      <p:sp>
        <p:nvSpPr>
          <p:cNvPr id="19" name="Text 14"/>
          <p:cNvSpPr/>
          <p:nvPr/>
        </p:nvSpPr>
        <p:spPr>
          <a:xfrm>
            <a:off x="621792" y="3708012"/>
            <a:ext cx="3657600" cy="868680"/>
          </a:xfrm>
          <a:prstGeom prst="rect">
            <a:avLst/>
          </a:prstGeom>
          <a:noFill/>
          <a:ln/>
        </p:spPr>
        <p:txBody>
          <a:bodyPr wrap="square" lIns="0" tIns="0" rIns="0" bIns="0" rtlCol="0" anchor="t"/>
          <a:lstStyle/>
          <a:p>
            <a:pPr>
              <a:lnSpc>
                <a:spcPct val="125000"/>
              </a:lnSpc>
            </a:pPr>
            <a:r>
              <a:rPr lang="en-US" sz="850" dirty="0">
                <a:solidFill>
                  <a:srgbClr val="4A6572"/>
                </a:solidFill>
                <a:latin typeface="Calibri" pitchFamily="34" charset="0"/>
                <a:ea typeface="Calibri" pitchFamily="34" charset="-122"/>
                <a:cs typeface="Calibri" pitchFamily="34" charset="-120"/>
              </a:rPr>
              <a:t xml:space="preserve">Primary: Deflection rate (zero-touch resolved), automation </a:t>
            </a:r>
            <a:r>
              <a:rPr lang="en-US" sz="850" dirty="0">
                <a:solidFill>
                  <a:srgbClr val="4A6572"/>
                </a:solidFill>
                <a:latin typeface="Calibri" pitchFamily="34" charset="0"/>
                <a:cs typeface="Calibri" pitchFamily="34" charset="-120"/>
              </a:rPr>
              <a:t xml:space="preserve">accuracy (percent of AI responses judged correct against source data, plus agent acceptance as-is for assisted drafts.), </a:t>
            </a:r>
            <a:r>
              <a:rPr lang="en-US" sz="850" dirty="0">
                <a:solidFill>
                  <a:srgbClr val="4A6572"/>
                </a:solidFill>
                <a:latin typeface="Calibri" pitchFamily="34" charset="0"/>
                <a:ea typeface="Calibri" pitchFamily="34" charset="-122"/>
                <a:cs typeface="Calibri" pitchFamily="34" charset="-120"/>
              </a:rPr>
              <a:t>handle time reduction (ticket open to close)</a:t>
            </a:r>
            <a:endParaRPr lang="en-US" sz="850" dirty="0"/>
          </a:p>
          <a:p>
            <a:pPr marL="0" indent="0">
              <a:lnSpc>
                <a:spcPct val="125000"/>
              </a:lnSpc>
              <a:buNone/>
            </a:pPr>
            <a:r>
              <a:rPr lang="en-US" sz="850" dirty="0">
                <a:solidFill>
                  <a:srgbClr val="4A6572"/>
                </a:solidFill>
                <a:latin typeface="Calibri" pitchFamily="34" charset="0"/>
                <a:ea typeface="Calibri" pitchFamily="34" charset="-122"/>
                <a:cs typeface="Calibri" pitchFamily="34" charset="-120"/>
              </a:rPr>
              <a:t>Guardrail: Customer Satisfaction Score on AI-handled tickets, escalation rate due to incorrect answers, compliance or privacy incidents.</a:t>
            </a:r>
            <a:endParaRPr lang="en-US" sz="850" dirty="0"/>
          </a:p>
        </p:txBody>
      </p:sp>
      <p:sp>
        <p:nvSpPr>
          <p:cNvPr id="21" name="Shape 16"/>
          <p:cNvSpPr/>
          <p:nvPr/>
        </p:nvSpPr>
        <p:spPr>
          <a:xfrm>
            <a:off x="4709160" y="1280160"/>
            <a:ext cx="54864" cy="1280160"/>
          </a:xfrm>
          <a:prstGeom prst="rect">
            <a:avLst/>
          </a:prstGeom>
          <a:solidFill>
            <a:srgbClr val="0D7377"/>
          </a:solidFill>
          <a:ln/>
        </p:spPr>
        <p:txBody>
          <a:bodyPr/>
          <a:lstStyle/>
          <a:p>
            <a:endParaRPr lang="en-US"/>
          </a:p>
        </p:txBody>
      </p:sp>
      <p:sp>
        <p:nvSpPr>
          <p:cNvPr id="23" name="Text 17"/>
          <p:cNvSpPr/>
          <p:nvPr/>
        </p:nvSpPr>
        <p:spPr>
          <a:xfrm>
            <a:off x="4937760" y="1365872"/>
            <a:ext cx="3200400" cy="320040"/>
          </a:xfrm>
          <a:prstGeom prst="rect">
            <a:avLst/>
          </a:prstGeom>
          <a:noFill/>
          <a:ln/>
        </p:spPr>
        <p:txBody>
          <a:bodyPr wrap="square" lIns="0" tIns="0" rIns="0" bIns="0" rtlCol="0" anchor="ctr"/>
          <a:lstStyle/>
          <a:p>
            <a:pPr marL="0" indent="0">
              <a:buNone/>
            </a:pPr>
            <a:r>
              <a:rPr lang="en-US" sz="1200" b="1" dirty="0">
                <a:solidFill>
                  <a:srgbClr val="1A2B34"/>
                </a:solidFill>
                <a:latin typeface="Trebuchet MS" pitchFamily="34" charset="0"/>
                <a:ea typeface="Trebuchet MS" pitchFamily="34" charset="-122"/>
                <a:cs typeface="Trebuchet MS" pitchFamily="34" charset="-120"/>
              </a:rPr>
              <a:t>Confidence Logic</a:t>
            </a:r>
            <a:endParaRPr lang="en-US" sz="1200" dirty="0"/>
          </a:p>
        </p:txBody>
      </p:sp>
      <p:sp>
        <p:nvSpPr>
          <p:cNvPr id="24" name="Text 18"/>
          <p:cNvSpPr/>
          <p:nvPr/>
        </p:nvSpPr>
        <p:spPr>
          <a:xfrm>
            <a:off x="4937760" y="1664208"/>
            <a:ext cx="3657600" cy="868680"/>
          </a:xfrm>
          <a:prstGeom prst="rect">
            <a:avLst/>
          </a:prstGeom>
          <a:noFill/>
          <a:ln/>
        </p:spPr>
        <p:txBody>
          <a:bodyPr wrap="square" lIns="0" tIns="0" rIns="0" bIns="0" rtlCol="0" anchor="t"/>
          <a:lstStyle/>
          <a:p>
            <a:pPr marL="0" indent="0">
              <a:lnSpc>
                <a:spcPct val="125000"/>
              </a:lnSpc>
              <a:buNone/>
            </a:pPr>
            <a:r>
              <a:rPr lang="en-US" sz="850" b="1" dirty="0">
                <a:solidFill>
                  <a:srgbClr val="4A6572"/>
                </a:solidFill>
                <a:latin typeface="Calibri" pitchFamily="34" charset="0"/>
                <a:ea typeface="Calibri" pitchFamily="34" charset="-122"/>
                <a:cs typeface="Calibri" pitchFamily="34" charset="-120"/>
              </a:rPr>
              <a:t xml:space="preserve">High Confidence </a:t>
            </a:r>
            <a:r>
              <a:rPr lang="en-US" sz="850" dirty="0">
                <a:solidFill>
                  <a:srgbClr val="4A6572"/>
                </a:solidFill>
                <a:latin typeface="Calibri" pitchFamily="34" charset="0"/>
                <a:ea typeface="Calibri" pitchFamily="34" charset="-122"/>
                <a:cs typeface="Calibri" pitchFamily="34" charset="-120"/>
              </a:rPr>
              <a:t>(&gt;85%): Automatically reply directly to physician/staff</a:t>
            </a:r>
            <a:endParaRPr lang="en-US" sz="850" dirty="0"/>
          </a:p>
          <a:p>
            <a:pPr marL="0" indent="0">
              <a:lnSpc>
                <a:spcPct val="125000"/>
              </a:lnSpc>
              <a:buNone/>
            </a:pPr>
            <a:r>
              <a:rPr lang="en-US" sz="850" dirty="0">
                <a:solidFill>
                  <a:srgbClr val="4A6572"/>
                </a:solidFill>
                <a:latin typeface="Calibri" pitchFamily="34" charset="0"/>
                <a:ea typeface="Calibri" pitchFamily="34" charset="-122"/>
                <a:cs typeface="Calibri" pitchFamily="34" charset="-120"/>
              </a:rPr>
              <a:t>Medium (50-85%): AI draft shown in sidecar UI for CS representative review</a:t>
            </a:r>
            <a:endParaRPr lang="en-US" sz="850" dirty="0"/>
          </a:p>
          <a:p>
            <a:pPr marL="0" indent="0">
              <a:lnSpc>
                <a:spcPct val="125000"/>
              </a:lnSpc>
              <a:buNone/>
            </a:pPr>
            <a:r>
              <a:rPr lang="en-US" sz="850" dirty="0">
                <a:solidFill>
                  <a:srgbClr val="4A6572"/>
                </a:solidFill>
                <a:latin typeface="Calibri" pitchFamily="34" charset="0"/>
                <a:ea typeface="Calibri" pitchFamily="34" charset="-122"/>
                <a:cs typeface="Calibri" pitchFamily="34" charset="-120"/>
              </a:rPr>
              <a:t>Low (&lt;50%): Routed to human representative, no auto AI response.</a:t>
            </a:r>
          </a:p>
          <a:p>
            <a:pPr marL="0" indent="0">
              <a:lnSpc>
                <a:spcPct val="125000"/>
              </a:lnSpc>
              <a:buNone/>
            </a:pPr>
            <a:r>
              <a:rPr lang="en-US" sz="850" dirty="0">
                <a:solidFill>
                  <a:srgbClr val="4A6572"/>
                </a:solidFill>
                <a:latin typeface="Calibri" pitchFamily="34" charset="0"/>
                <a:cs typeface="Calibri" pitchFamily="34" charset="-120"/>
              </a:rPr>
              <a:t>Thresholds to be calibrated during Shadow phase.</a:t>
            </a:r>
            <a:endParaRPr lang="en-US" sz="850" dirty="0"/>
          </a:p>
        </p:txBody>
      </p:sp>
      <p:sp>
        <p:nvSpPr>
          <p:cNvPr id="26" name="Shape 20"/>
          <p:cNvSpPr/>
          <p:nvPr/>
        </p:nvSpPr>
        <p:spPr>
          <a:xfrm>
            <a:off x="4709160" y="2377440"/>
            <a:ext cx="54864" cy="1280160"/>
          </a:xfrm>
          <a:prstGeom prst="rect">
            <a:avLst/>
          </a:prstGeom>
          <a:solidFill>
            <a:srgbClr val="0D7377"/>
          </a:solidFill>
          <a:ln/>
        </p:spPr>
        <p:txBody>
          <a:bodyPr/>
          <a:lstStyle/>
          <a:p>
            <a:endParaRPr lang="en-US"/>
          </a:p>
        </p:txBody>
      </p:sp>
      <p:sp>
        <p:nvSpPr>
          <p:cNvPr id="28" name="Text 21"/>
          <p:cNvSpPr/>
          <p:nvPr/>
        </p:nvSpPr>
        <p:spPr>
          <a:xfrm>
            <a:off x="4937760" y="2263718"/>
            <a:ext cx="3200400" cy="320040"/>
          </a:xfrm>
          <a:prstGeom prst="rect">
            <a:avLst/>
          </a:prstGeom>
          <a:noFill/>
          <a:ln/>
        </p:spPr>
        <p:txBody>
          <a:bodyPr wrap="square" lIns="0" tIns="0" rIns="0" bIns="0" rtlCol="0" anchor="ctr"/>
          <a:lstStyle/>
          <a:p>
            <a:pPr marL="0" indent="0">
              <a:buNone/>
            </a:pPr>
            <a:r>
              <a:rPr lang="en-US" sz="1200" b="1" dirty="0">
                <a:solidFill>
                  <a:srgbClr val="1A2B34"/>
                </a:solidFill>
                <a:latin typeface="Trebuchet MS" pitchFamily="34" charset="0"/>
                <a:ea typeface="Trebuchet MS" pitchFamily="34" charset="-122"/>
                <a:cs typeface="Trebuchet MS" pitchFamily="34" charset="-120"/>
              </a:rPr>
              <a:t>Guardrails &amp; Constraints</a:t>
            </a:r>
            <a:endParaRPr lang="en-US" sz="1200" dirty="0"/>
          </a:p>
        </p:txBody>
      </p:sp>
      <p:sp>
        <p:nvSpPr>
          <p:cNvPr id="29" name="Text 22"/>
          <p:cNvSpPr/>
          <p:nvPr/>
        </p:nvSpPr>
        <p:spPr>
          <a:xfrm>
            <a:off x="4937760" y="2539738"/>
            <a:ext cx="3657600" cy="868680"/>
          </a:xfrm>
          <a:prstGeom prst="rect">
            <a:avLst/>
          </a:prstGeom>
          <a:noFill/>
          <a:ln/>
        </p:spPr>
        <p:txBody>
          <a:bodyPr wrap="square" lIns="0" tIns="0" rIns="0" bIns="0" rtlCol="0" anchor="t"/>
          <a:lstStyle/>
          <a:p>
            <a:pPr marL="0" indent="0">
              <a:lnSpc>
                <a:spcPct val="125000"/>
              </a:lnSpc>
              <a:buNone/>
            </a:pPr>
            <a:r>
              <a:rPr lang="en-US" sz="850" dirty="0">
                <a:solidFill>
                  <a:srgbClr val="4A6572"/>
                </a:solidFill>
                <a:latin typeface="Calibri" pitchFamily="34" charset="0"/>
                <a:ea typeface="Calibri" pitchFamily="34" charset="-122"/>
                <a:cs typeface="Calibri" pitchFamily="34" charset="-120"/>
              </a:rPr>
              <a:t xml:space="preserve">Hallucination check: AI response validated against retrieved source docs. </a:t>
            </a:r>
            <a:endParaRPr lang="en-US" sz="850" dirty="0"/>
          </a:p>
          <a:p>
            <a:pPr marL="0" indent="0">
              <a:lnSpc>
                <a:spcPct val="125000"/>
              </a:lnSpc>
              <a:buNone/>
            </a:pPr>
            <a:r>
              <a:rPr lang="en-US" sz="850" dirty="0">
                <a:solidFill>
                  <a:srgbClr val="4A6572"/>
                </a:solidFill>
                <a:latin typeface="Calibri" pitchFamily="34" charset="0"/>
                <a:ea typeface="Calibri" pitchFamily="34" charset="-122"/>
                <a:cs typeface="Calibri" pitchFamily="34" charset="-120"/>
              </a:rPr>
              <a:t>Hard blocks on legal, billing disputes, internal policy</a:t>
            </a:r>
          </a:p>
          <a:p>
            <a:pPr>
              <a:lnSpc>
                <a:spcPct val="125000"/>
              </a:lnSpc>
            </a:pPr>
            <a:r>
              <a:rPr lang="en-US" sz="850" dirty="0">
                <a:solidFill>
                  <a:srgbClr val="4A6572"/>
                </a:solidFill>
                <a:latin typeface="Calibri" pitchFamily="34" charset="0"/>
                <a:cs typeface="Calibri" pitchFamily="34" charset="-120"/>
              </a:rPr>
              <a:t>Human Review: F</a:t>
            </a:r>
            <a:r>
              <a:rPr lang="en-US" sz="850" dirty="0">
                <a:solidFill>
                  <a:srgbClr val="4A6572"/>
                </a:solidFill>
                <a:latin typeface="Calibri" pitchFamily="34" charset="0"/>
                <a:ea typeface="Calibri" pitchFamily="34" charset="-122"/>
                <a:cs typeface="Calibri" pitchFamily="34" charset="-120"/>
              </a:rPr>
              <a:t>allback to human review when system data is missing or inconsistent. PII scrubbing pipeline: Sensitive info masked before model input.</a:t>
            </a:r>
            <a:endParaRPr lang="en-US" sz="850" dirty="0"/>
          </a:p>
          <a:p>
            <a:pPr marL="0" indent="0">
              <a:lnSpc>
                <a:spcPct val="125000"/>
              </a:lnSpc>
              <a:buNone/>
            </a:pPr>
            <a:r>
              <a:rPr lang="en-US" sz="850" dirty="0">
                <a:solidFill>
                  <a:srgbClr val="4A6572"/>
                </a:solidFill>
                <a:latin typeface="Calibri" pitchFamily="34" charset="0"/>
                <a:ea typeface="Calibri" pitchFamily="34" charset="-122"/>
                <a:cs typeface="Calibri" pitchFamily="34" charset="-120"/>
              </a:rPr>
              <a:t>Sentiment detection: Frustrated tickets escalated to priority human queue</a:t>
            </a:r>
            <a:endParaRPr lang="en-US" sz="850" dirty="0"/>
          </a:p>
          <a:p>
            <a:pPr marL="0" indent="0">
              <a:lnSpc>
                <a:spcPct val="125000"/>
              </a:lnSpc>
              <a:buNone/>
            </a:pPr>
            <a:r>
              <a:rPr lang="en-US" sz="850" dirty="0">
                <a:solidFill>
                  <a:srgbClr val="4A6572"/>
                </a:solidFill>
                <a:latin typeface="Calibri" pitchFamily="34" charset="0"/>
                <a:ea typeface="Calibri" pitchFamily="34" charset="-122"/>
                <a:cs typeface="Calibri" pitchFamily="34" charset="-120"/>
              </a:rPr>
              <a:t>Salesforce integration: Read-only access to status fields only.</a:t>
            </a:r>
            <a:endParaRPr lang="en-US" sz="850" dirty="0"/>
          </a:p>
        </p:txBody>
      </p:sp>
      <p:sp>
        <p:nvSpPr>
          <p:cNvPr id="31" name="Shape 24"/>
          <p:cNvSpPr/>
          <p:nvPr/>
        </p:nvSpPr>
        <p:spPr>
          <a:xfrm>
            <a:off x="4709160" y="3474720"/>
            <a:ext cx="54864" cy="1280160"/>
          </a:xfrm>
          <a:prstGeom prst="rect">
            <a:avLst/>
          </a:prstGeom>
          <a:solidFill>
            <a:srgbClr val="0D7377"/>
          </a:solidFill>
          <a:ln/>
        </p:spPr>
        <p:txBody>
          <a:bodyPr/>
          <a:lstStyle/>
          <a:p>
            <a:endParaRPr lang="en-US"/>
          </a:p>
        </p:txBody>
      </p:sp>
      <p:sp>
        <p:nvSpPr>
          <p:cNvPr id="33" name="Text 25"/>
          <p:cNvSpPr/>
          <p:nvPr/>
        </p:nvSpPr>
        <p:spPr>
          <a:xfrm>
            <a:off x="4937760" y="3474720"/>
            <a:ext cx="3200400" cy="320040"/>
          </a:xfrm>
          <a:prstGeom prst="rect">
            <a:avLst/>
          </a:prstGeom>
          <a:noFill/>
          <a:ln/>
        </p:spPr>
        <p:txBody>
          <a:bodyPr wrap="square" lIns="0" tIns="0" rIns="0" bIns="0" rtlCol="0" anchor="ctr"/>
          <a:lstStyle/>
          <a:p>
            <a:pPr marL="0" indent="0">
              <a:buNone/>
            </a:pPr>
            <a:r>
              <a:rPr lang="en-US" sz="1200" b="1" dirty="0">
                <a:solidFill>
                  <a:srgbClr val="1A2B34"/>
                </a:solidFill>
                <a:latin typeface="Trebuchet MS" pitchFamily="34" charset="0"/>
                <a:ea typeface="Trebuchet MS" pitchFamily="34" charset="-122"/>
                <a:cs typeface="Trebuchet MS" pitchFamily="34" charset="-120"/>
              </a:rPr>
              <a:t>Feedback &amp; UI Delivery</a:t>
            </a:r>
            <a:endParaRPr lang="en-US" sz="1200" dirty="0"/>
          </a:p>
        </p:txBody>
      </p:sp>
      <p:sp>
        <p:nvSpPr>
          <p:cNvPr id="34" name="Text 26"/>
          <p:cNvSpPr/>
          <p:nvPr/>
        </p:nvSpPr>
        <p:spPr>
          <a:xfrm>
            <a:off x="4937760" y="3767328"/>
            <a:ext cx="3657600" cy="868680"/>
          </a:xfrm>
          <a:prstGeom prst="rect">
            <a:avLst/>
          </a:prstGeom>
          <a:noFill/>
          <a:ln/>
        </p:spPr>
        <p:txBody>
          <a:bodyPr wrap="square" lIns="0" tIns="0" rIns="0" bIns="0" rtlCol="0" anchor="t"/>
          <a:lstStyle/>
          <a:p>
            <a:pPr marL="0" indent="0">
              <a:lnSpc>
                <a:spcPct val="125000"/>
              </a:lnSpc>
              <a:buNone/>
            </a:pPr>
            <a:r>
              <a:rPr lang="en-US" sz="850" dirty="0">
                <a:solidFill>
                  <a:srgbClr val="4A6572"/>
                </a:solidFill>
                <a:latin typeface="Calibri" pitchFamily="34" charset="0"/>
                <a:ea typeface="Calibri" pitchFamily="34" charset="-122"/>
                <a:cs typeface="Calibri" pitchFamily="34" charset="-120"/>
              </a:rPr>
              <a:t>Sidecar panel: AI draft + source citations shown side-by-side</a:t>
            </a:r>
            <a:endParaRPr lang="en-US" sz="850" dirty="0"/>
          </a:p>
          <a:p>
            <a:pPr marL="0" indent="0">
              <a:lnSpc>
                <a:spcPct val="125000"/>
              </a:lnSpc>
              <a:buNone/>
            </a:pPr>
            <a:r>
              <a:rPr lang="en-US" sz="850" dirty="0">
                <a:solidFill>
                  <a:srgbClr val="4A6572"/>
                </a:solidFill>
                <a:latin typeface="Calibri" pitchFamily="34" charset="0"/>
                <a:ea typeface="Calibri" pitchFamily="34" charset="-122"/>
                <a:cs typeface="Calibri" pitchFamily="34" charset="-120"/>
              </a:rPr>
              <a:t>Agent feedback: Thumbs up/down on every AI draft for human feedback loop</a:t>
            </a:r>
            <a:endParaRPr lang="en-US" sz="850" dirty="0"/>
          </a:p>
          <a:p>
            <a:pPr marL="0" indent="0">
              <a:lnSpc>
                <a:spcPct val="125000"/>
              </a:lnSpc>
              <a:buNone/>
            </a:pPr>
            <a:r>
              <a:rPr lang="en-US" sz="850" dirty="0">
                <a:solidFill>
                  <a:srgbClr val="4A6572"/>
                </a:solidFill>
                <a:latin typeface="Calibri" pitchFamily="34" charset="0"/>
                <a:ea typeface="Calibri" pitchFamily="34" charset="-122"/>
                <a:cs typeface="Calibri" pitchFamily="34" charset="-120"/>
              </a:rPr>
              <a:t>Ticket auto-categorization: Technical, billing, status update, general inquiry</a:t>
            </a:r>
            <a:endParaRPr lang="en-US" sz="850" dirty="0"/>
          </a:p>
          <a:p>
            <a:pPr marL="0" indent="0">
              <a:lnSpc>
                <a:spcPct val="125000"/>
              </a:lnSpc>
              <a:buNone/>
            </a:pPr>
            <a:r>
              <a:rPr lang="en-US" sz="850" dirty="0">
                <a:solidFill>
                  <a:srgbClr val="4A6572"/>
                </a:solidFill>
                <a:latin typeface="Calibri" pitchFamily="34" charset="0"/>
                <a:ea typeface="Calibri" pitchFamily="34" charset="-122"/>
                <a:cs typeface="Calibri" pitchFamily="34" charset="-120"/>
              </a:rPr>
              <a:t>Cost model: Track cost-per-ticket (token + compute) vs. human cost.</a:t>
            </a:r>
            <a:endParaRPr lang="en-US" sz="850" dirty="0"/>
          </a:p>
        </p:txBody>
      </p:sp>
      <p:sp>
        <p:nvSpPr>
          <p:cNvPr id="35" name="Shape 27"/>
          <p:cNvSpPr/>
          <p:nvPr/>
        </p:nvSpPr>
        <p:spPr>
          <a:xfrm>
            <a:off x="411480" y="4617720"/>
            <a:ext cx="8321040" cy="365760"/>
          </a:xfrm>
          <a:prstGeom prst="rect">
            <a:avLst/>
          </a:prstGeom>
          <a:solidFill>
            <a:srgbClr val="E6F5F3"/>
          </a:solidFill>
          <a:ln/>
        </p:spPr>
        <p:txBody>
          <a:bodyPr/>
          <a:lstStyle/>
          <a:p>
            <a:endParaRPr lang="en-US" dirty="0"/>
          </a:p>
        </p:txBody>
      </p:sp>
      <p:sp>
        <p:nvSpPr>
          <p:cNvPr id="36" name="Text 28"/>
          <p:cNvSpPr/>
          <p:nvPr/>
        </p:nvSpPr>
        <p:spPr>
          <a:xfrm>
            <a:off x="583209" y="4636008"/>
            <a:ext cx="7955280" cy="320040"/>
          </a:xfrm>
          <a:prstGeom prst="rect">
            <a:avLst/>
          </a:prstGeom>
          <a:noFill/>
          <a:ln/>
        </p:spPr>
        <p:txBody>
          <a:bodyPr wrap="square" lIns="0" tIns="0" rIns="0" bIns="0" rtlCol="0" anchor="ctr"/>
          <a:lstStyle/>
          <a:p>
            <a:r>
              <a:rPr lang="en-US" sz="1200" dirty="0"/>
              <a:t xml:space="preserve">	Success means either zero touch resolution, or one click agent assisted resolution for eligible status tickets.</a:t>
            </a:r>
            <a:endParaRPr lang="en-US" sz="1200" dirty="0">
              <a:solidFill>
                <a:srgbClr val="4A6572"/>
              </a:solidFill>
              <a:latin typeface="Calibri" pitchFamily="34" charset="0"/>
              <a:ea typeface="Calibri" pitchFamily="34" charset="-122"/>
              <a:cs typeface="Calibri" pitchFamily="34" charset="-12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B1D26"/>
          </a:solidFill>
          <a:ln/>
        </p:spPr>
        <p:txBody>
          <a:bodyPr/>
          <a:lstStyle/>
          <a:p>
            <a:endParaRPr lang="en-US"/>
          </a:p>
        </p:txBody>
      </p:sp>
      <p:sp>
        <p:nvSpPr>
          <p:cNvPr id="3" name="Text 1"/>
          <p:cNvSpPr/>
          <p:nvPr/>
        </p:nvSpPr>
        <p:spPr>
          <a:xfrm>
            <a:off x="548640" y="45720"/>
            <a:ext cx="8229600" cy="548640"/>
          </a:xfrm>
          <a:prstGeom prst="rect">
            <a:avLst/>
          </a:prstGeom>
          <a:noFill/>
          <a:ln/>
        </p:spPr>
        <p:txBody>
          <a:bodyPr wrap="square" lIns="0" tIns="0" rIns="0" bIns="0" rtlCol="0" anchor="ctr"/>
          <a:lstStyle/>
          <a:p>
            <a:r>
              <a:rPr lang="en-US" sz="1800" b="1" dirty="0">
                <a:solidFill>
                  <a:schemeClr val="bg1"/>
                </a:solidFill>
                <a:latin typeface="Trebuchet MS" pitchFamily="34" charset="0"/>
                <a:ea typeface="Trebuchet MS" pitchFamily="34" charset="-122"/>
                <a:cs typeface="Trebuchet MS" pitchFamily="34" charset="-120"/>
              </a:rPr>
              <a:t xml:space="preserve">Q2   </a:t>
            </a:r>
            <a:r>
              <a:rPr lang="en-US" dirty="0">
                <a:solidFill>
                  <a:schemeClr val="bg1"/>
                </a:solidFill>
              </a:rPr>
              <a:t>Phased rollout protects physician trust while improving automation</a:t>
            </a:r>
            <a:endParaRPr lang="en-US" sz="1800" dirty="0">
              <a:solidFill>
                <a:schemeClr val="bg1"/>
              </a:solidFill>
            </a:endParaRPr>
          </a:p>
        </p:txBody>
      </p:sp>
      <p:sp>
        <p:nvSpPr>
          <p:cNvPr id="4" name="Text 2"/>
          <p:cNvSpPr/>
          <p:nvPr/>
        </p:nvSpPr>
        <p:spPr>
          <a:xfrm>
            <a:off x="548640" y="777240"/>
            <a:ext cx="8229600" cy="320040"/>
          </a:xfrm>
          <a:prstGeom prst="rect">
            <a:avLst/>
          </a:prstGeom>
          <a:noFill/>
          <a:ln/>
        </p:spPr>
        <p:txBody>
          <a:bodyPr wrap="square" lIns="0" tIns="0" rIns="0" bIns="0" rtlCol="0" anchor="ctr"/>
          <a:lstStyle/>
          <a:p>
            <a:pPr marL="0" indent="0">
              <a:buNone/>
            </a:pPr>
            <a:r>
              <a:rPr lang="en-US" sz="1200" dirty="0">
                <a:solidFill>
                  <a:srgbClr val="4A6572"/>
                </a:solidFill>
                <a:latin typeface="Calibri" pitchFamily="34" charset="0"/>
                <a:ea typeface="Calibri" pitchFamily="34" charset="-122"/>
                <a:cs typeface="Calibri" pitchFamily="34" charset="-120"/>
              </a:rPr>
              <a:t>Phased rollout with defined stakeholders at each gate</a:t>
            </a:r>
            <a:endParaRPr lang="en-US" sz="1200" dirty="0"/>
          </a:p>
        </p:txBody>
      </p:sp>
      <p:sp>
        <p:nvSpPr>
          <p:cNvPr id="5" name="Shape 3"/>
          <p:cNvSpPr/>
          <p:nvPr/>
        </p:nvSpPr>
        <p:spPr>
          <a:xfrm>
            <a:off x="457200" y="1188720"/>
            <a:ext cx="1920240" cy="1920240"/>
          </a:xfrm>
          <a:prstGeom prst="rect">
            <a:avLst/>
          </a:prstGeom>
          <a:solidFill>
            <a:srgbClr val="FFFFFF"/>
          </a:solidFill>
          <a:ln/>
          <a:effectLst>
            <a:outerShdw blurRad="63500" dist="25400" dir="8100000" algn="bl" rotWithShape="0">
              <a:srgbClr val="000000">
                <a:alpha val="8000"/>
              </a:srgbClr>
            </a:outerShdw>
          </a:effectLst>
        </p:spPr>
        <p:txBody>
          <a:bodyPr/>
          <a:lstStyle/>
          <a:p>
            <a:endParaRPr lang="en-US"/>
          </a:p>
        </p:txBody>
      </p:sp>
      <p:sp>
        <p:nvSpPr>
          <p:cNvPr id="6" name="Shape 4"/>
          <p:cNvSpPr/>
          <p:nvPr/>
        </p:nvSpPr>
        <p:spPr>
          <a:xfrm>
            <a:off x="457200" y="1188720"/>
            <a:ext cx="1920240" cy="365760"/>
          </a:xfrm>
          <a:prstGeom prst="rect">
            <a:avLst/>
          </a:prstGeom>
          <a:solidFill>
            <a:srgbClr val="0D7377"/>
          </a:solidFill>
          <a:ln/>
        </p:spPr>
        <p:txBody>
          <a:bodyPr/>
          <a:lstStyle/>
          <a:p>
            <a:endParaRPr lang="en-US"/>
          </a:p>
        </p:txBody>
      </p:sp>
      <p:sp>
        <p:nvSpPr>
          <p:cNvPr id="7" name="Text 5"/>
          <p:cNvSpPr/>
          <p:nvPr/>
        </p:nvSpPr>
        <p:spPr>
          <a:xfrm>
            <a:off x="566928" y="1207008"/>
            <a:ext cx="1645920" cy="201168"/>
          </a:xfrm>
          <a:prstGeom prst="rect">
            <a:avLst/>
          </a:prstGeom>
          <a:noFill/>
          <a:ln/>
        </p:spPr>
        <p:txBody>
          <a:bodyPr wrap="square" lIns="0" tIns="0" rIns="0" bIns="0" rtlCol="0" anchor="ctr"/>
          <a:lstStyle/>
          <a:p>
            <a:pPr marL="0" indent="0">
              <a:buNone/>
            </a:pPr>
            <a:r>
              <a:rPr lang="en-US" sz="1000" b="1" dirty="0">
                <a:solidFill>
                  <a:srgbClr val="FFFFFF"/>
                </a:solidFill>
                <a:latin typeface="Trebuchet MS" pitchFamily="34" charset="0"/>
                <a:ea typeface="Trebuchet MS" pitchFamily="34" charset="-122"/>
                <a:cs typeface="Trebuchet MS" pitchFamily="34" charset="-120"/>
              </a:rPr>
              <a:t>Phase 1</a:t>
            </a:r>
            <a:endParaRPr lang="en-US" sz="1000" dirty="0"/>
          </a:p>
        </p:txBody>
      </p:sp>
      <p:sp>
        <p:nvSpPr>
          <p:cNvPr id="8" name="Text 6"/>
          <p:cNvSpPr/>
          <p:nvPr/>
        </p:nvSpPr>
        <p:spPr>
          <a:xfrm>
            <a:off x="566928" y="1371600"/>
            <a:ext cx="1645920" cy="164592"/>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Weeks 1-4</a:t>
            </a:r>
            <a:endParaRPr lang="en-US" sz="800" dirty="0"/>
          </a:p>
        </p:txBody>
      </p:sp>
      <p:sp>
        <p:nvSpPr>
          <p:cNvPr id="9" name="Text 7"/>
          <p:cNvSpPr/>
          <p:nvPr/>
        </p:nvSpPr>
        <p:spPr>
          <a:xfrm>
            <a:off x="566928" y="1609344"/>
            <a:ext cx="1691640" cy="228600"/>
          </a:xfrm>
          <a:prstGeom prst="rect">
            <a:avLst/>
          </a:prstGeom>
          <a:noFill/>
          <a:ln/>
        </p:spPr>
        <p:txBody>
          <a:bodyPr wrap="square" lIns="0" tIns="0" rIns="0" bIns="0" rtlCol="0" anchor="ctr"/>
          <a:lstStyle/>
          <a:p>
            <a:pPr marL="0" indent="0">
              <a:buNone/>
            </a:pPr>
            <a:r>
              <a:rPr lang="en-US" sz="1000" b="1" dirty="0">
                <a:solidFill>
                  <a:srgbClr val="1A2B34"/>
                </a:solidFill>
                <a:latin typeface="Trebuchet MS" pitchFamily="34" charset="0"/>
                <a:ea typeface="Trebuchet MS" pitchFamily="34" charset="-122"/>
                <a:cs typeface="Trebuchet MS" pitchFamily="34" charset="-120"/>
              </a:rPr>
              <a:t>Internal Pilot</a:t>
            </a:r>
            <a:endParaRPr lang="en-US" sz="1000" dirty="0"/>
          </a:p>
        </p:txBody>
      </p:sp>
      <p:sp>
        <p:nvSpPr>
          <p:cNvPr id="10" name="Text 8"/>
          <p:cNvSpPr/>
          <p:nvPr/>
        </p:nvSpPr>
        <p:spPr>
          <a:xfrm>
            <a:off x="544068" y="1757487"/>
            <a:ext cx="1691640" cy="1188720"/>
          </a:xfrm>
          <a:prstGeom prst="rect">
            <a:avLst/>
          </a:prstGeom>
          <a:noFill/>
          <a:ln/>
        </p:spPr>
        <p:txBody>
          <a:bodyPr wrap="square" lIns="0" tIns="0" rIns="0" bIns="0" rtlCol="0" anchor="t"/>
          <a:lstStyle/>
          <a:p>
            <a:pPr>
              <a:lnSpc>
                <a:spcPct val="130000"/>
              </a:lnSpc>
            </a:pPr>
            <a:endParaRPr lang="en-US" sz="750" dirty="0">
              <a:solidFill>
                <a:srgbClr val="4A6572"/>
              </a:solidFill>
              <a:latin typeface="Calibri" pitchFamily="34" charset="0"/>
              <a:ea typeface="Calibri" pitchFamily="34" charset="-122"/>
              <a:cs typeface="Calibri" pitchFamily="34" charset="-120"/>
            </a:endParaRPr>
          </a:p>
          <a:p>
            <a:pPr>
              <a:lnSpc>
                <a:spcPct val="130000"/>
              </a:lnSpc>
            </a:pPr>
            <a:r>
              <a:rPr lang="en-US" sz="750" dirty="0">
                <a:solidFill>
                  <a:srgbClr val="4A6572"/>
                </a:solidFill>
                <a:latin typeface="Calibri" pitchFamily="34" charset="0"/>
                <a:ea typeface="Calibri" pitchFamily="34" charset="-122"/>
                <a:cs typeface="Calibri" pitchFamily="34" charset="-120"/>
              </a:rPr>
              <a:t>Shadow mode: AI generates drafts but only CS sees them</a:t>
            </a:r>
            <a:r>
              <a:rPr lang="en-US" sz="750" dirty="0">
                <a:solidFill>
                  <a:srgbClr val="4A6572"/>
                </a:solidFill>
                <a:latin typeface="Calibri" pitchFamily="34" charset="0"/>
                <a:cs typeface="Calibri" pitchFamily="34" charset="-120"/>
              </a:rPr>
              <a:t>. For every ticket, you have the AI's confidence score and a human judgment of whether the draft was correct.</a:t>
            </a:r>
            <a:endParaRPr lang="en-US" sz="750" dirty="0"/>
          </a:p>
          <a:p>
            <a:pPr marL="0" indent="0">
              <a:lnSpc>
                <a:spcPct val="130000"/>
              </a:lnSpc>
              <a:buNone/>
            </a:pPr>
            <a:endParaRPr lang="en-US" sz="750" dirty="0">
              <a:solidFill>
                <a:srgbClr val="4A6572"/>
              </a:solidFill>
              <a:latin typeface="Calibri" pitchFamily="34" charset="0"/>
              <a:ea typeface="Calibri" pitchFamily="34" charset="-122"/>
              <a:cs typeface="Calibri" pitchFamily="34" charset="-120"/>
            </a:endParaRPr>
          </a:p>
          <a:p>
            <a:pPr marL="0" indent="0">
              <a:lnSpc>
                <a:spcPct val="130000"/>
              </a:lnSpc>
              <a:buNone/>
            </a:pPr>
            <a:r>
              <a:rPr lang="en-US" sz="750" dirty="0">
                <a:solidFill>
                  <a:srgbClr val="4A6572"/>
                </a:solidFill>
                <a:latin typeface="Calibri" pitchFamily="34" charset="0"/>
                <a:ea typeface="Calibri" pitchFamily="34" charset="-122"/>
                <a:cs typeface="Calibri" pitchFamily="34" charset="-120"/>
              </a:rPr>
              <a:t>Partners: CS Managers, AI Engineering, QA</a:t>
            </a:r>
            <a:endParaRPr lang="en-US" sz="750" dirty="0"/>
          </a:p>
          <a:p>
            <a:pPr marL="0" indent="0">
              <a:lnSpc>
                <a:spcPct val="130000"/>
              </a:lnSpc>
              <a:buNone/>
            </a:pPr>
            <a:endParaRPr lang="en-US" sz="750" dirty="0">
              <a:solidFill>
                <a:srgbClr val="4A6572"/>
              </a:solidFill>
              <a:latin typeface="Calibri" pitchFamily="34" charset="0"/>
              <a:ea typeface="Calibri" pitchFamily="34" charset="-122"/>
              <a:cs typeface="Calibri" pitchFamily="34" charset="-120"/>
            </a:endParaRPr>
          </a:p>
          <a:p>
            <a:pPr marL="0" indent="0">
              <a:lnSpc>
                <a:spcPct val="130000"/>
              </a:lnSpc>
              <a:buNone/>
            </a:pPr>
            <a:r>
              <a:rPr lang="en-US" sz="750" dirty="0">
                <a:solidFill>
                  <a:srgbClr val="4A6572"/>
                </a:solidFill>
                <a:latin typeface="Calibri" pitchFamily="34" charset="0"/>
                <a:ea typeface="Calibri" pitchFamily="34" charset="-122"/>
                <a:cs typeface="Calibri" pitchFamily="34" charset="-120"/>
              </a:rPr>
              <a:t>Goal: Validate confidence scoring</a:t>
            </a:r>
            <a:endParaRPr lang="en-US" sz="750" dirty="0"/>
          </a:p>
        </p:txBody>
      </p:sp>
      <p:pic>
        <p:nvPicPr>
          <p:cNvPr id="11" name="Image 0" descr="preencoded.png"/>
          <p:cNvPicPr>
            <a:picLocks noChangeAspect="1"/>
          </p:cNvPicPr>
          <p:nvPr/>
        </p:nvPicPr>
        <p:blipFill>
          <a:blip r:embed="rId3"/>
          <a:stretch>
            <a:fillRect/>
          </a:stretch>
        </p:blipFill>
        <p:spPr>
          <a:xfrm>
            <a:off x="2395728" y="2103120"/>
            <a:ext cx="128016" cy="128016"/>
          </a:xfrm>
          <a:prstGeom prst="rect">
            <a:avLst/>
          </a:prstGeom>
        </p:spPr>
      </p:pic>
      <p:sp>
        <p:nvSpPr>
          <p:cNvPr id="12" name="Shape 9"/>
          <p:cNvSpPr/>
          <p:nvPr/>
        </p:nvSpPr>
        <p:spPr>
          <a:xfrm>
            <a:off x="2560320" y="1188720"/>
            <a:ext cx="1920240" cy="1920240"/>
          </a:xfrm>
          <a:prstGeom prst="rect">
            <a:avLst/>
          </a:prstGeom>
          <a:solidFill>
            <a:srgbClr val="FFFFFF"/>
          </a:solidFill>
          <a:ln/>
          <a:effectLst>
            <a:outerShdw blurRad="63500" dist="25400" dir="8100000" algn="bl" rotWithShape="0">
              <a:srgbClr val="000000">
                <a:alpha val="8000"/>
              </a:srgbClr>
            </a:outerShdw>
          </a:effectLst>
        </p:spPr>
        <p:txBody>
          <a:bodyPr/>
          <a:lstStyle/>
          <a:p>
            <a:endParaRPr lang="en-US"/>
          </a:p>
        </p:txBody>
      </p:sp>
      <p:sp>
        <p:nvSpPr>
          <p:cNvPr id="13" name="Shape 10"/>
          <p:cNvSpPr/>
          <p:nvPr/>
        </p:nvSpPr>
        <p:spPr>
          <a:xfrm>
            <a:off x="2560320" y="1188720"/>
            <a:ext cx="1920240" cy="365760"/>
          </a:xfrm>
          <a:prstGeom prst="rect">
            <a:avLst/>
          </a:prstGeom>
          <a:solidFill>
            <a:schemeClr val="accent4">
              <a:lumMod val="60000"/>
              <a:lumOff val="40000"/>
            </a:schemeClr>
          </a:solidFill>
          <a:ln/>
        </p:spPr>
        <p:txBody>
          <a:bodyPr/>
          <a:lstStyle/>
          <a:p>
            <a:endParaRPr lang="en-US"/>
          </a:p>
        </p:txBody>
      </p:sp>
      <p:sp>
        <p:nvSpPr>
          <p:cNvPr id="14" name="Text 11"/>
          <p:cNvSpPr/>
          <p:nvPr/>
        </p:nvSpPr>
        <p:spPr>
          <a:xfrm>
            <a:off x="2670048" y="1207008"/>
            <a:ext cx="1645920" cy="201168"/>
          </a:xfrm>
          <a:prstGeom prst="rect">
            <a:avLst/>
          </a:prstGeom>
          <a:noFill/>
          <a:ln/>
        </p:spPr>
        <p:txBody>
          <a:bodyPr wrap="square" lIns="0" tIns="0" rIns="0" bIns="0" rtlCol="0" anchor="ctr"/>
          <a:lstStyle/>
          <a:p>
            <a:pPr marL="0" indent="0">
              <a:buNone/>
            </a:pPr>
            <a:r>
              <a:rPr lang="en-US" sz="1000" b="1" dirty="0">
                <a:solidFill>
                  <a:srgbClr val="FFFFFF"/>
                </a:solidFill>
                <a:latin typeface="Trebuchet MS" pitchFamily="34" charset="0"/>
                <a:ea typeface="Trebuchet MS" pitchFamily="34" charset="-122"/>
                <a:cs typeface="Trebuchet MS" pitchFamily="34" charset="-120"/>
              </a:rPr>
              <a:t>Phase 2</a:t>
            </a:r>
            <a:endParaRPr lang="en-US" sz="1000" dirty="0"/>
          </a:p>
        </p:txBody>
      </p:sp>
      <p:sp>
        <p:nvSpPr>
          <p:cNvPr id="15" name="Text 12"/>
          <p:cNvSpPr/>
          <p:nvPr/>
        </p:nvSpPr>
        <p:spPr>
          <a:xfrm>
            <a:off x="2670048" y="1371600"/>
            <a:ext cx="1645920" cy="164592"/>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Weeks 5-10</a:t>
            </a:r>
            <a:endParaRPr lang="en-US" sz="800" dirty="0"/>
          </a:p>
        </p:txBody>
      </p:sp>
      <p:sp>
        <p:nvSpPr>
          <p:cNvPr id="16" name="Text 13"/>
          <p:cNvSpPr/>
          <p:nvPr/>
        </p:nvSpPr>
        <p:spPr>
          <a:xfrm>
            <a:off x="2670048" y="1609344"/>
            <a:ext cx="1691640" cy="228600"/>
          </a:xfrm>
          <a:prstGeom prst="rect">
            <a:avLst/>
          </a:prstGeom>
          <a:noFill/>
          <a:ln/>
        </p:spPr>
        <p:txBody>
          <a:bodyPr wrap="square" lIns="0" tIns="0" rIns="0" bIns="0" rtlCol="0" anchor="ctr"/>
          <a:lstStyle/>
          <a:p>
            <a:pPr marL="0" indent="0">
              <a:buNone/>
            </a:pPr>
            <a:r>
              <a:rPr lang="en-US" sz="1000" b="1" dirty="0">
                <a:solidFill>
                  <a:srgbClr val="1A2B34"/>
                </a:solidFill>
                <a:latin typeface="Trebuchet MS" pitchFamily="34" charset="0"/>
                <a:ea typeface="Trebuchet MS" pitchFamily="34" charset="-122"/>
                <a:cs typeface="Trebuchet MS" pitchFamily="34" charset="-120"/>
              </a:rPr>
              <a:t>Beta Launch</a:t>
            </a:r>
            <a:endParaRPr lang="en-US" sz="1000" dirty="0"/>
          </a:p>
        </p:txBody>
      </p:sp>
      <p:sp>
        <p:nvSpPr>
          <p:cNvPr id="17" name="Text 14"/>
          <p:cNvSpPr/>
          <p:nvPr/>
        </p:nvSpPr>
        <p:spPr>
          <a:xfrm>
            <a:off x="2670048" y="1847088"/>
            <a:ext cx="1691640" cy="1188720"/>
          </a:xfrm>
          <a:prstGeom prst="rect">
            <a:avLst/>
          </a:prstGeom>
          <a:noFill/>
          <a:ln/>
        </p:spPr>
        <p:txBody>
          <a:bodyPr wrap="square" lIns="0" tIns="0" rIns="0" bIns="0" rtlCol="0" anchor="t"/>
          <a:lstStyle/>
          <a:p>
            <a:pPr marL="0" indent="0">
              <a:lnSpc>
                <a:spcPct val="130000"/>
              </a:lnSpc>
              <a:buNone/>
            </a:pPr>
            <a:r>
              <a:rPr lang="en-US" sz="750" dirty="0">
                <a:solidFill>
                  <a:srgbClr val="4A6572"/>
                </a:solidFill>
                <a:latin typeface="Calibri" pitchFamily="34" charset="0"/>
                <a:ea typeface="Calibri" pitchFamily="34" charset="-122"/>
                <a:cs typeface="Calibri" pitchFamily="34" charset="-120"/>
              </a:rPr>
              <a:t>Controlled release: Auto-reply on for high-confidence status tickets only (&gt;85%).</a:t>
            </a:r>
            <a:endParaRPr lang="en-US" sz="750" dirty="0"/>
          </a:p>
          <a:p>
            <a:pPr marL="0" indent="0">
              <a:lnSpc>
                <a:spcPct val="130000"/>
              </a:lnSpc>
              <a:buNone/>
            </a:pPr>
            <a:endParaRPr lang="en-US" sz="750" dirty="0"/>
          </a:p>
          <a:p>
            <a:pPr marL="0" indent="0">
              <a:lnSpc>
                <a:spcPct val="130000"/>
              </a:lnSpc>
              <a:buNone/>
            </a:pPr>
            <a:r>
              <a:rPr lang="en-US" sz="750" dirty="0">
                <a:solidFill>
                  <a:srgbClr val="4A6572"/>
                </a:solidFill>
                <a:latin typeface="Calibri" pitchFamily="34" charset="0"/>
                <a:ea typeface="Calibri" pitchFamily="34" charset="-122"/>
                <a:cs typeface="Calibri" pitchFamily="34" charset="-120"/>
              </a:rPr>
              <a:t>Partners: CS Leads, Product, Compliance/Legal, SME Account Team</a:t>
            </a:r>
            <a:endParaRPr lang="en-US" sz="750" dirty="0"/>
          </a:p>
          <a:p>
            <a:pPr marL="0" indent="0">
              <a:lnSpc>
                <a:spcPct val="130000"/>
              </a:lnSpc>
              <a:buNone/>
            </a:pPr>
            <a:endParaRPr lang="en-US" sz="750" dirty="0"/>
          </a:p>
          <a:p>
            <a:pPr marL="0" indent="0">
              <a:lnSpc>
                <a:spcPct val="130000"/>
              </a:lnSpc>
              <a:buNone/>
            </a:pPr>
            <a:r>
              <a:rPr lang="en-US" sz="750" dirty="0">
                <a:solidFill>
                  <a:srgbClr val="4A6572"/>
                </a:solidFill>
                <a:latin typeface="Calibri" pitchFamily="34" charset="0"/>
                <a:ea typeface="Calibri" pitchFamily="34" charset="-122"/>
                <a:cs typeface="Calibri" pitchFamily="34" charset="-120"/>
              </a:rPr>
              <a:t>Goal: Measure deflection rate with real physician-facing responses</a:t>
            </a:r>
            <a:endParaRPr lang="en-US" sz="750" dirty="0"/>
          </a:p>
        </p:txBody>
      </p:sp>
      <p:pic>
        <p:nvPicPr>
          <p:cNvPr id="18" name="Image 1" descr="preencoded.png"/>
          <p:cNvPicPr>
            <a:picLocks noChangeAspect="1"/>
          </p:cNvPicPr>
          <p:nvPr/>
        </p:nvPicPr>
        <p:blipFill>
          <a:blip r:embed="rId3"/>
          <a:stretch>
            <a:fillRect/>
          </a:stretch>
        </p:blipFill>
        <p:spPr>
          <a:xfrm>
            <a:off x="4498848" y="2103120"/>
            <a:ext cx="128016" cy="128016"/>
          </a:xfrm>
          <a:prstGeom prst="rect">
            <a:avLst/>
          </a:prstGeom>
        </p:spPr>
      </p:pic>
      <p:sp>
        <p:nvSpPr>
          <p:cNvPr id="19" name="Shape 15"/>
          <p:cNvSpPr/>
          <p:nvPr/>
        </p:nvSpPr>
        <p:spPr>
          <a:xfrm>
            <a:off x="4663440" y="1188720"/>
            <a:ext cx="1920240" cy="1920240"/>
          </a:xfrm>
          <a:prstGeom prst="rect">
            <a:avLst/>
          </a:prstGeom>
          <a:solidFill>
            <a:srgbClr val="FFFFFF"/>
          </a:solidFill>
          <a:ln/>
          <a:effectLst>
            <a:outerShdw blurRad="63500" dist="25400" dir="8100000" algn="bl" rotWithShape="0">
              <a:srgbClr val="000000">
                <a:alpha val="8000"/>
              </a:srgbClr>
            </a:outerShdw>
          </a:effectLst>
        </p:spPr>
        <p:txBody>
          <a:bodyPr/>
          <a:lstStyle/>
          <a:p>
            <a:endParaRPr lang="en-US"/>
          </a:p>
        </p:txBody>
      </p:sp>
      <p:sp>
        <p:nvSpPr>
          <p:cNvPr id="20" name="Shape 16"/>
          <p:cNvSpPr/>
          <p:nvPr/>
        </p:nvSpPr>
        <p:spPr>
          <a:xfrm>
            <a:off x="4663440" y="1188720"/>
            <a:ext cx="1920240" cy="365760"/>
          </a:xfrm>
          <a:prstGeom prst="rect">
            <a:avLst/>
          </a:prstGeom>
          <a:solidFill>
            <a:srgbClr val="2DD4BF"/>
          </a:solidFill>
          <a:ln/>
        </p:spPr>
        <p:txBody>
          <a:bodyPr/>
          <a:lstStyle/>
          <a:p>
            <a:endParaRPr lang="en-US"/>
          </a:p>
        </p:txBody>
      </p:sp>
      <p:sp>
        <p:nvSpPr>
          <p:cNvPr id="21" name="Text 17"/>
          <p:cNvSpPr/>
          <p:nvPr/>
        </p:nvSpPr>
        <p:spPr>
          <a:xfrm>
            <a:off x="4773168" y="1207008"/>
            <a:ext cx="1645920" cy="201168"/>
          </a:xfrm>
          <a:prstGeom prst="rect">
            <a:avLst/>
          </a:prstGeom>
          <a:noFill/>
          <a:ln/>
        </p:spPr>
        <p:txBody>
          <a:bodyPr wrap="square" lIns="0" tIns="0" rIns="0" bIns="0" rtlCol="0" anchor="ctr"/>
          <a:lstStyle/>
          <a:p>
            <a:pPr marL="0" indent="0">
              <a:buNone/>
            </a:pPr>
            <a:r>
              <a:rPr lang="en-US" sz="1000" b="1" dirty="0">
                <a:solidFill>
                  <a:srgbClr val="FFFFFF"/>
                </a:solidFill>
                <a:latin typeface="Trebuchet MS" pitchFamily="34" charset="0"/>
                <a:ea typeface="Trebuchet MS" pitchFamily="34" charset="-122"/>
                <a:cs typeface="Trebuchet MS" pitchFamily="34" charset="-120"/>
              </a:rPr>
              <a:t>Phase 3</a:t>
            </a:r>
            <a:endParaRPr lang="en-US" sz="1000" dirty="0"/>
          </a:p>
        </p:txBody>
      </p:sp>
      <p:sp>
        <p:nvSpPr>
          <p:cNvPr id="22" name="Text 18"/>
          <p:cNvSpPr/>
          <p:nvPr/>
        </p:nvSpPr>
        <p:spPr>
          <a:xfrm>
            <a:off x="4773168" y="1371600"/>
            <a:ext cx="1645920" cy="164592"/>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Weeks 11-16</a:t>
            </a:r>
            <a:endParaRPr lang="en-US" sz="800" dirty="0"/>
          </a:p>
        </p:txBody>
      </p:sp>
      <p:sp>
        <p:nvSpPr>
          <p:cNvPr id="23" name="Text 19"/>
          <p:cNvSpPr/>
          <p:nvPr/>
        </p:nvSpPr>
        <p:spPr>
          <a:xfrm>
            <a:off x="4773168" y="1609344"/>
            <a:ext cx="1691640" cy="228600"/>
          </a:xfrm>
          <a:prstGeom prst="rect">
            <a:avLst/>
          </a:prstGeom>
          <a:noFill/>
          <a:ln/>
        </p:spPr>
        <p:txBody>
          <a:bodyPr wrap="square" lIns="0" tIns="0" rIns="0" bIns="0" rtlCol="0" anchor="ctr"/>
          <a:lstStyle/>
          <a:p>
            <a:pPr marL="0" indent="0">
              <a:buNone/>
            </a:pPr>
            <a:r>
              <a:rPr lang="en-US" sz="1000" b="1" dirty="0">
                <a:solidFill>
                  <a:srgbClr val="1A2B34"/>
                </a:solidFill>
                <a:latin typeface="Trebuchet MS" pitchFamily="34" charset="0"/>
                <a:ea typeface="Trebuchet MS" pitchFamily="34" charset="-122"/>
                <a:cs typeface="Trebuchet MS" pitchFamily="34" charset="-120"/>
              </a:rPr>
              <a:t>Expanded Rollout</a:t>
            </a:r>
            <a:endParaRPr lang="en-US" sz="1000" dirty="0"/>
          </a:p>
        </p:txBody>
      </p:sp>
      <p:sp>
        <p:nvSpPr>
          <p:cNvPr id="24" name="Text 20"/>
          <p:cNvSpPr/>
          <p:nvPr/>
        </p:nvSpPr>
        <p:spPr>
          <a:xfrm>
            <a:off x="4773168" y="1847088"/>
            <a:ext cx="1691640" cy="1188720"/>
          </a:xfrm>
          <a:prstGeom prst="rect">
            <a:avLst/>
          </a:prstGeom>
          <a:noFill/>
          <a:ln/>
        </p:spPr>
        <p:txBody>
          <a:bodyPr wrap="square" lIns="0" tIns="0" rIns="0" bIns="0" rtlCol="0" anchor="t"/>
          <a:lstStyle/>
          <a:p>
            <a:pPr marL="0" indent="0">
              <a:lnSpc>
                <a:spcPct val="130000"/>
              </a:lnSpc>
              <a:buNone/>
            </a:pPr>
            <a:r>
              <a:rPr lang="en-US" sz="750" dirty="0">
                <a:solidFill>
                  <a:srgbClr val="4A6572"/>
                </a:solidFill>
                <a:latin typeface="Calibri" pitchFamily="34" charset="0"/>
                <a:ea typeface="Calibri" pitchFamily="34" charset="-122"/>
                <a:cs typeface="Calibri" pitchFamily="34" charset="-120"/>
              </a:rPr>
              <a:t>Medium-confidence cases remain representative assisted, not auto-sent</a:t>
            </a:r>
          </a:p>
          <a:p>
            <a:pPr marL="0" indent="0">
              <a:lnSpc>
                <a:spcPct val="130000"/>
              </a:lnSpc>
              <a:buNone/>
            </a:pPr>
            <a:endParaRPr lang="en-US" sz="750" dirty="0"/>
          </a:p>
          <a:p>
            <a:pPr marL="0" indent="0">
              <a:lnSpc>
                <a:spcPct val="130000"/>
              </a:lnSpc>
              <a:buNone/>
            </a:pPr>
            <a:r>
              <a:rPr lang="en-US" sz="750" dirty="0">
                <a:solidFill>
                  <a:srgbClr val="4A6572"/>
                </a:solidFill>
                <a:latin typeface="Calibri" pitchFamily="34" charset="0"/>
                <a:ea typeface="Calibri" pitchFamily="34" charset="-122"/>
                <a:cs typeface="Calibri" pitchFamily="34" charset="-120"/>
              </a:rPr>
              <a:t>Partners: CS Org-wide, Salesforce Admin, Lab Ops</a:t>
            </a:r>
            <a:endParaRPr lang="en-US" sz="750" dirty="0"/>
          </a:p>
          <a:p>
            <a:pPr>
              <a:lnSpc>
                <a:spcPct val="130000"/>
              </a:lnSpc>
            </a:pPr>
            <a:r>
              <a:rPr lang="en-US" sz="750" dirty="0">
                <a:solidFill>
                  <a:srgbClr val="4A6572"/>
                </a:solidFill>
                <a:latin typeface="Calibri" pitchFamily="34" charset="0"/>
                <a:cs typeface="Calibri" pitchFamily="34" charset="-120"/>
              </a:rPr>
              <a:t>Goal</a:t>
            </a:r>
            <a:r>
              <a:rPr lang="en-US" sz="750" dirty="0">
                <a:solidFill>
                  <a:srgbClr val="4A6572"/>
                </a:solidFill>
                <a:latin typeface="Calibri" pitchFamily="34" charset="0"/>
                <a:ea typeface="Calibri" pitchFamily="34" charset="-122"/>
                <a:cs typeface="Calibri" pitchFamily="34" charset="-120"/>
              </a:rPr>
              <a:t xml:space="preserve">: </a:t>
            </a:r>
            <a:r>
              <a:rPr lang="en-US" sz="750" dirty="0">
                <a:solidFill>
                  <a:srgbClr val="4A6572"/>
                </a:solidFill>
                <a:latin typeface="Calibri" pitchFamily="34" charset="0"/>
                <a:cs typeface="Calibri" pitchFamily="34" charset="-120"/>
              </a:rPr>
              <a:t>expand</a:t>
            </a:r>
            <a:r>
              <a:rPr lang="en-US" sz="800" dirty="0"/>
              <a:t xml:space="preserve"> </a:t>
            </a:r>
            <a:r>
              <a:rPr lang="en-US" sz="750" dirty="0">
                <a:solidFill>
                  <a:srgbClr val="4A6572"/>
                </a:solidFill>
                <a:latin typeface="Calibri" pitchFamily="34" charset="0"/>
                <a:cs typeface="Calibri" pitchFamily="34" charset="-120"/>
              </a:rPr>
              <a:t>safe automation across the eligible status inquiry while maintaining stable accuracy and satisfaction</a:t>
            </a:r>
          </a:p>
        </p:txBody>
      </p:sp>
      <p:pic>
        <p:nvPicPr>
          <p:cNvPr id="25" name="Image 2" descr="preencoded.png"/>
          <p:cNvPicPr>
            <a:picLocks noChangeAspect="1"/>
          </p:cNvPicPr>
          <p:nvPr/>
        </p:nvPicPr>
        <p:blipFill>
          <a:blip r:embed="rId3"/>
          <a:stretch>
            <a:fillRect/>
          </a:stretch>
        </p:blipFill>
        <p:spPr>
          <a:xfrm>
            <a:off x="6601968" y="2103120"/>
            <a:ext cx="128016" cy="128016"/>
          </a:xfrm>
          <a:prstGeom prst="rect">
            <a:avLst/>
          </a:prstGeom>
        </p:spPr>
      </p:pic>
      <p:sp>
        <p:nvSpPr>
          <p:cNvPr id="26" name="Shape 21"/>
          <p:cNvSpPr/>
          <p:nvPr/>
        </p:nvSpPr>
        <p:spPr>
          <a:xfrm>
            <a:off x="6766560" y="1188720"/>
            <a:ext cx="1920240" cy="1920240"/>
          </a:xfrm>
          <a:prstGeom prst="rect">
            <a:avLst/>
          </a:prstGeom>
          <a:solidFill>
            <a:srgbClr val="FFFFFF"/>
          </a:solidFill>
          <a:ln/>
          <a:effectLst>
            <a:outerShdw blurRad="63500" dist="25400" dir="8100000" algn="bl" rotWithShape="0">
              <a:srgbClr val="000000">
                <a:alpha val="8000"/>
              </a:srgbClr>
            </a:outerShdw>
          </a:effectLst>
        </p:spPr>
        <p:txBody>
          <a:bodyPr/>
          <a:lstStyle/>
          <a:p>
            <a:endParaRPr lang="en-US"/>
          </a:p>
        </p:txBody>
      </p:sp>
      <p:sp>
        <p:nvSpPr>
          <p:cNvPr id="27" name="Shape 22"/>
          <p:cNvSpPr/>
          <p:nvPr/>
        </p:nvSpPr>
        <p:spPr>
          <a:xfrm>
            <a:off x="6766560" y="1188720"/>
            <a:ext cx="1920240" cy="365760"/>
          </a:xfrm>
          <a:prstGeom prst="rect">
            <a:avLst/>
          </a:prstGeom>
          <a:solidFill>
            <a:srgbClr val="00B050"/>
          </a:solidFill>
          <a:ln/>
        </p:spPr>
        <p:txBody>
          <a:bodyPr/>
          <a:lstStyle/>
          <a:p>
            <a:endParaRPr lang="en-US"/>
          </a:p>
        </p:txBody>
      </p:sp>
      <p:sp>
        <p:nvSpPr>
          <p:cNvPr id="28" name="Text 23"/>
          <p:cNvSpPr/>
          <p:nvPr/>
        </p:nvSpPr>
        <p:spPr>
          <a:xfrm>
            <a:off x="6876288" y="1207008"/>
            <a:ext cx="1645920" cy="201168"/>
          </a:xfrm>
          <a:prstGeom prst="rect">
            <a:avLst/>
          </a:prstGeom>
          <a:noFill/>
          <a:ln/>
        </p:spPr>
        <p:txBody>
          <a:bodyPr wrap="square" lIns="0" tIns="0" rIns="0" bIns="0" rtlCol="0" anchor="ctr"/>
          <a:lstStyle/>
          <a:p>
            <a:pPr marL="0" indent="0">
              <a:buNone/>
            </a:pPr>
            <a:r>
              <a:rPr lang="en-US" sz="1000" b="1" dirty="0">
                <a:solidFill>
                  <a:srgbClr val="FFFFFF"/>
                </a:solidFill>
                <a:latin typeface="Trebuchet MS" pitchFamily="34" charset="0"/>
                <a:ea typeface="Trebuchet MS" pitchFamily="34" charset="-122"/>
                <a:cs typeface="Trebuchet MS" pitchFamily="34" charset="-120"/>
              </a:rPr>
              <a:t>Phase 4</a:t>
            </a:r>
            <a:endParaRPr lang="en-US" sz="1000" dirty="0"/>
          </a:p>
        </p:txBody>
      </p:sp>
      <p:sp>
        <p:nvSpPr>
          <p:cNvPr id="29" name="Text 24"/>
          <p:cNvSpPr/>
          <p:nvPr/>
        </p:nvSpPr>
        <p:spPr>
          <a:xfrm>
            <a:off x="6876288" y="1371600"/>
            <a:ext cx="1645920" cy="164592"/>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Ongoing</a:t>
            </a:r>
            <a:endParaRPr lang="en-US" sz="800" dirty="0"/>
          </a:p>
        </p:txBody>
      </p:sp>
      <p:sp>
        <p:nvSpPr>
          <p:cNvPr id="30" name="Text 25"/>
          <p:cNvSpPr/>
          <p:nvPr/>
        </p:nvSpPr>
        <p:spPr>
          <a:xfrm>
            <a:off x="6876288" y="1609344"/>
            <a:ext cx="1691640" cy="228600"/>
          </a:xfrm>
          <a:prstGeom prst="rect">
            <a:avLst/>
          </a:prstGeom>
          <a:noFill/>
          <a:ln/>
        </p:spPr>
        <p:txBody>
          <a:bodyPr wrap="square" lIns="0" tIns="0" rIns="0" bIns="0" rtlCol="0" anchor="ctr"/>
          <a:lstStyle/>
          <a:p>
            <a:pPr marL="0" indent="0">
              <a:buNone/>
            </a:pPr>
            <a:r>
              <a:rPr lang="en-US" sz="1000" b="1" dirty="0">
                <a:solidFill>
                  <a:srgbClr val="1A2B34"/>
                </a:solidFill>
                <a:latin typeface="Trebuchet MS" pitchFamily="34" charset="0"/>
                <a:ea typeface="Trebuchet MS" pitchFamily="34" charset="-122"/>
                <a:cs typeface="Trebuchet MS" pitchFamily="34" charset="-120"/>
              </a:rPr>
              <a:t>Production &amp; Scale</a:t>
            </a:r>
            <a:endParaRPr lang="en-US" sz="1000" dirty="0"/>
          </a:p>
        </p:txBody>
      </p:sp>
      <p:sp>
        <p:nvSpPr>
          <p:cNvPr id="31" name="Text 26"/>
          <p:cNvSpPr/>
          <p:nvPr/>
        </p:nvSpPr>
        <p:spPr>
          <a:xfrm>
            <a:off x="6876288" y="1847088"/>
            <a:ext cx="1691640" cy="1188720"/>
          </a:xfrm>
          <a:prstGeom prst="rect">
            <a:avLst/>
          </a:prstGeom>
          <a:noFill/>
          <a:ln/>
        </p:spPr>
        <p:txBody>
          <a:bodyPr wrap="square" lIns="0" tIns="0" rIns="0" bIns="0" rtlCol="0" anchor="t"/>
          <a:lstStyle/>
          <a:p>
            <a:pPr marL="0" indent="0">
              <a:lnSpc>
                <a:spcPct val="130000"/>
              </a:lnSpc>
              <a:buNone/>
            </a:pPr>
            <a:r>
              <a:rPr lang="en-US" sz="750" dirty="0">
                <a:solidFill>
                  <a:srgbClr val="4A6572"/>
                </a:solidFill>
                <a:latin typeface="Calibri" pitchFamily="34" charset="0"/>
                <a:ea typeface="Calibri" pitchFamily="34" charset="-122"/>
                <a:cs typeface="Calibri" pitchFamily="34" charset="-120"/>
              </a:rPr>
              <a:t>Monitoring dashboards live, continuous human feedback loop active</a:t>
            </a:r>
            <a:endParaRPr lang="en-US" sz="750" dirty="0"/>
          </a:p>
          <a:p>
            <a:pPr marL="0" indent="0">
              <a:lnSpc>
                <a:spcPct val="130000"/>
              </a:lnSpc>
              <a:buNone/>
            </a:pPr>
            <a:endParaRPr lang="en-US" sz="750" dirty="0"/>
          </a:p>
          <a:p>
            <a:pPr marL="0" indent="0">
              <a:lnSpc>
                <a:spcPct val="130000"/>
              </a:lnSpc>
              <a:buNone/>
            </a:pPr>
            <a:r>
              <a:rPr lang="en-US" sz="750" dirty="0">
                <a:solidFill>
                  <a:srgbClr val="4A6572"/>
                </a:solidFill>
                <a:latin typeface="Calibri" pitchFamily="34" charset="0"/>
                <a:ea typeface="Calibri" pitchFamily="34" charset="-122"/>
                <a:cs typeface="Calibri" pitchFamily="34" charset="-120"/>
              </a:rPr>
              <a:t>Partners: Data/Analytics, Exec Sponsors, AI Eng (maintenance)</a:t>
            </a:r>
            <a:endParaRPr lang="en-US" sz="750" dirty="0"/>
          </a:p>
          <a:p>
            <a:pPr marL="0" indent="0">
              <a:lnSpc>
                <a:spcPct val="130000"/>
              </a:lnSpc>
              <a:buNone/>
            </a:pPr>
            <a:endParaRPr lang="en-US" sz="750" dirty="0"/>
          </a:p>
          <a:p>
            <a:pPr marL="0" indent="0">
              <a:lnSpc>
                <a:spcPct val="130000"/>
              </a:lnSpc>
              <a:buNone/>
            </a:pPr>
            <a:r>
              <a:rPr lang="en-US" sz="750" dirty="0">
                <a:solidFill>
                  <a:srgbClr val="4A6572"/>
                </a:solidFill>
                <a:latin typeface="Calibri" pitchFamily="34" charset="0"/>
                <a:ea typeface="Calibri" pitchFamily="34" charset="-122"/>
                <a:cs typeface="Calibri" pitchFamily="34" charset="-120"/>
              </a:rPr>
              <a:t>Goal: Sustain KPIs, expand to new ticket types (Phase 2)</a:t>
            </a:r>
            <a:endParaRPr lang="en-US" sz="750" dirty="0"/>
          </a:p>
        </p:txBody>
      </p:sp>
      <p:sp>
        <p:nvSpPr>
          <p:cNvPr id="32" name="Shape 27"/>
          <p:cNvSpPr/>
          <p:nvPr/>
        </p:nvSpPr>
        <p:spPr>
          <a:xfrm>
            <a:off x="457200" y="3291840"/>
            <a:ext cx="8229600" cy="292608"/>
          </a:xfrm>
          <a:prstGeom prst="rect">
            <a:avLst/>
          </a:prstGeom>
          <a:solidFill>
            <a:srgbClr val="14A3A8"/>
          </a:solidFill>
          <a:ln/>
        </p:spPr>
        <p:txBody>
          <a:bodyPr/>
          <a:lstStyle/>
          <a:p>
            <a:endParaRPr lang="en-US"/>
          </a:p>
        </p:txBody>
      </p:sp>
      <p:sp>
        <p:nvSpPr>
          <p:cNvPr id="33" name="Text 28"/>
          <p:cNvSpPr/>
          <p:nvPr/>
        </p:nvSpPr>
        <p:spPr>
          <a:xfrm>
            <a:off x="640080" y="3310128"/>
            <a:ext cx="7315200" cy="256032"/>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 xml:space="preserve">Beta Launch Partner Roles: </a:t>
            </a:r>
            <a:endParaRPr lang="en-US" sz="1100" dirty="0"/>
          </a:p>
        </p:txBody>
      </p:sp>
      <p:sp>
        <p:nvSpPr>
          <p:cNvPr id="34" name="Shape 29"/>
          <p:cNvSpPr/>
          <p:nvPr/>
        </p:nvSpPr>
        <p:spPr>
          <a:xfrm>
            <a:off x="457200" y="3657600"/>
            <a:ext cx="1920240" cy="100584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a:effectLst>
            <a:outerShdw blurRad="63500" dist="25400" dir="8100000" algn="bl" rotWithShape="0">
              <a:srgbClr val="000000">
                <a:alpha val="8000"/>
              </a:srgbClr>
            </a:outerShdw>
          </a:effectLst>
        </p:spPr>
        <p:txBody>
          <a:bodyPr/>
          <a:lstStyle/>
          <a:p>
            <a:endParaRPr lang="en-US"/>
          </a:p>
        </p:txBody>
      </p:sp>
      <p:sp>
        <p:nvSpPr>
          <p:cNvPr id="36" name="Text 31"/>
          <p:cNvSpPr/>
          <p:nvPr/>
        </p:nvSpPr>
        <p:spPr>
          <a:xfrm>
            <a:off x="594360" y="3703320"/>
            <a:ext cx="1691640" cy="228600"/>
          </a:xfrm>
          <a:prstGeom prst="rect">
            <a:avLst/>
          </a:prstGeom>
          <a:noFill/>
          <a:ln/>
        </p:spPr>
        <p:txBody>
          <a:bodyPr wrap="square" lIns="0" tIns="0" rIns="0" bIns="0" rtlCol="0" anchor="ctr"/>
          <a:lstStyle/>
          <a:p>
            <a:pPr marL="0" indent="0">
              <a:buNone/>
            </a:pPr>
            <a:r>
              <a:rPr lang="en-US" sz="950" b="1" dirty="0">
                <a:solidFill>
                  <a:srgbClr val="1A2B34"/>
                </a:solidFill>
                <a:latin typeface="Trebuchet MS" pitchFamily="34" charset="0"/>
                <a:ea typeface="Trebuchet MS" pitchFamily="34" charset="-122"/>
                <a:cs typeface="Trebuchet MS" pitchFamily="34" charset="-120"/>
              </a:rPr>
              <a:t>CS Leads</a:t>
            </a:r>
            <a:endParaRPr lang="en-US" sz="950" dirty="0"/>
          </a:p>
        </p:txBody>
      </p:sp>
      <p:sp>
        <p:nvSpPr>
          <p:cNvPr id="37" name="Text 32"/>
          <p:cNvSpPr/>
          <p:nvPr/>
        </p:nvSpPr>
        <p:spPr>
          <a:xfrm>
            <a:off x="594360" y="3931920"/>
            <a:ext cx="1691640" cy="685800"/>
          </a:xfrm>
          <a:prstGeom prst="rect">
            <a:avLst/>
          </a:prstGeom>
          <a:noFill/>
          <a:ln/>
        </p:spPr>
        <p:txBody>
          <a:bodyPr wrap="square" lIns="0" tIns="0" rIns="0" bIns="0" rtlCol="0" anchor="t"/>
          <a:lstStyle/>
          <a:p>
            <a:pPr marL="0" indent="0">
              <a:lnSpc>
                <a:spcPct val="125000"/>
              </a:lnSpc>
              <a:buNone/>
            </a:pPr>
            <a:r>
              <a:rPr lang="en-US" sz="750" dirty="0">
                <a:solidFill>
                  <a:srgbClr val="4A6572"/>
                </a:solidFill>
                <a:latin typeface="Calibri" pitchFamily="34" charset="0"/>
                <a:ea typeface="Calibri" pitchFamily="34" charset="-122"/>
                <a:cs typeface="Calibri" pitchFamily="34" charset="-120"/>
              </a:rPr>
              <a:t>Front-line reviewers of AI drafts. First to spot systematic errors. Own agent training on the sidecar tool.</a:t>
            </a:r>
            <a:endParaRPr lang="en-US" sz="750" dirty="0"/>
          </a:p>
        </p:txBody>
      </p:sp>
      <p:sp>
        <p:nvSpPr>
          <p:cNvPr id="38" name="Shape 33"/>
          <p:cNvSpPr/>
          <p:nvPr/>
        </p:nvSpPr>
        <p:spPr>
          <a:xfrm>
            <a:off x="2532888" y="3657600"/>
            <a:ext cx="1920240" cy="100584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a:effectLst>
            <a:outerShdw blurRad="63500" dist="25400" dir="8100000" algn="bl" rotWithShape="0">
              <a:srgbClr val="000000">
                <a:alpha val="8000"/>
              </a:srgbClr>
            </a:outerShdw>
          </a:effectLst>
        </p:spPr>
        <p:txBody>
          <a:bodyPr/>
          <a:lstStyle/>
          <a:p>
            <a:endParaRPr lang="en-US"/>
          </a:p>
        </p:txBody>
      </p:sp>
      <p:sp>
        <p:nvSpPr>
          <p:cNvPr id="40" name="Text 35"/>
          <p:cNvSpPr/>
          <p:nvPr/>
        </p:nvSpPr>
        <p:spPr>
          <a:xfrm>
            <a:off x="2670048" y="3703320"/>
            <a:ext cx="1691640" cy="228600"/>
          </a:xfrm>
          <a:prstGeom prst="rect">
            <a:avLst/>
          </a:prstGeom>
          <a:noFill/>
          <a:ln/>
        </p:spPr>
        <p:txBody>
          <a:bodyPr wrap="square" lIns="0" tIns="0" rIns="0" bIns="0" rtlCol="0" anchor="ctr"/>
          <a:lstStyle/>
          <a:p>
            <a:pPr marL="0" indent="0">
              <a:buNone/>
            </a:pPr>
            <a:r>
              <a:rPr lang="en-US" sz="950" b="1" dirty="0">
                <a:solidFill>
                  <a:srgbClr val="1A2B34"/>
                </a:solidFill>
                <a:latin typeface="Trebuchet MS" pitchFamily="34" charset="0"/>
                <a:ea typeface="Trebuchet MS" pitchFamily="34" charset="-122"/>
                <a:cs typeface="Trebuchet MS" pitchFamily="34" charset="-120"/>
              </a:rPr>
              <a:t>Product</a:t>
            </a:r>
            <a:endParaRPr lang="en-US" sz="950" dirty="0"/>
          </a:p>
        </p:txBody>
      </p:sp>
      <p:sp>
        <p:nvSpPr>
          <p:cNvPr id="41" name="Text 36"/>
          <p:cNvSpPr/>
          <p:nvPr/>
        </p:nvSpPr>
        <p:spPr>
          <a:xfrm>
            <a:off x="2670048" y="3931920"/>
            <a:ext cx="1691640" cy="685800"/>
          </a:xfrm>
          <a:prstGeom prst="rect">
            <a:avLst/>
          </a:prstGeom>
          <a:noFill/>
          <a:ln/>
        </p:spPr>
        <p:txBody>
          <a:bodyPr wrap="square" lIns="0" tIns="0" rIns="0" bIns="0" rtlCol="0" anchor="t"/>
          <a:lstStyle/>
          <a:p>
            <a:pPr marL="0" indent="0">
              <a:lnSpc>
                <a:spcPct val="125000"/>
              </a:lnSpc>
              <a:buNone/>
            </a:pPr>
            <a:r>
              <a:rPr lang="en-US" sz="750" dirty="0">
                <a:solidFill>
                  <a:srgbClr val="4A6572"/>
                </a:solidFill>
                <a:latin typeface="Calibri" pitchFamily="34" charset="0"/>
                <a:ea typeface="Calibri" pitchFamily="34" charset="-122"/>
                <a:cs typeface="Calibri" pitchFamily="34" charset="-120"/>
              </a:rPr>
              <a:t>Owns the sidecar UX. If the tool is clunky, CS Reps history. bypass it and you lose both deflection and feedback data.</a:t>
            </a:r>
            <a:endParaRPr lang="en-US" sz="750" dirty="0"/>
          </a:p>
        </p:txBody>
      </p:sp>
      <p:sp>
        <p:nvSpPr>
          <p:cNvPr id="42" name="Shape 37"/>
          <p:cNvSpPr/>
          <p:nvPr/>
        </p:nvSpPr>
        <p:spPr>
          <a:xfrm>
            <a:off x="4608576" y="3657600"/>
            <a:ext cx="1920240" cy="100584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a:effectLst>
            <a:outerShdw blurRad="63500" dist="25400" dir="8100000" algn="bl" rotWithShape="0">
              <a:srgbClr val="000000">
                <a:alpha val="8000"/>
              </a:srgbClr>
            </a:outerShdw>
          </a:effectLst>
        </p:spPr>
        <p:txBody>
          <a:bodyPr/>
          <a:lstStyle/>
          <a:p>
            <a:endParaRPr lang="en-US"/>
          </a:p>
        </p:txBody>
      </p:sp>
      <p:sp>
        <p:nvSpPr>
          <p:cNvPr id="44" name="Text 39"/>
          <p:cNvSpPr/>
          <p:nvPr/>
        </p:nvSpPr>
        <p:spPr>
          <a:xfrm>
            <a:off x="4745736" y="3703320"/>
            <a:ext cx="1691640" cy="228600"/>
          </a:xfrm>
          <a:prstGeom prst="rect">
            <a:avLst/>
          </a:prstGeom>
          <a:noFill/>
          <a:ln/>
        </p:spPr>
        <p:txBody>
          <a:bodyPr wrap="square" lIns="0" tIns="0" rIns="0" bIns="0" rtlCol="0" anchor="ctr"/>
          <a:lstStyle/>
          <a:p>
            <a:pPr marL="0" indent="0">
              <a:buNone/>
            </a:pPr>
            <a:r>
              <a:rPr lang="en-US" sz="950" b="1" dirty="0">
                <a:solidFill>
                  <a:srgbClr val="1A2B34"/>
                </a:solidFill>
                <a:latin typeface="Trebuchet MS" pitchFamily="34" charset="0"/>
                <a:ea typeface="Trebuchet MS" pitchFamily="34" charset="-122"/>
                <a:cs typeface="Trebuchet MS" pitchFamily="34" charset="-120"/>
              </a:rPr>
              <a:t>Compliance / Legal</a:t>
            </a:r>
            <a:endParaRPr lang="en-US" sz="950" dirty="0"/>
          </a:p>
        </p:txBody>
      </p:sp>
      <p:sp>
        <p:nvSpPr>
          <p:cNvPr id="45" name="Text 40"/>
          <p:cNvSpPr/>
          <p:nvPr/>
        </p:nvSpPr>
        <p:spPr>
          <a:xfrm>
            <a:off x="4745736" y="3931920"/>
            <a:ext cx="1691640" cy="685800"/>
          </a:xfrm>
          <a:prstGeom prst="rect">
            <a:avLst/>
          </a:prstGeom>
          <a:noFill/>
          <a:ln/>
        </p:spPr>
        <p:txBody>
          <a:bodyPr wrap="square" lIns="0" tIns="0" rIns="0" bIns="0" rtlCol="0" anchor="t"/>
          <a:lstStyle/>
          <a:p>
            <a:pPr marL="0" indent="0">
              <a:lnSpc>
                <a:spcPct val="125000"/>
              </a:lnSpc>
              <a:buNone/>
            </a:pPr>
            <a:r>
              <a:rPr lang="en-US" sz="750" dirty="0">
                <a:solidFill>
                  <a:srgbClr val="4A6572"/>
                </a:solidFill>
                <a:latin typeface="Calibri" pitchFamily="34" charset="0"/>
                <a:ea typeface="Calibri" pitchFamily="34" charset="-122"/>
                <a:cs typeface="Calibri" pitchFamily="34" charset="-120"/>
              </a:rPr>
              <a:t>Signs off that auto-replies meet regulatory standards for physician communications and PII handling.</a:t>
            </a:r>
            <a:endParaRPr lang="en-US" sz="750" dirty="0"/>
          </a:p>
        </p:txBody>
      </p:sp>
      <p:sp>
        <p:nvSpPr>
          <p:cNvPr id="53" name="Shape 37">
            <a:extLst>
              <a:ext uri="{FF2B5EF4-FFF2-40B4-BE49-F238E27FC236}">
                <a16:creationId xmlns:a16="http://schemas.microsoft.com/office/drawing/2014/main" id="{16377863-C54C-201C-C77C-0AB317B06BBB}"/>
              </a:ext>
            </a:extLst>
          </p:cNvPr>
          <p:cNvSpPr/>
          <p:nvPr/>
        </p:nvSpPr>
        <p:spPr>
          <a:xfrm>
            <a:off x="6629400" y="3648736"/>
            <a:ext cx="1920240" cy="100584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a:effectLst>
            <a:outerShdw blurRad="63500" dist="25400" dir="8100000" algn="bl" rotWithShape="0">
              <a:srgbClr val="000000">
                <a:alpha val="8000"/>
              </a:srgbClr>
            </a:outerShdw>
          </a:effectLst>
        </p:spPr>
        <p:txBody>
          <a:bodyPr/>
          <a:lstStyle/>
          <a:p>
            <a:endParaRPr lang="en-US"/>
          </a:p>
        </p:txBody>
      </p:sp>
      <p:sp>
        <p:nvSpPr>
          <p:cNvPr id="54" name="Text 43">
            <a:extLst>
              <a:ext uri="{FF2B5EF4-FFF2-40B4-BE49-F238E27FC236}">
                <a16:creationId xmlns:a16="http://schemas.microsoft.com/office/drawing/2014/main" id="{DF08C7F2-5235-2F69-1FFA-16765146B1BE}"/>
              </a:ext>
            </a:extLst>
          </p:cNvPr>
          <p:cNvSpPr/>
          <p:nvPr/>
        </p:nvSpPr>
        <p:spPr>
          <a:xfrm>
            <a:off x="6698073" y="3703320"/>
            <a:ext cx="1691640" cy="228600"/>
          </a:xfrm>
          <a:prstGeom prst="rect">
            <a:avLst/>
          </a:prstGeom>
          <a:noFill/>
          <a:ln/>
        </p:spPr>
        <p:txBody>
          <a:bodyPr wrap="square" lIns="0" tIns="0" rIns="0" bIns="0" rtlCol="0" anchor="ctr"/>
          <a:lstStyle/>
          <a:p>
            <a:pPr marL="0" indent="0">
              <a:buNone/>
            </a:pPr>
            <a:r>
              <a:rPr lang="en-US" sz="950" b="1" dirty="0">
                <a:solidFill>
                  <a:srgbClr val="1A2B34"/>
                </a:solidFill>
                <a:latin typeface="Trebuchet MS" pitchFamily="34" charset="0"/>
                <a:ea typeface="Trebuchet MS" pitchFamily="34" charset="-122"/>
                <a:cs typeface="Trebuchet MS" pitchFamily="34" charset="-120"/>
              </a:rPr>
              <a:t>SME Account Team</a:t>
            </a:r>
            <a:endParaRPr lang="en-US" sz="950" dirty="0"/>
          </a:p>
        </p:txBody>
      </p:sp>
      <p:sp>
        <p:nvSpPr>
          <p:cNvPr id="56" name="Text 44">
            <a:extLst>
              <a:ext uri="{FF2B5EF4-FFF2-40B4-BE49-F238E27FC236}">
                <a16:creationId xmlns:a16="http://schemas.microsoft.com/office/drawing/2014/main" id="{66E0C19C-0ADF-A967-CB11-9FFE0B6EE5E4}"/>
              </a:ext>
            </a:extLst>
          </p:cNvPr>
          <p:cNvSpPr/>
          <p:nvPr/>
        </p:nvSpPr>
        <p:spPr>
          <a:xfrm>
            <a:off x="6665976" y="3935186"/>
            <a:ext cx="1691640" cy="685800"/>
          </a:xfrm>
          <a:prstGeom prst="rect">
            <a:avLst/>
          </a:prstGeom>
          <a:noFill/>
          <a:ln/>
        </p:spPr>
        <p:txBody>
          <a:bodyPr wrap="square" lIns="0" tIns="0" rIns="0" bIns="0" rtlCol="0" anchor="t"/>
          <a:lstStyle/>
          <a:p>
            <a:pPr marL="0" indent="0">
              <a:lnSpc>
                <a:spcPct val="125000"/>
              </a:lnSpc>
              <a:buNone/>
            </a:pPr>
            <a:r>
              <a:rPr lang="en-US" sz="750" dirty="0">
                <a:solidFill>
                  <a:srgbClr val="4A6572"/>
                </a:solidFill>
                <a:latin typeface="Calibri" pitchFamily="34" charset="0"/>
                <a:ea typeface="Calibri" pitchFamily="34" charset="-122"/>
                <a:cs typeface="Calibri" pitchFamily="34" charset="-120"/>
              </a:rPr>
              <a:t>Identifies which physician accounts are safe for Beta vs. which high-value accounts to exclude initially.</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B1D26"/>
          </a:solidFill>
          <a:ln/>
        </p:spPr>
        <p:txBody>
          <a:bodyPr/>
          <a:lstStyle/>
          <a:p>
            <a:endParaRPr lang="en-US"/>
          </a:p>
        </p:txBody>
      </p:sp>
      <p:sp>
        <p:nvSpPr>
          <p:cNvPr id="3" name="Text 1"/>
          <p:cNvSpPr/>
          <p:nvPr/>
        </p:nvSpPr>
        <p:spPr>
          <a:xfrm>
            <a:off x="548640" y="45720"/>
            <a:ext cx="8229600" cy="548640"/>
          </a:xfrm>
          <a:prstGeom prst="rect">
            <a:avLst/>
          </a:prstGeom>
          <a:noFill/>
          <a:ln/>
        </p:spPr>
        <p:txBody>
          <a:bodyPr wrap="square" lIns="0" tIns="0" rIns="0" bIns="0" rtlCol="0" anchor="ctr"/>
          <a:lstStyle/>
          <a:p>
            <a:pPr marL="0" indent="0">
              <a:buNone/>
            </a:pPr>
            <a:r>
              <a:rPr lang="en-US" sz="1800" b="1" dirty="0">
                <a:solidFill>
                  <a:srgbClr val="FFFFFF"/>
                </a:solidFill>
                <a:latin typeface="Trebuchet MS" pitchFamily="34" charset="0"/>
                <a:ea typeface="Trebuchet MS" pitchFamily="34" charset="-122"/>
                <a:cs typeface="Trebuchet MS" pitchFamily="34" charset="-120"/>
              </a:rPr>
              <a:t>Q2   The Feedback Loop &amp; Sidecar Experience</a:t>
            </a:r>
            <a:endParaRPr lang="en-US" sz="1800" dirty="0"/>
          </a:p>
        </p:txBody>
      </p:sp>
      <p:sp>
        <p:nvSpPr>
          <p:cNvPr id="4" name="Text 2"/>
          <p:cNvSpPr/>
          <p:nvPr/>
        </p:nvSpPr>
        <p:spPr>
          <a:xfrm>
            <a:off x="548640" y="777240"/>
            <a:ext cx="8229600" cy="320040"/>
          </a:xfrm>
          <a:prstGeom prst="rect">
            <a:avLst/>
          </a:prstGeom>
          <a:noFill/>
          <a:ln/>
        </p:spPr>
        <p:txBody>
          <a:bodyPr wrap="square" lIns="0" tIns="0" rIns="0" bIns="0" rtlCol="0" anchor="ctr"/>
          <a:lstStyle/>
          <a:p>
            <a:r>
              <a:rPr lang="en-US" sz="1200" b="1" dirty="0">
                <a:solidFill>
                  <a:srgbClr val="4A6572"/>
                </a:solidFill>
                <a:latin typeface="Calibri" pitchFamily="34" charset="0"/>
                <a:cs typeface="Calibri" pitchFamily="34" charset="-120"/>
              </a:rPr>
              <a:t xml:space="preserve">How feedback improves performance over time </a:t>
            </a:r>
            <a:r>
              <a:rPr lang="en-US" sz="1200" b="1" dirty="0">
                <a:solidFill>
                  <a:srgbClr val="4A6572"/>
                </a:solidFill>
                <a:latin typeface="Calibri" pitchFamily="34" charset="0"/>
                <a:ea typeface="Calibri" pitchFamily="34" charset="-122"/>
                <a:cs typeface="Calibri" pitchFamily="34" charset="-120"/>
              </a:rPr>
              <a:t xml:space="preserve">	</a:t>
            </a:r>
            <a:endParaRPr lang="en-US" sz="1200" b="1" dirty="0">
              <a:solidFill>
                <a:srgbClr val="4A6572"/>
              </a:solidFill>
              <a:latin typeface="Calibri" pitchFamily="34" charset="0"/>
              <a:cs typeface="Calibri" pitchFamily="34" charset="-120"/>
            </a:endParaRPr>
          </a:p>
        </p:txBody>
      </p:sp>
      <p:sp>
        <p:nvSpPr>
          <p:cNvPr id="5" name="Shape 3"/>
          <p:cNvSpPr/>
          <p:nvPr/>
        </p:nvSpPr>
        <p:spPr>
          <a:xfrm>
            <a:off x="365760" y="1234440"/>
            <a:ext cx="4114800" cy="822960"/>
          </a:xfrm>
          <a:prstGeom prst="rect">
            <a:avLst/>
          </a:prstGeom>
          <a:noFill/>
          <a:ln/>
          <a:effectLst>
            <a:outerShdw blurRad="63500" dist="25400" dir="8100000" algn="bl" rotWithShape="0">
              <a:srgbClr val="000000">
                <a:alpha val="8000"/>
              </a:srgbClr>
            </a:outerShdw>
          </a:effectLst>
        </p:spPr>
        <p:txBody>
          <a:bodyPr/>
          <a:lstStyle/>
          <a:p>
            <a:endParaRPr lang="en-US" dirty="0"/>
          </a:p>
        </p:txBody>
      </p:sp>
      <p:sp>
        <p:nvSpPr>
          <p:cNvPr id="7" name="Text 5"/>
          <p:cNvSpPr/>
          <p:nvPr/>
        </p:nvSpPr>
        <p:spPr>
          <a:xfrm>
            <a:off x="548640" y="1261872"/>
            <a:ext cx="3657600" cy="228600"/>
          </a:xfrm>
          <a:prstGeom prst="rect">
            <a:avLst/>
          </a:prstGeom>
          <a:noFill/>
          <a:ln/>
        </p:spPr>
        <p:txBody>
          <a:bodyPr wrap="square" lIns="0" tIns="0" rIns="0" bIns="0" rtlCol="0" anchor="ctr"/>
          <a:lstStyle/>
          <a:p>
            <a:pPr marL="0" indent="0">
              <a:buNone/>
            </a:pPr>
            <a:r>
              <a:rPr lang="en-US" sz="1050" b="1" dirty="0">
                <a:solidFill>
                  <a:srgbClr val="1A2B34"/>
                </a:solidFill>
                <a:latin typeface="Trebuchet MS" pitchFamily="34" charset="0"/>
                <a:ea typeface="Trebuchet MS" pitchFamily="34" charset="-122"/>
                <a:cs typeface="Trebuchet MS" pitchFamily="34" charset="-120"/>
              </a:rPr>
              <a:t>Real-Time</a:t>
            </a:r>
            <a:endParaRPr lang="en-US" sz="1050" dirty="0"/>
          </a:p>
        </p:txBody>
      </p:sp>
      <p:sp>
        <p:nvSpPr>
          <p:cNvPr id="8" name="Text 6"/>
          <p:cNvSpPr/>
          <p:nvPr/>
        </p:nvSpPr>
        <p:spPr>
          <a:xfrm>
            <a:off x="548640" y="1508760"/>
            <a:ext cx="3749040" cy="502920"/>
          </a:xfrm>
          <a:prstGeom prst="rect">
            <a:avLst/>
          </a:prstGeom>
          <a:noFill/>
          <a:ln/>
        </p:spPr>
        <p:txBody>
          <a:bodyPr wrap="square" lIns="0" tIns="0" rIns="0" bIns="0" rtlCol="0" anchor="t"/>
          <a:lstStyle/>
          <a:p>
            <a:pPr marL="0" indent="0">
              <a:lnSpc>
                <a:spcPct val="125000"/>
              </a:lnSpc>
              <a:buNone/>
            </a:pPr>
            <a:r>
              <a:rPr lang="en-US" sz="800" dirty="0">
                <a:solidFill>
                  <a:srgbClr val="4A6572"/>
                </a:solidFill>
                <a:latin typeface="Calibri" pitchFamily="34" charset="0"/>
                <a:ea typeface="Calibri" pitchFamily="34" charset="-122"/>
                <a:cs typeface="Calibri" pitchFamily="34" charset="-120"/>
              </a:rPr>
              <a:t>CS Representative sees AI draft in sidecar panel alongside source citations. Three actions: Accept as-is, Edit and send, or Reject and write from scratch. Each action is a labeled data point for model improvement.</a:t>
            </a:r>
            <a:endParaRPr lang="en-US" sz="800" dirty="0"/>
          </a:p>
        </p:txBody>
      </p:sp>
      <p:sp>
        <p:nvSpPr>
          <p:cNvPr id="9" name="Shape 7"/>
          <p:cNvSpPr/>
          <p:nvPr/>
        </p:nvSpPr>
        <p:spPr>
          <a:xfrm>
            <a:off x="365760" y="2194560"/>
            <a:ext cx="4114800" cy="822960"/>
          </a:xfrm>
          <a:prstGeom prst="rect">
            <a:avLst/>
          </a:prstGeom>
          <a:noFill/>
          <a:ln/>
          <a:effectLst>
            <a:outerShdw blurRad="63500" dist="25400" dir="8100000" algn="bl" rotWithShape="0">
              <a:srgbClr val="000000">
                <a:alpha val="8000"/>
              </a:srgbClr>
            </a:outerShdw>
          </a:effectLst>
        </p:spPr>
        <p:txBody>
          <a:bodyPr/>
          <a:lstStyle/>
          <a:p>
            <a:endParaRPr lang="en-US"/>
          </a:p>
        </p:txBody>
      </p:sp>
      <p:sp>
        <p:nvSpPr>
          <p:cNvPr id="11" name="Text 9"/>
          <p:cNvSpPr/>
          <p:nvPr/>
        </p:nvSpPr>
        <p:spPr>
          <a:xfrm>
            <a:off x="548640" y="2221992"/>
            <a:ext cx="3657600" cy="228600"/>
          </a:xfrm>
          <a:prstGeom prst="rect">
            <a:avLst/>
          </a:prstGeom>
          <a:noFill/>
          <a:ln/>
        </p:spPr>
        <p:txBody>
          <a:bodyPr wrap="square" lIns="0" tIns="0" rIns="0" bIns="0" rtlCol="0" anchor="ctr"/>
          <a:lstStyle/>
          <a:p>
            <a:pPr marL="0" indent="0">
              <a:buNone/>
            </a:pPr>
            <a:r>
              <a:rPr lang="en-US" sz="1050" b="1" dirty="0">
                <a:solidFill>
                  <a:srgbClr val="1A2B34"/>
                </a:solidFill>
                <a:latin typeface="Trebuchet MS" pitchFamily="34" charset="0"/>
                <a:ea typeface="Trebuchet MS" pitchFamily="34" charset="-122"/>
                <a:cs typeface="Trebuchet MS" pitchFamily="34" charset="-120"/>
              </a:rPr>
              <a:t>Weekly Pattern Review with CS Leads</a:t>
            </a:r>
            <a:endParaRPr lang="en-US" sz="1050" dirty="0"/>
          </a:p>
        </p:txBody>
      </p:sp>
      <p:sp>
        <p:nvSpPr>
          <p:cNvPr id="12" name="Text 10"/>
          <p:cNvSpPr/>
          <p:nvPr/>
        </p:nvSpPr>
        <p:spPr>
          <a:xfrm>
            <a:off x="548640" y="2468880"/>
            <a:ext cx="3749040" cy="502920"/>
          </a:xfrm>
          <a:prstGeom prst="rect">
            <a:avLst/>
          </a:prstGeom>
          <a:noFill/>
          <a:ln/>
        </p:spPr>
        <p:txBody>
          <a:bodyPr wrap="square" lIns="0" tIns="0" rIns="0" bIns="0" rtlCol="0" anchor="t"/>
          <a:lstStyle/>
          <a:p>
            <a:pPr marL="0" indent="0">
              <a:lnSpc>
                <a:spcPct val="125000"/>
              </a:lnSpc>
              <a:buNone/>
            </a:pPr>
            <a:r>
              <a:rPr lang="en-US" sz="800" dirty="0">
                <a:solidFill>
                  <a:srgbClr val="4A6572"/>
                </a:solidFill>
                <a:latin typeface="Calibri" pitchFamily="34" charset="0"/>
                <a:ea typeface="Calibri" pitchFamily="34" charset="-122"/>
                <a:cs typeface="Calibri" pitchFamily="34" charset="-120"/>
              </a:rPr>
              <a:t>Review rejected and heavily-edited drafts from the past week. Look for systemic issues: wrong assay info, bad timelines, tone mismatches on frustrated tickets. Patterns, not individual tickets.</a:t>
            </a:r>
            <a:endParaRPr lang="en-US" sz="800" dirty="0"/>
          </a:p>
        </p:txBody>
      </p:sp>
      <p:sp>
        <p:nvSpPr>
          <p:cNvPr id="13" name="Shape 11"/>
          <p:cNvSpPr/>
          <p:nvPr/>
        </p:nvSpPr>
        <p:spPr>
          <a:xfrm>
            <a:off x="365760" y="3154680"/>
            <a:ext cx="4114800" cy="822960"/>
          </a:xfrm>
          <a:prstGeom prst="rect">
            <a:avLst/>
          </a:prstGeom>
          <a:noFill/>
          <a:ln/>
          <a:effectLst>
            <a:outerShdw blurRad="63500" dist="25400" dir="8100000" algn="bl" rotWithShape="0">
              <a:srgbClr val="000000">
                <a:alpha val="8000"/>
              </a:srgbClr>
            </a:outerShdw>
          </a:effectLst>
        </p:spPr>
        <p:txBody>
          <a:bodyPr/>
          <a:lstStyle/>
          <a:p>
            <a:endParaRPr lang="en-US"/>
          </a:p>
        </p:txBody>
      </p:sp>
      <p:sp>
        <p:nvSpPr>
          <p:cNvPr id="15" name="Text 13"/>
          <p:cNvSpPr/>
          <p:nvPr/>
        </p:nvSpPr>
        <p:spPr>
          <a:xfrm>
            <a:off x="548640" y="3182112"/>
            <a:ext cx="3657600" cy="228600"/>
          </a:xfrm>
          <a:prstGeom prst="rect">
            <a:avLst/>
          </a:prstGeom>
          <a:noFill/>
          <a:ln/>
        </p:spPr>
        <p:txBody>
          <a:bodyPr wrap="square" lIns="0" tIns="0" rIns="0" bIns="0" rtlCol="0" anchor="ctr"/>
          <a:lstStyle/>
          <a:p>
            <a:pPr marL="0" indent="0">
              <a:buNone/>
            </a:pPr>
            <a:r>
              <a:rPr lang="en-US" sz="1050" b="1" dirty="0">
                <a:solidFill>
                  <a:srgbClr val="1A2B34"/>
                </a:solidFill>
                <a:latin typeface="Trebuchet MS" pitchFamily="34" charset="0"/>
                <a:ea typeface="Trebuchet MS" pitchFamily="34" charset="-122"/>
                <a:cs typeface="Trebuchet MS" pitchFamily="34" charset="-120"/>
              </a:rPr>
              <a:t>Monthly Model-Level Report to AI Engineering</a:t>
            </a:r>
            <a:endParaRPr lang="en-US" sz="1050" dirty="0"/>
          </a:p>
        </p:txBody>
      </p:sp>
      <p:sp>
        <p:nvSpPr>
          <p:cNvPr id="16" name="Text 14"/>
          <p:cNvSpPr/>
          <p:nvPr/>
        </p:nvSpPr>
        <p:spPr>
          <a:xfrm>
            <a:off x="548640" y="3429000"/>
            <a:ext cx="3749040" cy="502920"/>
          </a:xfrm>
          <a:prstGeom prst="rect">
            <a:avLst/>
          </a:prstGeom>
          <a:noFill/>
          <a:ln/>
        </p:spPr>
        <p:txBody>
          <a:bodyPr wrap="square" lIns="0" tIns="0" rIns="0" bIns="0" rtlCol="0" anchor="t"/>
          <a:lstStyle/>
          <a:p>
            <a:pPr>
              <a:lnSpc>
                <a:spcPct val="125000"/>
              </a:lnSpc>
            </a:pPr>
            <a:r>
              <a:rPr lang="en-US" sz="800" dirty="0">
                <a:solidFill>
                  <a:srgbClr val="4A6572"/>
                </a:solidFill>
                <a:latin typeface="Calibri" pitchFamily="34" charset="0"/>
                <a:ea typeface="Calibri" pitchFamily="34" charset="-122"/>
                <a:cs typeface="Calibri" pitchFamily="34" charset="-120"/>
              </a:rPr>
              <a:t xml:space="preserve">Aggregate data: acceptance rate, edit rate, rejection rate by ticket category and confidence band. </a:t>
            </a:r>
            <a:r>
              <a:rPr lang="en-US" sz="800" dirty="0">
                <a:solidFill>
                  <a:srgbClr val="4A6572"/>
                </a:solidFill>
                <a:latin typeface="Calibri" pitchFamily="34" charset="0"/>
                <a:cs typeface="Calibri" pitchFamily="34" charset="-120"/>
              </a:rPr>
              <a:t>Monthly reporting helps AI Engineering recalibrate thresholds, update knowledge sources, and improve response quality.</a:t>
            </a:r>
          </a:p>
        </p:txBody>
      </p:sp>
      <p:sp>
        <p:nvSpPr>
          <p:cNvPr id="17" name="Text 15"/>
          <p:cNvSpPr/>
          <p:nvPr/>
        </p:nvSpPr>
        <p:spPr>
          <a:xfrm>
            <a:off x="4754880" y="1051560"/>
            <a:ext cx="4114800" cy="274320"/>
          </a:xfrm>
          <a:prstGeom prst="rect">
            <a:avLst/>
          </a:prstGeom>
          <a:noFill/>
          <a:ln/>
        </p:spPr>
        <p:txBody>
          <a:bodyPr wrap="square" lIns="0" tIns="0" rIns="0" bIns="0" rtlCol="0" anchor="ctr"/>
          <a:lstStyle/>
          <a:p>
            <a:pPr marL="0" indent="0" algn="ctr">
              <a:buNone/>
            </a:pPr>
            <a:r>
              <a:rPr lang="en-US" sz="1100" b="1" dirty="0">
                <a:solidFill>
                  <a:srgbClr val="1A2B34"/>
                </a:solidFill>
                <a:latin typeface="Trebuchet MS" pitchFamily="34" charset="0"/>
                <a:ea typeface="Trebuchet MS" pitchFamily="34" charset="-122"/>
                <a:cs typeface="Trebuchet MS" pitchFamily="34" charset="-120"/>
              </a:rPr>
              <a:t>Sidecar Panel CS Representative View</a:t>
            </a:r>
            <a:endParaRPr lang="en-US" sz="1100" dirty="0"/>
          </a:p>
        </p:txBody>
      </p:sp>
      <p:sp>
        <p:nvSpPr>
          <p:cNvPr id="18" name="Shape 16"/>
          <p:cNvSpPr/>
          <p:nvPr/>
        </p:nvSpPr>
        <p:spPr>
          <a:xfrm>
            <a:off x="4754880" y="1371600"/>
            <a:ext cx="4023360" cy="3063240"/>
          </a:xfrm>
          <a:prstGeom prst="rect">
            <a:avLst/>
          </a:prstGeom>
          <a:solidFill>
            <a:srgbClr val="FFFFFF"/>
          </a:solidFill>
          <a:ln w="12700">
            <a:solidFill>
              <a:srgbClr val="D1E5E0"/>
            </a:solidFill>
            <a:prstDash val="solid"/>
          </a:ln>
          <a:effectLst>
            <a:outerShdw blurRad="101600" dist="38100" dir="8100000" algn="bl" rotWithShape="0">
              <a:srgbClr val="000000">
                <a:alpha val="10000"/>
              </a:srgbClr>
            </a:outerShdw>
          </a:effectLst>
        </p:spPr>
        <p:txBody>
          <a:bodyPr/>
          <a:lstStyle/>
          <a:p>
            <a:endParaRPr lang="en-US"/>
          </a:p>
        </p:txBody>
      </p:sp>
      <p:sp>
        <p:nvSpPr>
          <p:cNvPr id="19" name="Shape 17"/>
          <p:cNvSpPr/>
          <p:nvPr/>
        </p:nvSpPr>
        <p:spPr>
          <a:xfrm>
            <a:off x="4754880" y="1371600"/>
            <a:ext cx="4023360" cy="320040"/>
          </a:xfrm>
          <a:prstGeom prst="rect">
            <a:avLst/>
          </a:prstGeom>
          <a:solidFill>
            <a:srgbClr val="0B1D26"/>
          </a:solidFill>
          <a:ln/>
        </p:spPr>
        <p:txBody>
          <a:bodyPr/>
          <a:lstStyle/>
          <a:p>
            <a:endParaRPr lang="en-US"/>
          </a:p>
        </p:txBody>
      </p:sp>
      <p:pic>
        <p:nvPicPr>
          <p:cNvPr id="20" name="Image 0" descr="preencoded.png"/>
          <p:cNvPicPr>
            <a:picLocks noChangeAspect="1"/>
          </p:cNvPicPr>
          <p:nvPr/>
        </p:nvPicPr>
        <p:blipFill>
          <a:blip r:embed="rId3"/>
          <a:stretch>
            <a:fillRect/>
          </a:stretch>
        </p:blipFill>
        <p:spPr>
          <a:xfrm>
            <a:off x="4846320" y="1408176"/>
            <a:ext cx="201168" cy="201168"/>
          </a:xfrm>
          <a:prstGeom prst="rect">
            <a:avLst/>
          </a:prstGeom>
        </p:spPr>
      </p:pic>
      <p:sp>
        <p:nvSpPr>
          <p:cNvPr id="21" name="Text 18"/>
          <p:cNvSpPr/>
          <p:nvPr/>
        </p:nvSpPr>
        <p:spPr>
          <a:xfrm>
            <a:off x="5102352" y="1389888"/>
            <a:ext cx="2743200" cy="274320"/>
          </a:xfrm>
          <a:prstGeom prst="rect">
            <a:avLst/>
          </a:prstGeom>
          <a:noFill/>
          <a:ln/>
        </p:spPr>
        <p:txBody>
          <a:bodyPr wrap="square" lIns="0" tIns="0" rIns="0" bIns="0" rtlCol="0" anchor="ctr"/>
          <a:lstStyle/>
          <a:p>
            <a:pPr marL="0" indent="0">
              <a:buNone/>
            </a:pPr>
            <a:r>
              <a:rPr lang="en-US" sz="900" b="1" dirty="0">
                <a:solidFill>
                  <a:srgbClr val="FFFFFF"/>
                </a:solidFill>
                <a:latin typeface="Trebuchet MS" pitchFamily="34" charset="0"/>
                <a:ea typeface="Trebuchet MS" pitchFamily="34" charset="-122"/>
                <a:cs typeface="Trebuchet MS" pitchFamily="34" charset="-120"/>
              </a:rPr>
              <a:t>AI Status Assistant</a:t>
            </a:r>
            <a:endParaRPr lang="en-US" sz="900" dirty="0"/>
          </a:p>
        </p:txBody>
      </p:sp>
      <p:sp>
        <p:nvSpPr>
          <p:cNvPr id="22" name="Text 19"/>
          <p:cNvSpPr/>
          <p:nvPr/>
        </p:nvSpPr>
        <p:spPr>
          <a:xfrm>
            <a:off x="7498080" y="1389888"/>
            <a:ext cx="1188720" cy="274320"/>
          </a:xfrm>
          <a:prstGeom prst="rect">
            <a:avLst/>
          </a:prstGeom>
          <a:noFill/>
          <a:ln/>
        </p:spPr>
        <p:txBody>
          <a:bodyPr wrap="square" lIns="0" tIns="0" rIns="0" bIns="0" rtlCol="0" anchor="ctr"/>
          <a:lstStyle/>
          <a:p>
            <a:pPr marL="0" indent="0" algn="r">
              <a:buNone/>
            </a:pPr>
            <a:r>
              <a:rPr lang="en-US" sz="800" dirty="0">
                <a:solidFill>
                  <a:srgbClr val="2DD4BF"/>
                </a:solidFill>
                <a:latin typeface="Calibri" pitchFamily="34" charset="0"/>
                <a:ea typeface="Calibri" pitchFamily="34" charset="-122"/>
                <a:cs typeface="Calibri" pitchFamily="34" charset="-120"/>
              </a:rPr>
              <a:t>Confidence: 87%</a:t>
            </a:r>
            <a:endParaRPr lang="en-US" sz="800" dirty="0"/>
          </a:p>
        </p:txBody>
      </p:sp>
      <p:sp>
        <p:nvSpPr>
          <p:cNvPr id="23" name="Shape 20"/>
          <p:cNvSpPr/>
          <p:nvPr/>
        </p:nvSpPr>
        <p:spPr>
          <a:xfrm>
            <a:off x="4892040" y="1783080"/>
            <a:ext cx="3749040" cy="502920"/>
          </a:xfrm>
          <a:prstGeom prst="rect">
            <a:avLst/>
          </a:prstGeom>
          <a:solidFill>
            <a:srgbClr val="E6F5F3"/>
          </a:solidFill>
          <a:ln/>
        </p:spPr>
        <p:txBody>
          <a:bodyPr/>
          <a:lstStyle/>
          <a:p>
            <a:endParaRPr lang="en-US"/>
          </a:p>
        </p:txBody>
      </p:sp>
      <p:sp>
        <p:nvSpPr>
          <p:cNvPr id="24" name="Text 21"/>
          <p:cNvSpPr/>
          <p:nvPr/>
        </p:nvSpPr>
        <p:spPr>
          <a:xfrm>
            <a:off x="4983480" y="1810512"/>
            <a:ext cx="3566160" cy="457200"/>
          </a:xfrm>
          <a:prstGeom prst="rect">
            <a:avLst/>
          </a:prstGeom>
          <a:noFill/>
          <a:ln/>
        </p:spPr>
        <p:txBody>
          <a:bodyPr wrap="square" lIns="0" tIns="0" rIns="0" bIns="0" rtlCol="0" anchor="ctr"/>
          <a:lstStyle/>
          <a:p>
            <a:pPr marL="0" indent="0">
              <a:lnSpc>
                <a:spcPct val="120000"/>
              </a:lnSpc>
              <a:buNone/>
            </a:pPr>
            <a:r>
              <a:rPr lang="en-US" sz="800" b="1" dirty="0">
                <a:solidFill>
                  <a:srgbClr val="0D7377"/>
                </a:solidFill>
                <a:latin typeface="Trebuchet MS" pitchFamily="34" charset="0"/>
                <a:ea typeface="Trebuchet MS" pitchFamily="34" charset="-122"/>
                <a:cs typeface="Trebuchet MS" pitchFamily="34" charset="-120"/>
              </a:rPr>
              <a:t xml:space="preserve">Incoming Ticket: </a:t>
            </a:r>
            <a:r>
              <a:rPr lang="en-US" sz="800" i="1" dirty="0">
                <a:solidFill>
                  <a:srgbClr val="4A6572"/>
                </a:solidFill>
                <a:latin typeface="Calibri" pitchFamily="34" charset="0"/>
                <a:ea typeface="Calibri" pitchFamily="34" charset="-122"/>
                <a:cs typeface="Calibri" pitchFamily="34" charset="-120"/>
              </a:rPr>
              <a:t>"Hi, can you tell me the status of my genomic panel report? It was submitted two weeks ago and I haven't received results yet."</a:t>
            </a:r>
            <a:endParaRPr lang="en-US" sz="800" dirty="0"/>
          </a:p>
        </p:txBody>
      </p:sp>
      <p:sp>
        <p:nvSpPr>
          <p:cNvPr id="25" name="Text 22"/>
          <p:cNvSpPr/>
          <p:nvPr/>
        </p:nvSpPr>
        <p:spPr>
          <a:xfrm>
            <a:off x="4983480" y="2377440"/>
            <a:ext cx="2743200" cy="201168"/>
          </a:xfrm>
          <a:prstGeom prst="rect">
            <a:avLst/>
          </a:prstGeom>
          <a:noFill/>
          <a:ln/>
        </p:spPr>
        <p:txBody>
          <a:bodyPr wrap="square" lIns="0" tIns="0" rIns="0" bIns="0" rtlCol="0" anchor="ctr"/>
          <a:lstStyle/>
          <a:p>
            <a:pPr marL="0" indent="0">
              <a:buNone/>
            </a:pPr>
            <a:r>
              <a:rPr lang="en-US" sz="850" b="1" dirty="0">
                <a:solidFill>
                  <a:srgbClr val="1A2B34"/>
                </a:solidFill>
                <a:latin typeface="Trebuchet MS" pitchFamily="34" charset="0"/>
                <a:ea typeface="Trebuchet MS" pitchFamily="34" charset="-122"/>
                <a:cs typeface="Trebuchet MS" pitchFamily="34" charset="-120"/>
              </a:rPr>
              <a:t>Suggested Response</a:t>
            </a:r>
            <a:endParaRPr lang="en-US" sz="850" dirty="0"/>
          </a:p>
        </p:txBody>
      </p:sp>
      <p:sp>
        <p:nvSpPr>
          <p:cNvPr id="26" name="Shape 23"/>
          <p:cNvSpPr/>
          <p:nvPr/>
        </p:nvSpPr>
        <p:spPr>
          <a:xfrm>
            <a:off x="4892040" y="2606040"/>
            <a:ext cx="3749040" cy="777240"/>
          </a:xfrm>
          <a:prstGeom prst="rect">
            <a:avLst/>
          </a:prstGeom>
          <a:solidFill>
            <a:srgbClr val="F9FAFB"/>
          </a:solidFill>
          <a:ln w="6350">
            <a:solidFill>
              <a:srgbClr val="D1E5E0"/>
            </a:solidFill>
            <a:prstDash val="solid"/>
          </a:ln>
        </p:spPr>
        <p:txBody>
          <a:bodyPr/>
          <a:lstStyle/>
          <a:p>
            <a:endParaRPr lang="en-US"/>
          </a:p>
        </p:txBody>
      </p:sp>
      <p:sp>
        <p:nvSpPr>
          <p:cNvPr id="27" name="Text 24"/>
          <p:cNvSpPr/>
          <p:nvPr/>
        </p:nvSpPr>
        <p:spPr>
          <a:xfrm>
            <a:off x="4983480" y="2633472"/>
            <a:ext cx="3566160" cy="713232"/>
          </a:xfrm>
          <a:prstGeom prst="rect">
            <a:avLst/>
          </a:prstGeom>
          <a:noFill/>
          <a:ln/>
        </p:spPr>
        <p:txBody>
          <a:bodyPr wrap="square" lIns="0" tIns="0" rIns="0" bIns="0" rtlCol="0" anchor="t"/>
          <a:lstStyle/>
          <a:p>
            <a:pPr marL="0" indent="0">
              <a:lnSpc>
                <a:spcPct val="130000"/>
              </a:lnSpc>
              <a:buNone/>
            </a:pPr>
            <a:r>
              <a:rPr lang="en-US" sz="750" dirty="0">
                <a:solidFill>
                  <a:srgbClr val="4A6572"/>
                </a:solidFill>
                <a:latin typeface="Calibri" pitchFamily="34" charset="0"/>
                <a:ea typeface="Calibri" pitchFamily="34" charset="-122"/>
                <a:cs typeface="Calibri" pitchFamily="34" charset="-120"/>
              </a:rPr>
              <a:t>Thank you for reaching out. Your genomic panel report (Order #ORD-48291) is currently in the final review stage (Order Status xx- Final Review). Based on standard processing timelines, results are expected within 3-5 business days. I will notify you as soon as the report is released.</a:t>
            </a:r>
            <a:endParaRPr lang="en-US" sz="750" dirty="0"/>
          </a:p>
        </p:txBody>
      </p:sp>
      <p:sp>
        <p:nvSpPr>
          <p:cNvPr id="28" name="Text 25"/>
          <p:cNvSpPr/>
          <p:nvPr/>
        </p:nvSpPr>
        <p:spPr>
          <a:xfrm>
            <a:off x="4983480" y="3456432"/>
            <a:ext cx="2743200" cy="182880"/>
          </a:xfrm>
          <a:prstGeom prst="rect">
            <a:avLst/>
          </a:prstGeom>
          <a:noFill/>
          <a:ln/>
        </p:spPr>
        <p:txBody>
          <a:bodyPr wrap="square" lIns="0" tIns="0" rIns="0" bIns="0" rtlCol="0" anchor="ctr"/>
          <a:lstStyle/>
          <a:p>
            <a:pPr marL="0" indent="0">
              <a:buNone/>
            </a:pPr>
            <a:r>
              <a:rPr lang="en-US" sz="800" b="1" dirty="0">
                <a:solidFill>
                  <a:srgbClr val="1A2B34"/>
                </a:solidFill>
                <a:latin typeface="Trebuchet MS" pitchFamily="34" charset="0"/>
                <a:ea typeface="Trebuchet MS" pitchFamily="34" charset="-122"/>
                <a:cs typeface="Trebuchet MS" pitchFamily="34" charset="-120"/>
              </a:rPr>
              <a:t>Sources Used</a:t>
            </a:r>
            <a:endParaRPr lang="en-US" sz="800" dirty="0"/>
          </a:p>
        </p:txBody>
      </p:sp>
      <p:sp>
        <p:nvSpPr>
          <p:cNvPr id="29" name="Shape 26"/>
          <p:cNvSpPr/>
          <p:nvPr/>
        </p:nvSpPr>
        <p:spPr>
          <a:xfrm>
            <a:off x="4892040" y="3639312"/>
            <a:ext cx="3749040" cy="365760"/>
          </a:xfrm>
          <a:prstGeom prst="rect">
            <a:avLst/>
          </a:prstGeom>
          <a:solidFill>
            <a:srgbClr val="F9FAFB"/>
          </a:solidFill>
          <a:ln w="6350">
            <a:solidFill>
              <a:srgbClr val="D1E5E0"/>
            </a:solidFill>
            <a:prstDash val="solid"/>
          </a:ln>
        </p:spPr>
        <p:txBody>
          <a:bodyPr/>
          <a:lstStyle/>
          <a:p>
            <a:endParaRPr lang="en-US"/>
          </a:p>
        </p:txBody>
      </p:sp>
      <p:sp>
        <p:nvSpPr>
          <p:cNvPr id="30" name="Text 27"/>
          <p:cNvSpPr/>
          <p:nvPr/>
        </p:nvSpPr>
        <p:spPr>
          <a:xfrm>
            <a:off x="4983480" y="3657600"/>
            <a:ext cx="3566160" cy="320040"/>
          </a:xfrm>
          <a:prstGeom prst="rect">
            <a:avLst/>
          </a:prstGeom>
          <a:noFill/>
          <a:ln/>
        </p:spPr>
        <p:txBody>
          <a:bodyPr wrap="square" lIns="0" tIns="0" rIns="0" bIns="0" rtlCol="0" anchor="ctr"/>
          <a:lstStyle/>
          <a:p>
            <a:pPr marL="0" indent="0">
              <a:lnSpc>
                <a:spcPct val="120000"/>
              </a:lnSpc>
              <a:buNone/>
            </a:pPr>
            <a:r>
              <a:rPr lang="en-US" sz="700" b="1" dirty="0">
                <a:solidFill>
                  <a:srgbClr val="0D7377"/>
                </a:solidFill>
                <a:latin typeface="Calibri" pitchFamily="34" charset="0"/>
                <a:ea typeface="Calibri" pitchFamily="34" charset="-122"/>
                <a:cs typeface="Calibri" pitchFamily="34" charset="-120"/>
              </a:rPr>
              <a:t xml:space="preserve">1. </a:t>
            </a:r>
            <a:r>
              <a:rPr lang="en-US" sz="700" dirty="0">
                <a:solidFill>
                  <a:srgbClr val="4A6572"/>
                </a:solidFill>
                <a:latin typeface="Calibri" pitchFamily="34" charset="0"/>
                <a:ea typeface="Calibri" pitchFamily="34" charset="-122"/>
                <a:cs typeface="Calibri" pitchFamily="34" charset="-120"/>
              </a:rPr>
              <a:t>Salesforce Order Status: ORD-48291 — Final Review</a:t>
            </a:r>
            <a:endParaRPr lang="en-US" sz="700" dirty="0"/>
          </a:p>
          <a:p>
            <a:pPr marL="0" indent="0">
              <a:lnSpc>
                <a:spcPct val="120000"/>
              </a:lnSpc>
              <a:buNone/>
            </a:pPr>
            <a:r>
              <a:rPr lang="en-US" sz="700" b="1" dirty="0">
                <a:solidFill>
                  <a:srgbClr val="0D7377"/>
                </a:solidFill>
                <a:latin typeface="Calibri" pitchFamily="34" charset="0"/>
                <a:ea typeface="Calibri" pitchFamily="34" charset="-122"/>
                <a:cs typeface="Calibri" pitchFamily="34" charset="-120"/>
              </a:rPr>
              <a:t xml:space="preserve">2. </a:t>
            </a:r>
            <a:r>
              <a:rPr lang="en-US" sz="700" dirty="0">
                <a:solidFill>
                  <a:srgbClr val="4A6572"/>
                </a:solidFill>
                <a:latin typeface="Calibri" pitchFamily="34" charset="0"/>
                <a:ea typeface="Calibri" pitchFamily="34" charset="-122"/>
                <a:cs typeface="Calibri" pitchFamily="34" charset="-120"/>
              </a:rPr>
              <a:t>Panel Processing SLA: 14-21 business days (KB Article #1042)</a:t>
            </a:r>
            <a:endParaRPr lang="en-US" sz="700" dirty="0"/>
          </a:p>
        </p:txBody>
      </p:sp>
      <p:sp>
        <p:nvSpPr>
          <p:cNvPr id="31" name="Shape 28"/>
          <p:cNvSpPr/>
          <p:nvPr/>
        </p:nvSpPr>
        <p:spPr>
          <a:xfrm>
            <a:off x="4983480" y="4096512"/>
            <a:ext cx="1051560" cy="256032"/>
          </a:xfrm>
          <a:prstGeom prst="rect">
            <a:avLst/>
          </a:prstGeom>
          <a:solidFill>
            <a:srgbClr val="0D7377"/>
          </a:solidFill>
          <a:ln/>
        </p:spPr>
        <p:txBody>
          <a:bodyPr/>
          <a:lstStyle/>
          <a:p>
            <a:endParaRPr lang="en-US"/>
          </a:p>
        </p:txBody>
      </p:sp>
      <p:sp>
        <p:nvSpPr>
          <p:cNvPr id="32" name="Text 29"/>
          <p:cNvSpPr/>
          <p:nvPr/>
        </p:nvSpPr>
        <p:spPr>
          <a:xfrm>
            <a:off x="4983480" y="4096512"/>
            <a:ext cx="105156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Trebuchet MS" pitchFamily="34" charset="0"/>
                <a:ea typeface="Trebuchet MS" pitchFamily="34" charset="-122"/>
                <a:cs typeface="Trebuchet MS" pitchFamily="34" charset="-120"/>
              </a:rPr>
              <a:t>Accept</a:t>
            </a:r>
            <a:endParaRPr lang="en-US" sz="800" dirty="0"/>
          </a:p>
        </p:txBody>
      </p:sp>
      <p:sp>
        <p:nvSpPr>
          <p:cNvPr id="33" name="Shape 30"/>
          <p:cNvSpPr/>
          <p:nvPr/>
        </p:nvSpPr>
        <p:spPr>
          <a:xfrm>
            <a:off x="6172200" y="4096512"/>
            <a:ext cx="1051560" cy="256032"/>
          </a:xfrm>
          <a:prstGeom prst="rect">
            <a:avLst/>
          </a:prstGeom>
          <a:solidFill>
            <a:srgbClr val="FFFFFF"/>
          </a:solidFill>
          <a:ln w="9525">
            <a:solidFill>
              <a:srgbClr val="0D7377"/>
            </a:solidFill>
            <a:prstDash val="solid"/>
          </a:ln>
        </p:spPr>
        <p:txBody>
          <a:bodyPr/>
          <a:lstStyle/>
          <a:p>
            <a:endParaRPr lang="en-US"/>
          </a:p>
        </p:txBody>
      </p:sp>
      <p:sp>
        <p:nvSpPr>
          <p:cNvPr id="34" name="Text 31"/>
          <p:cNvSpPr/>
          <p:nvPr/>
        </p:nvSpPr>
        <p:spPr>
          <a:xfrm>
            <a:off x="6172200" y="4096512"/>
            <a:ext cx="1051560" cy="256032"/>
          </a:xfrm>
          <a:prstGeom prst="rect">
            <a:avLst/>
          </a:prstGeom>
          <a:noFill/>
          <a:ln/>
        </p:spPr>
        <p:txBody>
          <a:bodyPr wrap="square" lIns="0" tIns="0" rIns="0" bIns="0" rtlCol="0" anchor="ctr"/>
          <a:lstStyle/>
          <a:p>
            <a:pPr marL="0" indent="0" algn="ctr">
              <a:buNone/>
            </a:pPr>
            <a:r>
              <a:rPr lang="en-US" sz="800" b="1" dirty="0">
                <a:solidFill>
                  <a:srgbClr val="0D7377"/>
                </a:solidFill>
                <a:latin typeface="Trebuchet MS" pitchFamily="34" charset="0"/>
                <a:ea typeface="Trebuchet MS" pitchFamily="34" charset="-122"/>
                <a:cs typeface="Trebuchet MS" pitchFamily="34" charset="-120"/>
              </a:rPr>
              <a:t>Edit</a:t>
            </a:r>
            <a:endParaRPr lang="en-US" sz="800" dirty="0"/>
          </a:p>
        </p:txBody>
      </p:sp>
      <p:sp>
        <p:nvSpPr>
          <p:cNvPr id="35" name="Shape 32"/>
          <p:cNvSpPr/>
          <p:nvPr/>
        </p:nvSpPr>
        <p:spPr>
          <a:xfrm>
            <a:off x="7360920" y="4096512"/>
            <a:ext cx="1051560" cy="256032"/>
          </a:xfrm>
          <a:prstGeom prst="rect">
            <a:avLst/>
          </a:prstGeom>
          <a:solidFill>
            <a:srgbClr val="FFFFFF"/>
          </a:solidFill>
          <a:ln w="9525">
            <a:solidFill>
              <a:srgbClr val="E85D3A"/>
            </a:solidFill>
            <a:prstDash val="solid"/>
          </a:ln>
        </p:spPr>
        <p:txBody>
          <a:bodyPr/>
          <a:lstStyle/>
          <a:p>
            <a:endParaRPr lang="en-US"/>
          </a:p>
        </p:txBody>
      </p:sp>
      <p:sp>
        <p:nvSpPr>
          <p:cNvPr id="36" name="Text 33"/>
          <p:cNvSpPr/>
          <p:nvPr/>
        </p:nvSpPr>
        <p:spPr>
          <a:xfrm>
            <a:off x="7360920" y="4096512"/>
            <a:ext cx="1051560" cy="256032"/>
          </a:xfrm>
          <a:prstGeom prst="rect">
            <a:avLst/>
          </a:prstGeom>
          <a:noFill/>
          <a:ln/>
        </p:spPr>
        <p:txBody>
          <a:bodyPr wrap="square" lIns="0" tIns="0" rIns="0" bIns="0" rtlCol="0" anchor="ctr"/>
          <a:lstStyle/>
          <a:p>
            <a:pPr marL="0" indent="0" algn="ctr">
              <a:buNone/>
            </a:pPr>
            <a:r>
              <a:rPr lang="en-US" sz="800" b="1" dirty="0">
                <a:solidFill>
                  <a:srgbClr val="E85D3A"/>
                </a:solidFill>
                <a:latin typeface="Trebuchet MS" pitchFamily="34" charset="0"/>
                <a:ea typeface="Trebuchet MS" pitchFamily="34" charset="-122"/>
                <a:cs typeface="Trebuchet MS" pitchFamily="34" charset="-120"/>
              </a:rPr>
              <a:t>Reject</a:t>
            </a:r>
            <a:endParaRPr lang="en-US" sz="800" dirty="0"/>
          </a:p>
        </p:txBody>
      </p:sp>
      <p:sp>
        <p:nvSpPr>
          <p:cNvPr id="37" name="Shape 34"/>
          <p:cNvSpPr/>
          <p:nvPr/>
        </p:nvSpPr>
        <p:spPr>
          <a:xfrm>
            <a:off x="365760" y="4160520"/>
            <a:ext cx="4114800" cy="594360"/>
          </a:xfrm>
          <a:prstGeom prst="rect">
            <a:avLst/>
          </a:prstGeom>
          <a:solidFill>
            <a:srgbClr val="FFF8E1"/>
          </a:solidFill>
          <a:ln w="6350">
            <a:solidFill>
              <a:srgbClr val="E6C547"/>
            </a:solidFill>
            <a:prstDash val="solid"/>
          </a:ln>
        </p:spPr>
        <p:txBody>
          <a:bodyPr/>
          <a:lstStyle/>
          <a:p>
            <a:endParaRPr lang="en-US"/>
          </a:p>
        </p:txBody>
      </p:sp>
      <p:sp>
        <p:nvSpPr>
          <p:cNvPr id="39" name="Text 35"/>
          <p:cNvSpPr/>
          <p:nvPr/>
        </p:nvSpPr>
        <p:spPr>
          <a:xfrm>
            <a:off x="548640" y="4187952"/>
            <a:ext cx="3776472" cy="530352"/>
          </a:xfrm>
          <a:prstGeom prst="rect">
            <a:avLst/>
          </a:prstGeom>
          <a:noFill/>
          <a:ln/>
        </p:spPr>
        <p:txBody>
          <a:bodyPr wrap="square" lIns="0" tIns="0" rIns="0" bIns="0" rtlCol="0" anchor="t"/>
          <a:lstStyle/>
          <a:p>
            <a:pPr marL="0" indent="0">
              <a:lnSpc>
                <a:spcPct val="120000"/>
              </a:lnSpc>
              <a:buNone/>
            </a:pPr>
            <a:r>
              <a:rPr lang="en-US" sz="800" b="1" dirty="0">
                <a:solidFill>
                  <a:srgbClr val="1A2B34"/>
                </a:solidFill>
                <a:latin typeface="Trebuchet MS" pitchFamily="34" charset="0"/>
                <a:ea typeface="Trebuchet MS" pitchFamily="34" charset="-122"/>
                <a:cs typeface="Trebuchet MS" pitchFamily="34" charset="-120"/>
              </a:rPr>
              <a:t xml:space="preserve">Important Note: </a:t>
            </a:r>
            <a:r>
              <a:rPr lang="en-US" sz="800" dirty="0">
                <a:solidFill>
                  <a:srgbClr val="4A6572"/>
                </a:solidFill>
                <a:latin typeface="Calibri" pitchFamily="34" charset="0"/>
                <a:ea typeface="Calibri" pitchFamily="34" charset="-122"/>
                <a:cs typeface="Calibri" pitchFamily="34" charset="-120"/>
              </a:rPr>
              <a:t>Feedback fatigue. If reps bypass the sidecar because they're busy, we lose both the deflection benefit and the training data. Track feedback submission rate as its own metric during Beta.</a:t>
            </a:r>
            <a:endParaRPr lang="en-US" sz="800" dirty="0"/>
          </a:p>
        </p:txBody>
      </p:sp>
      <p:sp>
        <p:nvSpPr>
          <p:cNvPr id="40" name="Shape 36"/>
          <p:cNvSpPr/>
          <p:nvPr/>
        </p:nvSpPr>
        <p:spPr>
          <a:xfrm>
            <a:off x="365760" y="4846320"/>
            <a:ext cx="8412480" cy="228600"/>
          </a:xfrm>
          <a:prstGeom prst="rect">
            <a:avLst/>
          </a:prstGeom>
          <a:solidFill>
            <a:srgbClr val="E6F5F3"/>
          </a:solidFill>
          <a:ln/>
        </p:spPr>
        <p:txBody>
          <a:bodyPr/>
          <a:lstStyle/>
          <a:p>
            <a:endParaRPr lang="en-US"/>
          </a:p>
        </p:txBody>
      </p:sp>
      <p:sp>
        <p:nvSpPr>
          <p:cNvPr id="41" name="Text 37"/>
          <p:cNvSpPr/>
          <p:nvPr/>
        </p:nvSpPr>
        <p:spPr>
          <a:xfrm>
            <a:off x="548640" y="4846320"/>
            <a:ext cx="8046720" cy="228600"/>
          </a:xfrm>
          <a:prstGeom prst="rect">
            <a:avLst/>
          </a:prstGeom>
          <a:noFill/>
          <a:ln/>
        </p:spPr>
        <p:txBody>
          <a:bodyPr wrap="square" lIns="0" tIns="0" rIns="0" bIns="0" rtlCol="0" anchor="ctr"/>
          <a:lstStyle/>
          <a:p>
            <a:pPr marL="0" indent="0">
              <a:buNone/>
            </a:pPr>
            <a:r>
              <a:rPr lang="en-US" sz="750" b="1" dirty="0">
                <a:solidFill>
                  <a:srgbClr val="0D7377"/>
                </a:solidFill>
                <a:latin typeface="Trebuchet MS" pitchFamily="34" charset="0"/>
                <a:ea typeface="Trebuchet MS" pitchFamily="34" charset="-122"/>
                <a:cs typeface="Trebuchet MS" pitchFamily="34" charset="-120"/>
              </a:rPr>
              <a:t xml:space="preserve">Threshold example: </a:t>
            </a:r>
            <a:r>
              <a:rPr lang="en-US" sz="750" dirty="0">
                <a:solidFill>
                  <a:srgbClr val="4A6572"/>
                </a:solidFill>
                <a:latin typeface="Calibri" pitchFamily="34" charset="0"/>
                <a:ea typeface="Calibri" pitchFamily="34" charset="-122"/>
                <a:cs typeface="Calibri" pitchFamily="34" charset="-120"/>
              </a:rPr>
              <a:t>If the 50-85% confidence band shows 90% agent acceptance, consider lowering the auto-reply threshold. If &gt;85% band has 8%+ rejection, raise it.</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8FA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B1D26"/>
          </a:solidFill>
          <a:ln/>
        </p:spPr>
        <p:txBody>
          <a:bodyPr/>
          <a:lstStyle/>
          <a:p>
            <a:endParaRPr lang="en-US"/>
          </a:p>
        </p:txBody>
      </p:sp>
      <p:sp>
        <p:nvSpPr>
          <p:cNvPr id="3" name="Text 1"/>
          <p:cNvSpPr/>
          <p:nvPr/>
        </p:nvSpPr>
        <p:spPr>
          <a:xfrm>
            <a:off x="548640" y="45720"/>
            <a:ext cx="8229600" cy="548640"/>
          </a:xfrm>
          <a:prstGeom prst="rect">
            <a:avLst/>
          </a:prstGeom>
          <a:noFill/>
          <a:ln/>
        </p:spPr>
        <p:txBody>
          <a:bodyPr wrap="square" lIns="0" tIns="0" rIns="0" bIns="0" rtlCol="0" anchor="ctr"/>
          <a:lstStyle/>
          <a:p>
            <a:pPr marL="0" indent="0">
              <a:buNone/>
            </a:pPr>
            <a:r>
              <a:rPr lang="en-US" sz="1800" b="1" dirty="0">
                <a:solidFill>
                  <a:srgbClr val="FFFFFF"/>
                </a:solidFill>
                <a:latin typeface="Trebuchet MS" pitchFamily="34" charset="0"/>
                <a:ea typeface="Trebuchet MS" pitchFamily="34" charset="-122"/>
                <a:cs typeface="Trebuchet MS" pitchFamily="34" charset="-120"/>
              </a:rPr>
              <a:t>Q3   Detecting &amp; Fixing Accuracy Drift</a:t>
            </a:r>
            <a:endParaRPr lang="en-US" sz="1800" dirty="0"/>
          </a:p>
        </p:txBody>
      </p:sp>
      <p:sp>
        <p:nvSpPr>
          <p:cNvPr id="4" name="Text 2"/>
          <p:cNvSpPr/>
          <p:nvPr/>
        </p:nvSpPr>
        <p:spPr>
          <a:xfrm>
            <a:off x="548640" y="777240"/>
            <a:ext cx="8229600" cy="320040"/>
          </a:xfrm>
          <a:prstGeom prst="rect">
            <a:avLst/>
          </a:prstGeom>
          <a:noFill/>
          <a:ln/>
        </p:spPr>
        <p:txBody>
          <a:bodyPr wrap="square" lIns="0" tIns="0" rIns="0" bIns="0" rtlCol="0" anchor="ctr"/>
          <a:lstStyle/>
          <a:p>
            <a:pPr marL="0" indent="0" algn="ctr">
              <a:buNone/>
            </a:pPr>
            <a:r>
              <a:rPr lang="en-US" sz="1200" dirty="0">
                <a:solidFill>
                  <a:srgbClr val="4A6572"/>
                </a:solidFill>
                <a:latin typeface="Calibri" pitchFamily="34" charset="0"/>
                <a:ea typeface="Calibri" pitchFamily="34" charset="-122"/>
                <a:cs typeface="Calibri" pitchFamily="34" charset="-120"/>
              </a:rPr>
              <a:t xml:space="preserve">Scenario: A new lab assay is </a:t>
            </a:r>
            <a:r>
              <a:rPr lang="en-US" sz="1200" dirty="0">
                <a:solidFill>
                  <a:srgbClr val="4A6572"/>
                </a:solidFill>
                <a:latin typeface="Calibri" pitchFamily="34" charset="0"/>
                <a:cs typeface="Calibri" pitchFamily="34" charset="-120"/>
              </a:rPr>
              <a:t>released</a:t>
            </a:r>
            <a:r>
              <a:rPr lang="en-US" sz="1200" dirty="0">
                <a:solidFill>
                  <a:srgbClr val="4A6572"/>
                </a:solidFill>
                <a:latin typeface="Calibri" pitchFamily="34" charset="0"/>
                <a:ea typeface="Calibri" pitchFamily="34" charset="-122"/>
                <a:cs typeface="Calibri" pitchFamily="34" charset="-120"/>
              </a:rPr>
              <a:t xml:space="preserve"> that the AI doesn't recognize</a:t>
            </a:r>
            <a:endParaRPr lang="en-US" sz="1200" dirty="0"/>
          </a:p>
        </p:txBody>
      </p:sp>
      <p:sp>
        <p:nvSpPr>
          <p:cNvPr id="5" name="Shape 3"/>
          <p:cNvSpPr/>
          <p:nvPr/>
        </p:nvSpPr>
        <p:spPr>
          <a:xfrm>
            <a:off x="457200" y="1188720"/>
            <a:ext cx="8229600" cy="685800"/>
          </a:xfrm>
          <a:prstGeom prst="rect">
            <a:avLst/>
          </a:prstGeom>
          <a:solidFill>
            <a:srgbClr val="E6F5F3"/>
          </a:solidFill>
          <a:ln/>
        </p:spPr>
        <p:txBody>
          <a:bodyPr/>
          <a:lstStyle/>
          <a:p>
            <a:endParaRPr lang="en-US"/>
          </a:p>
        </p:txBody>
      </p:sp>
      <p:sp>
        <p:nvSpPr>
          <p:cNvPr id="6" name="Text 4"/>
          <p:cNvSpPr/>
          <p:nvPr/>
        </p:nvSpPr>
        <p:spPr>
          <a:xfrm>
            <a:off x="640080" y="1234440"/>
            <a:ext cx="7863840" cy="594360"/>
          </a:xfrm>
          <a:prstGeom prst="rect">
            <a:avLst/>
          </a:prstGeom>
          <a:noFill/>
          <a:ln/>
        </p:spPr>
        <p:txBody>
          <a:bodyPr wrap="square" lIns="0" tIns="0" rIns="0" bIns="0" rtlCol="0" anchor="ctr"/>
          <a:lstStyle/>
          <a:p>
            <a:pPr>
              <a:lnSpc>
                <a:spcPct val="130000"/>
              </a:lnSpc>
            </a:pPr>
            <a:r>
              <a:rPr lang="en-US" sz="950" dirty="0">
                <a:solidFill>
                  <a:srgbClr val="4A6572"/>
                </a:solidFill>
                <a:latin typeface="Calibri" pitchFamily="34" charset="0"/>
                <a:ea typeface="Calibri" pitchFamily="34" charset="-122"/>
                <a:cs typeface="Calibri" pitchFamily="34" charset="-120"/>
              </a:rPr>
              <a:t>New assays introduce new order types, status codes, processing timelines, and report formats. The AI's knowledge base and routing logic were trained on pre-existing assays, so it could misidentify the assay name</a:t>
            </a:r>
            <a:r>
              <a:rPr lang="en-US" sz="950" dirty="0">
                <a:solidFill>
                  <a:srgbClr val="4A6572"/>
                </a:solidFill>
                <a:latin typeface="Calibri" pitchFamily="34" charset="0"/>
                <a:cs typeface="Calibri" pitchFamily="34" charset="-120"/>
              </a:rPr>
              <a:t>, return incorrect report timing or status information</a:t>
            </a:r>
            <a:r>
              <a:rPr lang="en-US" sz="950" dirty="0">
                <a:solidFill>
                  <a:srgbClr val="4A6572"/>
                </a:solidFill>
                <a:latin typeface="Calibri" pitchFamily="34" charset="0"/>
                <a:ea typeface="Calibri" pitchFamily="34" charset="-122"/>
                <a:cs typeface="Calibri" pitchFamily="34" charset="-120"/>
              </a:rPr>
              <a:t xml:space="preserve">, or route tickets to the wrong confidence tier because </a:t>
            </a:r>
            <a:r>
              <a:rPr lang="en-US" sz="950" dirty="0">
                <a:solidFill>
                  <a:srgbClr val="4A6572"/>
                </a:solidFill>
                <a:latin typeface="Calibri" pitchFamily="34" charset="0"/>
                <a:cs typeface="Calibri" pitchFamily="34" charset="-120"/>
              </a:rPr>
              <a:t>the new assay is not yet reflected in the knowledge base or status mapping.</a:t>
            </a:r>
          </a:p>
          <a:p>
            <a:pPr>
              <a:lnSpc>
                <a:spcPct val="130000"/>
              </a:lnSpc>
            </a:pPr>
            <a:endParaRPr lang="en-US" sz="950" dirty="0"/>
          </a:p>
        </p:txBody>
      </p:sp>
      <p:sp>
        <p:nvSpPr>
          <p:cNvPr id="7" name="Shape 5"/>
          <p:cNvSpPr/>
          <p:nvPr/>
        </p:nvSpPr>
        <p:spPr>
          <a:xfrm>
            <a:off x="457200" y="2057399"/>
            <a:ext cx="3931920" cy="1176846"/>
          </a:xfrm>
          <a:prstGeom prst="rect">
            <a:avLst/>
          </a:prstGeom>
          <a:solidFill>
            <a:srgbClr val="FFFFFF"/>
          </a:solidFill>
          <a:ln/>
          <a:effectLst>
            <a:outerShdw blurRad="63500" dist="25400" dir="8100000" algn="bl" rotWithShape="0">
              <a:srgbClr val="000000">
                <a:alpha val="8000"/>
              </a:srgbClr>
            </a:outerShdw>
          </a:effectLst>
        </p:spPr>
        <p:txBody>
          <a:bodyPr/>
          <a:lstStyle/>
          <a:p>
            <a:endParaRPr lang="en-US"/>
          </a:p>
        </p:txBody>
      </p:sp>
      <p:sp>
        <p:nvSpPr>
          <p:cNvPr id="8" name="Shape 6"/>
          <p:cNvSpPr/>
          <p:nvPr/>
        </p:nvSpPr>
        <p:spPr>
          <a:xfrm>
            <a:off x="566928" y="2167128"/>
            <a:ext cx="320040" cy="320040"/>
          </a:xfrm>
          <a:prstGeom prst="ellipse">
            <a:avLst/>
          </a:prstGeom>
          <a:solidFill>
            <a:srgbClr val="0D7377"/>
          </a:solidFill>
          <a:ln/>
        </p:spPr>
        <p:txBody>
          <a:bodyPr/>
          <a:lstStyle/>
          <a:p>
            <a:endParaRPr lang="en-US"/>
          </a:p>
        </p:txBody>
      </p:sp>
      <p:sp>
        <p:nvSpPr>
          <p:cNvPr id="9" name="Text 7"/>
          <p:cNvSpPr/>
          <p:nvPr/>
        </p:nvSpPr>
        <p:spPr>
          <a:xfrm>
            <a:off x="566928" y="2167128"/>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1</a:t>
            </a:r>
            <a:endParaRPr lang="en-US" sz="1300" dirty="0"/>
          </a:p>
        </p:txBody>
      </p:sp>
      <p:sp>
        <p:nvSpPr>
          <p:cNvPr id="11" name="Text 8"/>
          <p:cNvSpPr/>
          <p:nvPr/>
        </p:nvSpPr>
        <p:spPr>
          <a:xfrm>
            <a:off x="960120" y="2135282"/>
            <a:ext cx="2926080" cy="320040"/>
          </a:xfrm>
          <a:prstGeom prst="rect">
            <a:avLst/>
          </a:prstGeom>
          <a:noFill/>
          <a:ln/>
        </p:spPr>
        <p:txBody>
          <a:bodyPr wrap="square" lIns="0" tIns="0" rIns="0" bIns="0" rtlCol="0" anchor="ctr"/>
          <a:lstStyle/>
          <a:p>
            <a:pPr marL="0" indent="0">
              <a:buNone/>
            </a:pPr>
            <a:r>
              <a:rPr lang="en-US" sz="1100" b="1" dirty="0">
                <a:solidFill>
                  <a:srgbClr val="1A2B34"/>
                </a:solidFill>
                <a:latin typeface="Trebuchet MS" pitchFamily="34" charset="0"/>
                <a:ea typeface="Trebuchet MS" pitchFamily="34" charset="-122"/>
                <a:cs typeface="Trebuchet MS" pitchFamily="34" charset="-120"/>
              </a:rPr>
              <a:t>Detect the Drift</a:t>
            </a:r>
            <a:endParaRPr lang="en-US" sz="1100" dirty="0"/>
          </a:p>
        </p:txBody>
      </p:sp>
      <p:sp>
        <p:nvSpPr>
          <p:cNvPr id="12" name="Text 9"/>
          <p:cNvSpPr/>
          <p:nvPr/>
        </p:nvSpPr>
        <p:spPr>
          <a:xfrm>
            <a:off x="594360" y="2496312"/>
            <a:ext cx="3657600" cy="594360"/>
          </a:xfrm>
          <a:prstGeom prst="rect">
            <a:avLst/>
          </a:prstGeom>
          <a:noFill/>
          <a:ln/>
        </p:spPr>
        <p:txBody>
          <a:bodyPr wrap="square" lIns="0" tIns="0" rIns="0" bIns="0" rtlCol="0" anchor="t"/>
          <a:lstStyle/>
          <a:p>
            <a:pPr>
              <a:lnSpc>
                <a:spcPct val="130000"/>
              </a:lnSpc>
            </a:pPr>
            <a:r>
              <a:rPr lang="en-US" sz="800" dirty="0">
                <a:solidFill>
                  <a:srgbClr val="4A6572"/>
                </a:solidFill>
                <a:latin typeface="Calibri" pitchFamily="34" charset="0"/>
                <a:ea typeface="Calibri" pitchFamily="34" charset="-122"/>
                <a:cs typeface="Calibri" pitchFamily="34" charset="-120"/>
              </a:rPr>
              <a:t xml:space="preserve">Monitor dashboards for spikes in low-confidence routing, increased escalation rates, or increasing unmatched query signs. </a:t>
            </a:r>
            <a:r>
              <a:rPr lang="en-US" sz="800" dirty="0">
                <a:solidFill>
                  <a:srgbClr val="4A6572"/>
                </a:solidFill>
                <a:latin typeface="Calibri" pitchFamily="34" charset="0"/>
                <a:cs typeface="Calibri" pitchFamily="34" charset="-120"/>
              </a:rPr>
              <a:t>Automate alerts for sudden changes in deflection, escalation rate, fallback rate, or unmatched order type codes</a:t>
            </a:r>
          </a:p>
        </p:txBody>
      </p:sp>
      <p:sp>
        <p:nvSpPr>
          <p:cNvPr id="13" name="Shape 10"/>
          <p:cNvSpPr/>
          <p:nvPr/>
        </p:nvSpPr>
        <p:spPr>
          <a:xfrm>
            <a:off x="4663440" y="2057399"/>
            <a:ext cx="3931920" cy="1176845"/>
          </a:xfrm>
          <a:prstGeom prst="rect">
            <a:avLst/>
          </a:prstGeom>
          <a:solidFill>
            <a:srgbClr val="FFFFFF"/>
          </a:solidFill>
          <a:ln/>
          <a:effectLst>
            <a:outerShdw blurRad="63500" dist="25400" dir="8100000" algn="bl" rotWithShape="0">
              <a:srgbClr val="000000">
                <a:alpha val="8000"/>
              </a:srgbClr>
            </a:outerShdw>
          </a:effectLst>
        </p:spPr>
        <p:txBody>
          <a:bodyPr/>
          <a:lstStyle/>
          <a:p>
            <a:endParaRPr lang="en-US"/>
          </a:p>
        </p:txBody>
      </p:sp>
      <p:sp>
        <p:nvSpPr>
          <p:cNvPr id="14" name="Shape 11"/>
          <p:cNvSpPr/>
          <p:nvPr/>
        </p:nvSpPr>
        <p:spPr>
          <a:xfrm>
            <a:off x="4773168" y="2167128"/>
            <a:ext cx="320040" cy="320040"/>
          </a:xfrm>
          <a:prstGeom prst="ellipse">
            <a:avLst/>
          </a:prstGeom>
          <a:solidFill>
            <a:srgbClr val="0D7377"/>
          </a:solidFill>
          <a:ln/>
        </p:spPr>
        <p:txBody>
          <a:bodyPr/>
          <a:lstStyle/>
          <a:p>
            <a:endParaRPr lang="en-US"/>
          </a:p>
        </p:txBody>
      </p:sp>
      <p:sp>
        <p:nvSpPr>
          <p:cNvPr id="15" name="Text 12"/>
          <p:cNvSpPr/>
          <p:nvPr/>
        </p:nvSpPr>
        <p:spPr>
          <a:xfrm>
            <a:off x="4773168" y="2167128"/>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2</a:t>
            </a:r>
            <a:endParaRPr lang="en-US" sz="1300" dirty="0"/>
          </a:p>
        </p:txBody>
      </p:sp>
      <p:sp>
        <p:nvSpPr>
          <p:cNvPr id="17" name="Text 13"/>
          <p:cNvSpPr/>
          <p:nvPr/>
        </p:nvSpPr>
        <p:spPr>
          <a:xfrm>
            <a:off x="5166360" y="2157984"/>
            <a:ext cx="2926080" cy="320040"/>
          </a:xfrm>
          <a:prstGeom prst="rect">
            <a:avLst/>
          </a:prstGeom>
          <a:noFill/>
          <a:ln/>
        </p:spPr>
        <p:txBody>
          <a:bodyPr wrap="square" lIns="0" tIns="0" rIns="0" bIns="0" rtlCol="0" anchor="ctr"/>
          <a:lstStyle/>
          <a:p>
            <a:pPr marL="0" indent="0">
              <a:buNone/>
            </a:pPr>
            <a:r>
              <a:rPr lang="en-US" sz="1100" b="1" dirty="0">
                <a:solidFill>
                  <a:srgbClr val="1A2B34"/>
                </a:solidFill>
                <a:latin typeface="Trebuchet MS" pitchFamily="34" charset="0"/>
                <a:ea typeface="Trebuchet MS" pitchFamily="34" charset="-122"/>
                <a:cs typeface="Trebuchet MS" pitchFamily="34" charset="-120"/>
              </a:rPr>
              <a:t>Diagnose the Root Cause</a:t>
            </a:r>
            <a:endParaRPr lang="en-US" sz="1100" dirty="0"/>
          </a:p>
        </p:txBody>
      </p:sp>
      <p:sp>
        <p:nvSpPr>
          <p:cNvPr id="18" name="Text 14"/>
          <p:cNvSpPr/>
          <p:nvPr/>
        </p:nvSpPr>
        <p:spPr>
          <a:xfrm>
            <a:off x="4800600" y="2496312"/>
            <a:ext cx="3657600" cy="594360"/>
          </a:xfrm>
          <a:prstGeom prst="rect">
            <a:avLst/>
          </a:prstGeom>
          <a:noFill/>
          <a:ln/>
        </p:spPr>
        <p:txBody>
          <a:bodyPr wrap="square" lIns="0" tIns="0" rIns="0" bIns="0" rtlCol="0" anchor="t"/>
          <a:lstStyle/>
          <a:p>
            <a:pPr marL="0" indent="0">
              <a:lnSpc>
                <a:spcPct val="130000"/>
              </a:lnSpc>
              <a:buNone/>
            </a:pPr>
            <a:r>
              <a:rPr lang="en-US" sz="800" dirty="0">
                <a:solidFill>
                  <a:srgbClr val="4A6572"/>
                </a:solidFill>
                <a:latin typeface="Calibri" pitchFamily="34" charset="0"/>
                <a:ea typeface="Calibri" pitchFamily="34" charset="-122"/>
                <a:cs typeface="Calibri" pitchFamily="34" charset="-120"/>
              </a:rPr>
              <a:t>Pull ticket samples from the new assay category. Identify what the AI missed: unfamiliar assay name, new status codes, different turnaround times, or changed report release rules. Cross-reference with Lab Ops to confirm the full new assay workflow.</a:t>
            </a:r>
            <a:endParaRPr lang="en-US" sz="800" dirty="0"/>
          </a:p>
        </p:txBody>
      </p:sp>
      <p:sp>
        <p:nvSpPr>
          <p:cNvPr id="19" name="Shape 15"/>
          <p:cNvSpPr/>
          <p:nvPr/>
        </p:nvSpPr>
        <p:spPr>
          <a:xfrm>
            <a:off x="457200" y="3291839"/>
            <a:ext cx="3931920" cy="1259139"/>
          </a:xfrm>
          <a:prstGeom prst="rect">
            <a:avLst/>
          </a:prstGeom>
          <a:solidFill>
            <a:srgbClr val="FFFFFF"/>
          </a:solidFill>
          <a:ln/>
          <a:effectLst>
            <a:outerShdw blurRad="63500" dist="25400" dir="8100000" algn="bl" rotWithShape="0">
              <a:srgbClr val="000000">
                <a:alpha val="8000"/>
              </a:srgbClr>
            </a:outerShdw>
          </a:effectLst>
        </p:spPr>
        <p:txBody>
          <a:bodyPr/>
          <a:lstStyle/>
          <a:p>
            <a:endParaRPr lang="en-US"/>
          </a:p>
        </p:txBody>
      </p:sp>
      <p:sp>
        <p:nvSpPr>
          <p:cNvPr id="20" name="Shape 16"/>
          <p:cNvSpPr/>
          <p:nvPr/>
        </p:nvSpPr>
        <p:spPr>
          <a:xfrm>
            <a:off x="566928" y="3401568"/>
            <a:ext cx="320040" cy="320040"/>
          </a:xfrm>
          <a:prstGeom prst="ellipse">
            <a:avLst/>
          </a:prstGeom>
          <a:solidFill>
            <a:srgbClr val="0D7377"/>
          </a:solidFill>
          <a:ln/>
        </p:spPr>
        <p:txBody>
          <a:bodyPr/>
          <a:lstStyle/>
          <a:p>
            <a:endParaRPr lang="en-US"/>
          </a:p>
        </p:txBody>
      </p:sp>
      <p:sp>
        <p:nvSpPr>
          <p:cNvPr id="21" name="Text 17"/>
          <p:cNvSpPr/>
          <p:nvPr/>
        </p:nvSpPr>
        <p:spPr>
          <a:xfrm>
            <a:off x="566928" y="3401568"/>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3</a:t>
            </a:r>
            <a:endParaRPr lang="en-US" sz="1300" dirty="0"/>
          </a:p>
        </p:txBody>
      </p:sp>
      <p:sp>
        <p:nvSpPr>
          <p:cNvPr id="23" name="Text 18"/>
          <p:cNvSpPr/>
          <p:nvPr/>
        </p:nvSpPr>
        <p:spPr>
          <a:xfrm>
            <a:off x="914400" y="3368671"/>
            <a:ext cx="2926080" cy="320040"/>
          </a:xfrm>
          <a:prstGeom prst="rect">
            <a:avLst/>
          </a:prstGeom>
          <a:noFill/>
          <a:ln/>
        </p:spPr>
        <p:txBody>
          <a:bodyPr wrap="square" lIns="0" tIns="0" rIns="0" bIns="0" rtlCol="0" anchor="ctr"/>
          <a:lstStyle/>
          <a:p>
            <a:pPr marL="0" indent="0">
              <a:buNone/>
            </a:pPr>
            <a:r>
              <a:rPr lang="en-US" sz="1100" b="1" dirty="0">
                <a:solidFill>
                  <a:srgbClr val="1A2B34"/>
                </a:solidFill>
                <a:latin typeface="Trebuchet MS" pitchFamily="34" charset="0"/>
                <a:ea typeface="Trebuchet MS" pitchFamily="34" charset="-122"/>
                <a:cs typeface="Trebuchet MS" pitchFamily="34" charset="-120"/>
              </a:rPr>
              <a:t>Partner with AI Engineering to Fix</a:t>
            </a:r>
            <a:endParaRPr lang="en-US" sz="1100" dirty="0"/>
          </a:p>
        </p:txBody>
      </p:sp>
      <p:sp>
        <p:nvSpPr>
          <p:cNvPr id="24" name="Text 19"/>
          <p:cNvSpPr/>
          <p:nvPr/>
        </p:nvSpPr>
        <p:spPr>
          <a:xfrm>
            <a:off x="594360" y="3730752"/>
            <a:ext cx="3657600" cy="685800"/>
          </a:xfrm>
          <a:prstGeom prst="rect">
            <a:avLst/>
          </a:prstGeom>
          <a:noFill/>
          <a:ln/>
        </p:spPr>
        <p:txBody>
          <a:bodyPr wrap="square" lIns="0" tIns="0" rIns="0" bIns="0" rtlCol="0" anchor="t"/>
          <a:lstStyle/>
          <a:p>
            <a:pPr>
              <a:lnSpc>
                <a:spcPct val="130000"/>
              </a:lnSpc>
            </a:pPr>
            <a:r>
              <a:rPr lang="en-US" sz="800" dirty="0">
                <a:solidFill>
                  <a:srgbClr val="4A6572"/>
                </a:solidFill>
                <a:latin typeface="Calibri" pitchFamily="34" charset="0"/>
                <a:ea typeface="Calibri" pitchFamily="34" charset="-122"/>
                <a:cs typeface="Calibri" pitchFamily="34" charset="-120"/>
              </a:rPr>
              <a:t xml:space="preserve">Update the vector knowledge base with new assay documentation, processing steps, and expected timelines. Add new status-code mappings and retrain the confidence model on labeled tickets from the new assay. </a:t>
            </a:r>
            <a:r>
              <a:rPr lang="en-US" sz="800" dirty="0">
                <a:solidFill>
                  <a:srgbClr val="4A6572"/>
                </a:solidFill>
                <a:latin typeface="Calibri" pitchFamily="34" charset="0"/>
                <a:cs typeface="Calibri" pitchFamily="34" charset="-120"/>
              </a:rPr>
              <a:t>Validate the fix in shadow mode before promoting it back to live production.</a:t>
            </a:r>
          </a:p>
        </p:txBody>
      </p:sp>
      <p:sp>
        <p:nvSpPr>
          <p:cNvPr id="25" name="Shape 20"/>
          <p:cNvSpPr/>
          <p:nvPr/>
        </p:nvSpPr>
        <p:spPr>
          <a:xfrm>
            <a:off x="4663440" y="3291840"/>
            <a:ext cx="3931920" cy="1259138"/>
          </a:xfrm>
          <a:prstGeom prst="rect">
            <a:avLst/>
          </a:prstGeom>
          <a:solidFill>
            <a:srgbClr val="FFFFFF"/>
          </a:solidFill>
          <a:ln/>
          <a:effectLst>
            <a:outerShdw blurRad="63500" dist="25400" dir="8100000" algn="bl" rotWithShape="0">
              <a:srgbClr val="000000">
                <a:alpha val="8000"/>
              </a:srgbClr>
            </a:outerShdw>
          </a:effectLst>
        </p:spPr>
        <p:txBody>
          <a:bodyPr/>
          <a:lstStyle/>
          <a:p>
            <a:endParaRPr lang="en-US"/>
          </a:p>
        </p:txBody>
      </p:sp>
      <p:sp>
        <p:nvSpPr>
          <p:cNvPr id="26" name="Shape 21"/>
          <p:cNvSpPr/>
          <p:nvPr/>
        </p:nvSpPr>
        <p:spPr>
          <a:xfrm>
            <a:off x="4773168" y="3401568"/>
            <a:ext cx="320040" cy="320040"/>
          </a:xfrm>
          <a:prstGeom prst="ellipse">
            <a:avLst/>
          </a:prstGeom>
          <a:solidFill>
            <a:srgbClr val="0D7377"/>
          </a:solidFill>
          <a:ln/>
        </p:spPr>
        <p:txBody>
          <a:bodyPr/>
          <a:lstStyle/>
          <a:p>
            <a:endParaRPr lang="en-US"/>
          </a:p>
        </p:txBody>
      </p:sp>
      <p:sp>
        <p:nvSpPr>
          <p:cNvPr id="27" name="Text 22"/>
          <p:cNvSpPr/>
          <p:nvPr/>
        </p:nvSpPr>
        <p:spPr>
          <a:xfrm>
            <a:off x="4773168" y="3401568"/>
            <a:ext cx="320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4</a:t>
            </a:r>
            <a:endParaRPr lang="en-US" sz="1300" dirty="0"/>
          </a:p>
        </p:txBody>
      </p:sp>
      <p:sp>
        <p:nvSpPr>
          <p:cNvPr id="29" name="Text 23"/>
          <p:cNvSpPr/>
          <p:nvPr/>
        </p:nvSpPr>
        <p:spPr>
          <a:xfrm>
            <a:off x="5166360" y="3375082"/>
            <a:ext cx="2926080" cy="320040"/>
          </a:xfrm>
          <a:prstGeom prst="rect">
            <a:avLst/>
          </a:prstGeom>
          <a:noFill/>
          <a:ln/>
        </p:spPr>
        <p:txBody>
          <a:bodyPr wrap="square" lIns="0" tIns="0" rIns="0" bIns="0" rtlCol="0" anchor="ctr"/>
          <a:lstStyle/>
          <a:p>
            <a:pPr marL="0" indent="0">
              <a:buNone/>
            </a:pPr>
            <a:r>
              <a:rPr lang="en-US" sz="1100" b="1" dirty="0">
                <a:solidFill>
                  <a:srgbClr val="1A2B34"/>
                </a:solidFill>
                <a:latin typeface="Trebuchet MS" pitchFamily="34" charset="0"/>
                <a:ea typeface="Trebuchet MS" pitchFamily="34" charset="-122"/>
                <a:cs typeface="Trebuchet MS" pitchFamily="34" charset="-120"/>
              </a:rPr>
              <a:t>Validate &amp; Prevent Recurrence</a:t>
            </a:r>
            <a:endParaRPr lang="en-US" sz="1100" dirty="0"/>
          </a:p>
        </p:txBody>
      </p:sp>
      <p:sp>
        <p:nvSpPr>
          <p:cNvPr id="30" name="Text 24"/>
          <p:cNvSpPr/>
          <p:nvPr/>
        </p:nvSpPr>
        <p:spPr>
          <a:xfrm>
            <a:off x="4800600" y="3730752"/>
            <a:ext cx="3657600" cy="594360"/>
          </a:xfrm>
          <a:prstGeom prst="rect">
            <a:avLst/>
          </a:prstGeom>
          <a:noFill/>
          <a:ln/>
        </p:spPr>
        <p:txBody>
          <a:bodyPr wrap="square" lIns="0" tIns="0" rIns="0" bIns="0" rtlCol="0" anchor="t"/>
          <a:lstStyle/>
          <a:p>
            <a:pPr marL="0" indent="0">
              <a:lnSpc>
                <a:spcPct val="130000"/>
              </a:lnSpc>
              <a:buNone/>
            </a:pPr>
            <a:r>
              <a:rPr lang="en-US" sz="800" dirty="0">
                <a:solidFill>
                  <a:srgbClr val="4A6572"/>
                </a:solidFill>
                <a:latin typeface="Calibri" pitchFamily="34" charset="0"/>
                <a:ea typeface="Calibri" pitchFamily="34" charset="-122"/>
                <a:cs typeface="Calibri" pitchFamily="34" charset="-120"/>
              </a:rPr>
              <a:t>Run the updated model against a set of new assay tickets, confirm accuracy returns to baseline. Establish a process: Suggest Lab Ops to notify CS Analytics before any new assay launch so knowledge base updates are proactive, not reactive.</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B1D26"/>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D7377"/>
          </a:solidFill>
          <a:ln/>
        </p:spPr>
        <p:txBody>
          <a:bodyPr/>
          <a:lstStyle/>
          <a:p>
            <a:endParaRPr lang="en-US"/>
          </a:p>
        </p:txBody>
      </p:sp>
      <p:sp>
        <p:nvSpPr>
          <p:cNvPr id="3" name="Shape 1"/>
          <p:cNvSpPr/>
          <p:nvPr/>
        </p:nvSpPr>
        <p:spPr>
          <a:xfrm>
            <a:off x="137160" y="0"/>
            <a:ext cx="36576" cy="5143500"/>
          </a:xfrm>
          <a:prstGeom prst="rect">
            <a:avLst/>
          </a:prstGeom>
          <a:solidFill>
            <a:srgbClr val="2DD4BF"/>
          </a:solidFill>
          <a:ln/>
        </p:spPr>
        <p:txBody>
          <a:bodyPr/>
          <a:lstStyle/>
          <a:p>
            <a:endParaRPr lang="en-US"/>
          </a:p>
        </p:txBody>
      </p:sp>
      <p:sp>
        <p:nvSpPr>
          <p:cNvPr id="4" name="Text 2"/>
          <p:cNvSpPr/>
          <p:nvPr/>
        </p:nvSpPr>
        <p:spPr>
          <a:xfrm>
            <a:off x="731520" y="320040"/>
            <a:ext cx="8229600" cy="548640"/>
          </a:xfrm>
          <a:prstGeom prst="rect">
            <a:avLst/>
          </a:prstGeom>
          <a:noFill/>
          <a:ln/>
        </p:spPr>
        <p:txBody>
          <a:bodyPr wrap="square" lIns="0" tIns="0" rIns="0" bIns="0" rtlCol="0" anchor="ctr"/>
          <a:lstStyle/>
          <a:p>
            <a:pPr algn="l" rtl="0">
              <a:spcAft>
                <a:spcPts val="400"/>
              </a:spcAft>
              <a:buNone/>
            </a:pPr>
            <a:endParaRPr lang="en-US" b="1" i="0" dirty="0">
              <a:solidFill>
                <a:schemeClr val="bg1"/>
              </a:solidFill>
              <a:effectLst/>
              <a:latin typeface="Arial" panose="020B0604020202020204" pitchFamily="34" charset="0"/>
            </a:endParaRPr>
          </a:p>
        </p:txBody>
      </p:sp>
      <p:sp>
        <p:nvSpPr>
          <p:cNvPr id="5" name="Shape 3"/>
          <p:cNvSpPr/>
          <p:nvPr/>
        </p:nvSpPr>
        <p:spPr>
          <a:xfrm>
            <a:off x="731520" y="1097280"/>
            <a:ext cx="7680960" cy="1051560"/>
          </a:xfrm>
          <a:prstGeom prst="rect">
            <a:avLst/>
          </a:prstGeom>
          <a:solidFill>
            <a:srgbClr val="0B1D26"/>
          </a:solidFill>
          <a:ln w="9525">
            <a:solidFill>
              <a:srgbClr val="0D7377"/>
            </a:solidFill>
            <a:prstDash val="solid"/>
          </a:ln>
        </p:spPr>
        <p:txBody>
          <a:bodyPr/>
          <a:lstStyle/>
          <a:p>
            <a:endParaRPr lang="en-US"/>
          </a:p>
        </p:txBody>
      </p:sp>
      <p:sp>
        <p:nvSpPr>
          <p:cNvPr id="8" name="Text 5"/>
          <p:cNvSpPr/>
          <p:nvPr/>
        </p:nvSpPr>
        <p:spPr>
          <a:xfrm>
            <a:off x="914400" y="1211580"/>
            <a:ext cx="6400800" cy="32004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The BRD Sets the Standard</a:t>
            </a:r>
            <a:endParaRPr lang="en-US" sz="1400" dirty="0"/>
          </a:p>
        </p:txBody>
      </p:sp>
      <p:sp>
        <p:nvSpPr>
          <p:cNvPr id="9" name="Text 6"/>
          <p:cNvSpPr/>
          <p:nvPr/>
        </p:nvSpPr>
        <p:spPr>
          <a:xfrm>
            <a:off x="904941" y="1474707"/>
            <a:ext cx="6400800" cy="594360"/>
          </a:xfrm>
          <a:prstGeom prst="rect">
            <a:avLst/>
          </a:prstGeom>
          <a:noFill/>
          <a:ln/>
        </p:spPr>
        <p:txBody>
          <a:bodyPr wrap="square" lIns="0" tIns="0" rIns="0" bIns="0" rtlCol="0" anchor="t"/>
          <a:lstStyle/>
          <a:p>
            <a:pPr>
              <a:lnSpc>
                <a:spcPct val="135000"/>
              </a:lnSpc>
            </a:pPr>
            <a:r>
              <a:rPr lang="en-US" sz="1000" dirty="0">
                <a:solidFill>
                  <a:schemeClr val="bg1"/>
                </a:solidFill>
                <a:latin typeface="Calibri" pitchFamily="34" charset="0"/>
                <a:ea typeface="Calibri" pitchFamily="34" charset="-122"/>
                <a:cs typeface="Calibri" pitchFamily="34" charset="-120"/>
              </a:rPr>
              <a:t xml:space="preserve">The BRD with confidence routing, </a:t>
            </a:r>
            <a:r>
              <a:rPr lang="en-US" sz="1000" dirty="0">
                <a:solidFill>
                  <a:schemeClr val="bg1"/>
                </a:solidFill>
                <a:latin typeface="Calibri" pitchFamily="34" charset="0"/>
                <a:cs typeface="Calibri" pitchFamily="34" charset="-120"/>
              </a:rPr>
              <a:t xml:space="preserve">retrieval-based responses grounded in approved internal sources, PII guardrails, and clear ticket types ensures the AI Engineering team builds to spec, not assumptions. Every requirement </a:t>
            </a:r>
            <a:r>
              <a:rPr lang="en-US" sz="1000" dirty="0">
                <a:solidFill>
                  <a:schemeClr val="bg1"/>
                </a:solidFill>
                <a:latin typeface="Calibri" pitchFamily="34" charset="0"/>
                <a:ea typeface="Calibri" pitchFamily="34" charset="-122"/>
                <a:cs typeface="Calibri" pitchFamily="34" charset="-120"/>
              </a:rPr>
              <a:t>maps to a KPI we can track.</a:t>
            </a:r>
            <a:endParaRPr lang="en-US" sz="1000" dirty="0">
              <a:solidFill>
                <a:schemeClr val="bg1"/>
              </a:solidFill>
            </a:endParaRPr>
          </a:p>
        </p:txBody>
      </p:sp>
      <p:sp>
        <p:nvSpPr>
          <p:cNvPr id="10" name="Shape 7"/>
          <p:cNvSpPr/>
          <p:nvPr/>
        </p:nvSpPr>
        <p:spPr>
          <a:xfrm>
            <a:off x="731520" y="2297667"/>
            <a:ext cx="7680960" cy="1043900"/>
          </a:xfrm>
          <a:prstGeom prst="rect">
            <a:avLst/>
          </a:prstGeom>
          <a:solidFill>
            <a:srgbClr val="0B1D26"/>
          </a:solidFill>
          <a:ln w="9525">
            <a:solidFill>
              <a:srgbClr val="0D7377"/>
            </a:solidFill>
            <a:prstDash val="solid"/>
          </a:ln>
        </p:spPr>
        <p:txBody>
          <a:bodyPr/>
          <a:lstStyle/>
          <a:p>
            <a:endParaRPr lang="en-US" dirty="0"/>
          </a:p>
        </p:txBody>
      </p:sp>
      <p:sp>
        <p:nvSpPr>
          <p:cNvPr id="13" name="Text 9"/>
          <p:cNvSpPr/>
          <p:nvPr/>
        </p:nvSpPr>
        <p:spPr>
          <a:xfrm>
            <a:off x="904941" y="2423160"/>
            <a:ext cx="6400800" cy="32004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Phased Rollout Manages Risk</a:t>
            </a:r>
            <a:endParaRPr lang="en-US" sz="1400" dirty="0"/>
          </a:p>
        </p:txBody>
      </p:sp>
      <p:sp>
        <p:nvSpPr>
          <p:cNvPr id="14" name="Text 10"/>
          <p:cNvSpPr/>
          <p:nvPr/>
        </p:nvSpPr>
        <p:spPr>
          <a:xfrm>
            <a:off x="904941" y="2747207"/>
            <a:ext cx="6400800" cy="594360"/>
          </a:xfrm>
          <a:prstGeom prst="rect">
            <a:avLst/>
          </a:prstGeom>
          <a:noFill/>
          <a:ln/>
        </p:spPr>
        <p:txBody>
          <a:bodyPr wrap="square" lIns="0" tIns="0" rIns="0" bIns="0" rtlCol="0" anchor="t"/>
          <a:lstStyle/>
          <a:p>
            <a:pPr marL="0" indent="0">
              <a:lnSpc>
                <a:spcPct val="135000"/>
              </a:lnSpc>
              <a:buNone/>
            </a:pPr>
            <a:r>
              <a:rPr lang="en-US" sz="1000" dirty="0">
                <a:solidFill>
                  <a:schemeClr val="bg1"/>
                </a:solidFill>
                <a:latin typeface="Calibri" pitchFamily="34" charset="0"/>
                <a:ea typeface="Calibri" pitchFamily="34" charset="-122"/>
                <a:cs typeface="Calibri" pitchFamily="34" charset="-120"/>
              </a:rPr>
              <a:t>Shadow mode through production in 4 phases, with defined stakeholders at each gate. The human feedback loop is essential; it is the mechanism that allows the AI to improve over time.</a:t>
            </a:r>
            <a:endParaRPr lang="en-US" sz="1000" dirty="0">
              <a:solidFill>
                <a:schemeClr val="bg1"/>
              </a:solidFill>
            </a:endParaRPr>
          </a:p>
        </p:txBody>
      </p:sp>
      <p:sp>
        <p:nvSpPr>
          <p:cNvPr id="15" name="Shape 11"/>
          <p:cNvSpPr/>
          <p:nvPr/>
        </p:nvSpPr>
        <p:spPr>
          <a:xfrm>
            <a:off x="731520" y="3505594"/>
            <a:ext cx="7680960" cy="966952"/>
          </a:xfrm>
          <a:prstGeom prst="rect">
            <a:avLst/>
          </a:prstGeom>
          <a:solidFill>
            <a:srgbClr val="0B1D26"/>
          </a:solidFill>
          <a:ln w="9525">
            <a:solidFill>
              <a:srgbClr val="0D7377"/>
            </a:solidFill>
            <a:prstDash val="solid"/>
          </a:ln>
        </p:spPr>
        <p:txBody>
          <a:bodyPr/>
          <a:lstStyle/>
          <a:p>
            <a:endParaRPr lang="en-US"/>
          </a:p>
        </p:txBody>
      </p:sp>
      <p:sp>
        <p:nvSpPr>
          <p:cNvPr id="18" name="Text 13"/>
          <p:cNvSpPr/>
          <p:nvPr/>
        </p:nvSpPr>
        <p:spPr>
          <a:xfrm>
            <a:off x="904941" y="3571547"/>
            <a:ext cx="6400800" cy="32004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Drift Is Expected, Not a Failure</a:t>
            </a:r>
            <a:endParaRPr lang="en-US" sz="1400" dirty="0"/>
          </a:p>
        </p:txBody>
      </p:sp>
      <p:sp>
        <p:nvSpPr>
          <p:cNvPr id="19" name="Text 14"/>
          <p:cNvSpPr/>
          <p:nvPr/>
        </p:nvSpPr>
        <p:spPr>
          <a:xfrm>
            <a:off x="904941" y="3891587"/>
            <a:ext cx="6400800" cy="594360"/>
          </a:xfrm>
          <a:prstGeom prst="rect">
            <a:avLst/>
          </a:prstGeom>
          <a:noFill/>
          <a:ln/>
        </p:spPr>
        <p:txBody>
          <a:bodyPr wrap="square" lIns="0" tIns="0" rIns="0" bIns="0" rtlCol="0" anchor="t"/>
          <a:lstStyle/>
          <a:p>
            <a:pPr>
              <a:lnSpc>
                <a:spcPct val="135000"/>
              </a:lnSpc>
            </a:pPr>
            <a:r>
              <a:rPr lang="en-US" sz="1000" dirty="0">
                <a:solidFill>
                  <a:schemeClr val="bg1"/>
                </a:solidFill>
                <a:latin typeface="Calibri" pitchFamily="34" charset="0"/>
                <a:ea typeface="Calibri" pitchFamily="34" charset="-122"/>
                <a:cs typeface="Calibri" pitchFamily="34" charset="-120"/>
              </a:rPr>
              <a:t xml:space="preserve">New assays will always disrupt the model. The goal is not to prevent drift but to detect it fast and have solutions ready. Proactive coordination with Lab Ops, CS team, and automated monitoring </a:t>
            </a:r>
            <a:r>
              <a:rPr lang="en-US" sz="1000" dirty="0">
                <a:solidFill>
                  <a:schemeClr val="bg1"/>
                </a:solidFill>
                <a:latin typeface="Calibri" pitchFamily="34" charset="0"/>
                <a:cs typeface="Calibri" pitchFamily="34" charset="-120"/>
              </a:rPr>
              <a:t xml:space="preserve">shorten the time from detection to resolution. </a:t>
            </a:r>
          </a:p>
        </p:txBody>
      </p:sp>
      <p:sp>
        <p:nvSpPr>
          <p:cNvPr id="20" name="Shape 15"/>
          <p:cNvSpPr/>
          <p:nvPr/>
        </p:nvSpPr>
        <p:spPr>
          <a:xfrm>
            <a:off x="0" y="4572000"/>
            <a:ext cx="9144000" cy="571500"/>
          </a:xfrm>
          <a:prstGeom prst="rect">
            <a:avLst/>
          </a:prstGeom>
          <a:solidFill>
            <a:srgbClr val="0D7377">
              <a:alpha val="70000"/>
            </a:srgbClr>
          </a:solidFill>
          <a:ln/>
        </p:spPr>
        <p:txBody>
          <a:bodyPr/>
          <a:lstStyle/>
          <a:p>
            <a:endParaRPr lang="en-US"/>
          </a:p>
        </p:txBody>
      </p:sp>
      <p:sp>
        <p:nvSpPr>
          <p:cNvPr id="21" name="Text 16"/>
          <p:cNvSpPr/>
          <p:nvPr/>
        </p:nvSpPr>
        <p:spPr>
          <a:xfrm>
            <a:off x="731520" y="4617720"/>
            <a:ext cx="7315200" cy="4572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Ash Sarsour  |  The Precision Scale Initiative  |  Part 1</a:t>
            </a:r>
            <a:endParaRPr lang="en-US" sz="1100" dirty="0"/>
          </a:p>
        </p:txBody>
      </p:sp>
      <p:sp>
        <p:nvSpPr>
          <p:cNvPr id="25" name="TextBox 24">
            <a:extLst>
              <a:ext uri="{FF2B5EF4-FFF2-40B4-BE49-F238E27FC236}">
                <a16:creationId xmlns:a16="http://schemas.microsoft.com/office/drawing/2014/main" id="{616FCD8D-1606-4CB6-CA52-4B52B615FFA5}"/>
              </a:ext>
            </a:extLst>
          </p:cNvPr>
          <p:cNvSpPr txBox="1"/>
          <p:nvPr/>
        </p:nvSpPr>
        <p:spPr>
          <a:xfrm>
            <a:off x="3647090" y="651641"/>
            <a:ext cx="184731" cy="369332"/>
          </a:xfrm>
          <a:prstGeom prst="rect">
            <a:avLst/>
          </a:prstGeom>
          <a:noFill/>
        </p:spPr>
        <p:txBody>
          <a:bodyPr wrap="none" rtlCol="0">
            <a:spAutoFit/>
          </a:bodyPr>
          <a:lstStyle/>
          <a:p>
            <a:endParaRPr lang="en-US" dirty="0"/>
          </a:p>
        </p:txBody>
      </p:sp>
      <p:sp>
        <p:nvSpPr>
          <p:cNvPr id="26" name="TextBox 25">
            <a:extLst>
              <a:ext uri="{FF2B5EF4-FFF2-40B4-BE49-F238E27FC236}">
                <a16:creationId xmlns:a16="http://schemas.microsoft.com/office/drawing/2014/main" id="{9B69E2EB-3003-6576-B25D-4D4D510FD71C}"/>
              </a:ext>
            </a:extLst>
          </p:cNvPr>
          <p:cNvSpPr txBox="1"/>
          <p:nvPr/>
        </p:nvSpPr>
        <p:spPr>
          <a:xfrm>
            <a:off x="873053" y="398395"/>
            <a:ext cx="3763979" cy="369332"/>
          </a:xfrm>
          <a:prstGeom prst="rect">
            <a:avLst/>
          </a:prstGeom>
          <a:noFill/>
        </p:spPr>
        <p:txBody>
          <a:bodyPr wrap="none" rtlCol="0">
            <a:spAutoFit/>
          </a:bodyPr>
          <a:lstStyle/>
          <a:p>
            <a:r>
              <a:rPr lang="en-US" dirty="0">
                <a:solidFill>
                  <a:schemeClr val="bg1"/>
                </a:solidFill>
              </a:rPr>
              <a:t>Putting it all together, Part 1 Summary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B1D26"/>
          </a:solidFill>
          <a:ln/>
        </p:spPr>
        <p:txBody>
          <a:bodyPr/>
          <a:lstStyle/>
          <a:p>
            <a:endParaRPr lang="en-US"/>
          </a:p>
        </p:txBody>
      </p:sp>
      <p:sp>
        <p:nvSpPr>
          <p:cNvPr id="3" name="Text 1"/>
          <p:cNvSpPr/>
          <p:nvPr/>
        </p:nvSpPr>
        <p:spPr>
          <a:xfrm>
            <a:off x="457200" y="45720"/>
            <a:ext cx="8229600" cy="502920"/>
          </a:xfrm>
          <a:prstGeom prst="rect">
            <a:avLst/>
          </a:prstGeom>
          <a:noFill/>
          <a:ln/>
        </p:spPr>
        <p:txBody>
          <a:bodyPr wrap="square" lIns="0" tIns="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Part 2   Why "Active" Status Is Misleading</a:t>
            </a:r>
            <a:endParaRPr lang="en-US" sz="1700" dirty="0"/>
          </a:p>
        </p:txBody>
      </p:sp>
      <p:sp>
        <p:nvSpPr>
          <p:cNvPr id="4" name="Text 2"/>
          <p:cNvSpPr/>
          <p:nvPr/>
        </p:nvSpPr>
        <p:spPr>
          <a:xfrm>
            <a:off x="274320" y="658368"/>
            <a:ext cx="8412480" cy="256032"/>
          </a:xfrm>
          <a:prstGeom prst="rect">
            <a:avLst/>
          </a:prstGeom>
          <a:noFill/>
          <a:ln/>
        </p:spPr>
        <p:txBody>
          <a:bodyPr wrap="square" lIns="0" tIns="0" rIns="0" bIns="0" rtlCol="0" anchor="ctr"/>
          <a:lstStyle/>
          <a:p>
            <a:r>
              <a:rPr lang="en-US" sz="1000" dirty="0">
                <a:solidFill>
                  <a:srgbClr val="4A6572"/>
                </a:solidFill>
                <a:latin typeface="Calibri" pitchFamily="34" charset="0"/>
                <a:cs typeface="Calibri" pitchFamily="34" charset="-120"/>
              </a:rPr>
              <a:t>The AI agent frees CS capacity. The next question is where to direct it. The current CRM binary oversimplifies physician health.</a:t>
            </a:r>
            <a:endParaRPr lang="en-US" sz="1000" dirty="0"/>
          </a:p>
        </p:txBody>
      </p:sp>
      <p:sp>
        <p:nvSpPr>
          <p:cNvPr id="5" name="Text 3"/>
          <p:cNvSpPr/>
          <p:nvPr/>
        </p:nvSpPr>
        <p:spPr>
          <a:xfrm>
            <a:off x="1303020" y="917956"/>
            <a:ext cx="4114800" cy="201168"/>
          </a:xfrm>
          <a:prstGeom prst="rect">
            <a:avLst/>
          </a:prstGeom>
          <a:noFill/>
          <a:ln/>
        </p:spPr>
        <p:txBody>
          <a:bodyPr wrap="square" lIns="0" tIns="0" rIns="0" bIns="0" rtlCol="0" anchor="ctr"/>
          <a:lstStyle/>
          <a:p>
            <a:r>
              <a:rPr lang="en-US" sz="900" b="1" dirty="0">
                <a:solidFill>
                  <a:srgbClr val="1A2B34"/>
                </a:solidFill>
                <a:latin typeface="Trebuchet MS" pitchFamily="34" charset="0"/>
                <a:ea typeface="Trebuchet MS" pitchFamily="34" charset="-122"/>
                <a:cs typeface="Trebuchet MS" pitchFamily="34" charset="-120"/>
              </a:rPr>
              <a:t>Current Data (As-Is)</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4007450318"/>
              </p:ext>
            </p:extLst>
          </p:nvPr>
        </p:nvGraphicFramePr>
        <p:xfrm>
          <a:off x="274320" y="1143000"/>
          <a:ext cx="3931920" cy="1203960"/>
        </p:xfrm>
        <a:graphic>
          <a:graphicData uri="http://schemas.openxmlformats.org/drawingml/2006/table">
            <a:tbl>
              <a:tblPr/>
              <a:tblGrid>
                <a:gridCol w="45720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548640">
                  <a:extLst>
                    <a:ext uri="{9D8B030D-6E8A-4147-A177-3AD203B41FA5}">
                      <a16:colId xmlns:a16="http://schemas.microsoft.com/office/drawing/2014/main" val="20005"/>
                    </a:ext>
                  </a:extLst>
                </a:gridCol>
                <a:gridCol w="548640">
                  <a:extLst>
                    <a:ext uri="{9D8B030D-6E8A-4147-A177-3AD203B41FA5}">
                      <a16:colId xmlns:a16="http://schemas.microsoft.com/office/drawing/2014/main" val="20006"/>
                    </a:ext>
                  </a:extLst>
                </a:gridCol>
              </a:tblGrid>
              <a:tr h="274320">
                <a:tc>
                  <a:txBody>
                    <a:bodyPr/>
                    <a:lstStyle/>
                    <a:p>
                      <a:pPr marL="0" indent="0" algn="ctr">
                        <a:buNone/>
                      </a:pPr>
                      <a:r>
                        <a:rPr lang="en-US" sz="650" b="1" dirty="0">
                          <a:solidFill>
                            <a:srgbClr val="FFFFFF"/>
                          </a:solidFill>
                          <a:latin typeface="Trebuchet MS" pitchFamily="34" charset="0"/>
                          <a:ea typeface="+mn-ea"/>
                          <a:cs typeface="Calibri" pitchFamily="34" charset="-120"/>
                        </a:rPr>
                        <a:t>ID</a:t>
                      </a:r>
                      <a:endParaRPr lang="en-US" sz="650" dirty="0">
                        <a:latin typeface="Trebuchet MS" charset="0"/>
                        <a:ea typeface="+mn-ea"/>
                        <a:cs typeface="Calibri" pitchFamily="34" charset="-12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0B1D26"/>
                    </a:solidFill>
                  </a:tcPr>
                </a:tc>
                <a:tc>
                  <a:txBody>
                    <a:bodyPr/>
                    <a:lstStyle/>
                    <a:p>
                      <a:pPr marL="0" indent="0" algn="ctr">
                        <a:buNone/>
                      </a:pPr>
                      <a:r>
                        <a:rPr lang="en-US" sz="650" b="1" dirty="0">
                          <a:solidFill>
                            <a:srgbClr val="FFFFFF"/>
                          </a:solidFill>
                          <a:latin typeface="Trebuchet MS" pitchFamily="34" charset="0"/>
                          <a:ea typeface="+mn-ea"/>
                          <a:cs typeface="Calibri" pitchFamily="34" charset="-120"/>
                        </a:rPr>
                        <a:t>Region</a:t>
                      </a:r>
                      <a:endParaRPr lang="en-US" sz="650" dirty="0">
                        <a:latin typeface="Trebuchet MS" charset="0"/>
                        <a:ea typeface="+mn-ea"/>
                        <a:cs typeface="Calibri" pitchFamily="34" charset="-12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0B1D26"/>
                    </a:solidFill>
                  </a:tcPr>
                </a:tc>
                <a:tc>
                  <a:txBody>
                    <a:bodyPr/>
                    <a:lstStyle/>
                    <a:p>
                      <a:pPr marL="0" indent="0" algn="ctr">
                        <a:buNone/>
                      </a:pPr>
                      <a:r>
                        <a:rPr lang="en-US" sz="650" b="1" dirty="0">
                          <a:solidFill>
                            <a:srgbClr val="FFFFFF"/>
                          </a:solidFill>
                          <a:latin typeface="Trebuchet MS" pitchFamily="34" charset="0"/>
                          <a:ea typeface="+mn-ea"/>
                          <a:cs typeface="Calibri" pitchFamily="34" charset="-120"/>
                        </a:rPr>
                        <a:t>CRM</a:t>
                      </a:r>
                      <a:endParaRPr lang="en-US" sz="650" dirty="0">
                        <a:latin typeface="Trebuchet MS" charset="0"/>
                        <a:ea typeface="+mn-ea"/>
                        <a:cs typeface="Calibri" pitchFamily="34" charset="-120"/>
                      </a:endParaRPr>
                    </a:p>
                    <a:p>
                      <a:pPr marL="0" indent="0" algn="ctr">
                        <a:buNone/>
                      </a:pPr>
                      <a:r>
                        <a:rPr lang="en-US" sz="650" b="1" dirty="0">
                          <a:solidFill>
                            <a:srgbClr val="FFFFFF"/>
                          </a:solidFill>
                          <a:latin typeface="Trebuchet MS" pitchFamily="34" charset="0"/>
                          <a:ea typeface="+mn-ea"/>
                          <a:cs typeface="Calibri" pitchFamily="34" charset="-120"/>
                        </a:rPr>
                        <a:t>Status</a:t>
                      </a:r>
                      <a:endParaRPr lang="en-US" sz="650" dirty="0">
                        <a:latin typeface="Trebuchet MS" charset="0"/>
                        <a:ea typeface="+mn-ea"/>
                        <a:cs typeface="Calibri" pitchFamily="34" charset="-12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0B1D26"/>
                    </a:solidFill>
                  </a:tcPr>
                </a:tc>
                <a:tc>
                  <a:txBody>
                    <a:bodyPr/>
                    <a:lstStyle/>
                    <a:p>
                      <a:pPr marL="0" indent="0" algn="ctr">
                        <a:buNone/>
                      </a:pPr>
                      <a:r>
                        <a:rPr lang="en-US" sz="650" b="1" dirty="0">
                          <a:solidFill>
                            <a:srgbClr val="FFFFFF"/>
                          </a:solidFill>
                          <a:latin typeface="Trebuchet MS" pitchFamily="34" charset="0"/>
                          <a:ea typeface="Trebuchet MS" pitchFamily="34" charset="-122"/>
                          <a:cs typeface="Trebuchet MS" pitchFamily="34" charset="-120"/>
                        </a:rPr>
                        <a:t>Logins</a:t>
                      </a:r>
                      <a:endParaRPr lang="en-US" sz="650" dirty="0">
                        <a:latin typeface="Trebuchet MS" charset="0"/>
                        <a:ea typeface="Trebuchet MS" charset="0"/>
                        <a:cs typeface="Trebuchet MS" charset="0"/>
                      </a:endParaRPr>
                    </a:p>
                    <a:p>
                      <a:pPr marL="0" indent="0" algn="ctr">
                        <a:buNone/>
                      </a:pPr>
                      <a:r>
                        <a:rPr lang="en-US" sz="650" b="1" dirty="0">
                          <a:solidFill>
                            <a:srgbClr val="FFFFFF"/>
                          </a:solidFill>
                          <a:latin typeface="Trebuchet MS" pitchFamily="34" charset="0"/>
                          <a:ea typeface="Trebuchet MS" pitchFamily="34" charset="-122"/>
                          <a:cs typeface="Trebuchet MS" pitchFamily="34" charset="-120"/>
                        </a:rPr>
                        <a:t>(30d)</a:t>
                      </a:r>
                      <a:endParaRPr lang="en-US" sz="650" dirty="0">
                        <a:latin typeface="Trebuchet MS" charset="0"/>
                        <a:ea typeface="Trebuchet MS" charset="0"/>
                        <a:cs typeface="Trebuchet MS"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0B1D26"/>
                    </a:solidFill>
                  </a:tcPr>
                </a:tc>
                <a:tc>
                  <a:txBody>
                    <a:bodyPr/>
                    <a:lstStyle/>
                    <a:p>
                      <a:pPr marL="0" indent="0" algn="ctr">
                        <a:buNone/>
                      </a:pPr>
                      <a:r>
                        <a:rPr lang="en-US" sz="650" b="1" dirty="0">
                          <a:solidFill>
                            <a:srgbClr val="FFFFFF"/>
                          </a:solidFill>
                          <a:latin typeface="Trebuchet MS" pitchFamily="34" charset="0"/>
                          <a:ea typeface="Trebuchet MS" pitchFamily="34" charset="-122"/>
                          <a:cs typeface="Trebuchet MS" pitchFamily="34" charset="-120"/>
                        </a:rPr>
                        <a:t>Samples</a:t>
                      </a:r>
                      <a:endParaRPr lang="en-US" sz="650" dirty="0">
                        <a:latin typeface="Trebuchet MS" charset="0"/>
                        <a:ea typeface="Trebuchet MS" charset="0"/>
                        <a:cs typeface="Trebuchet MS" charset="0"/>
                      </a:endParaRPr>
                    </a:p>
                    <a:p>
                      <a:pPr marL="0" indent="0" algn="ctr">
                        <a:buNone/>
                      </a:pPr>
                      <a:r>
                        <a:rPr lang="en-US" sz="650" b="1" dirty="0">
                          <a:solidFill>
                            <a:srgbClr val="FFFFFF"/>
                          </a:solidFill>
                          <a:latin typeface="Trebuchet MS" pitchFamily="34" charset="0"/>
                          <a:ea typeface="Trebuchet MS" pitchFamily="34" charset="-122"/>
                          <a:cs typeface="Trebuchet MS" pitchFamily="34" charset="-120"/>
                        </a:rPr>
                        <a:t>(30d)</a:t>
                      </a:r>
                      <a:endParaRPr lang="en-US" sz="650" dirty="0">
                        <a:latin typeface="Trebuchet MS" charset="0"/>
                        <a:ea typeface="Trebuchet MS" charset="0"/>
                        <a:cs typeface="Trebuchet MS"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0B1D26"/>
                    </a:solidFill>
                  </a:tcPr>
                </a:tc>
                <a:tc>
                  <a:txBody>
                    <a:bodyPr/>
                    <a:lstStyle/>
                    <a:p>
                      <a:pPr marL="0" indent="0" algn="ctr">
                        <a:buNone/>
                      </a:pPr>
                      <a:r>
                        <a:rPr lang="en-US" sz="650" b="1" dirty="0">
                          <a:solidFill>
                            <a:srgbClr val="FFFFFF"/>
                          </a:solidFill>
                          <a:latin typeface="Trebuchet MS" pitchFamily="34" charset="0"/>
                          <a:ea typeface="Trebuchet MS" pitchFamily="34" charset="-122"/>
                          <a:cs typeface="Trebuchet MS" pitchFamily="34" charset="-120"/>
                        </a:rPr>
                        <a:t>Email</a:t>
                      </a:r>
                      <a:endParaRPr lang="en-US" sz="650" dirty="0">
                        <a:latin typeface="Trebuchet MS" charset="0"/>
                        <a:ea typeface="Trebuchet MS" charset="0"/>
                        <a:cs typeface="Trebuchet MS" charset="0"/>
                      </a:endParaRPr>
                    </a:p>
                    <a:p>
                      <a:pPr marL="0" indent="0" algn="ctr">
                        <a:buNone/>
                      </a:pPr>
                      <a:r>
                        <a:rPr lang="en-US" sz="650" b="1" dirty="0">
                          <a:solidFill>
                            <a:srgbClr val="FFFFFF"/>
                          </a:solidFill>
                          <a:latin typeface="Trebuchet MS" pitchFamily="34" charset="0"/>
                          <a:ea typeface="Trebuchet MS" pitchFamily="34" charset="-122"/>
                          <a:cs typeface="Trebuchet MS" pitchFamily="34" charset="-120"/>
                        </a:rPr>
                        <a:t>Opened</a:t>
                      </a:r>
                      <a:endParaRPr lang="en-US" sz="650" dirty="0">
                        <a:latin typeface="Trebuchet MS" charset="0"/>
                        <a:ea typeface="Trebuchet MS" charset="0"/>
                        <a:cs typeface="Trebuchet MS"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0B1D26"/>
                    </a:solidFill>
                  </a:tcPr>
                </a:tc>
                <a:tc>
                  <a:txBody>
                    <a:bodyPr/>
                    <a:lstStyle/>
                    <a:p>
                      <a:pPr marL="0" indent="0" algn="ctr">
                        <a:buNone/>
                      </a:pPr>
                      <a:r>
                        <a:rPr lang="en-US" sz="650" b="1" dirty="0">
                          <a:solidFill>
                            <a:srgbClr val="FFFFFF"/>
                          </a:solidFill>
                          <a:latin typeface="Trebuchet MS" pitchFamily="34" charset="0"/>
                          <a:ea typeface="Trebuchet MS" pitchFamily="34" charset="-122"/>
                          <a:cs typeface="Trebuchet MS" pitchFamily="34" charset="-120"/>
                        </a:rPr>
                        <a:t>Signal</a:t>
                      </a:r>
                      <a:endParaRPr lang="en-US" sz="650" dirty="0">
                        <a:latin typeface="Trebuchet MS" charset="0"/>
                        <a:ea typeface="Trebuchet MS" charset="0"/>
                        <a:cs typeface="Trebuchet MS"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0B1D26"/>
                    </a:solidFill>
                  </a:tcPr>
                </a:tc>
                <a:extLst>
                  <a:ext uri="{0D108BD9-81ED-4DB2-BD59-A6C34878D82A}">
                    <a16:rowId xmlns:a16="http://schemas.microsoft.com/office/drawing/2014/main" val="10000"/>
                  </a:ext>
                </a:extLst>
              </a:tr>
              <a:tr h="228600">
                <a:tc>
                  <a:txBody>
                    <a:bodyPr/>
                    <a:lstStyle/>
                    <a:p>
                      <a:pPr marL="0" indent="0" algn="ctr">
                        <a:buNone/>
                      </a:pPr>
                      <a:r>
                        <a:rPr lang="en-US" sz="700" dirty="0">
                          <a:solidFill>
                            <a:srgbClr val="1A2B34"/>
                          </a:solidFill>
                          <a:latin typeface="Calibri" pitchFamily="34" charset="0"/>
                          <a:ea typeface="+mn-ea"/>
                          <a:cs typeface="Calibri" pitchFamily="34" charset="-120"/>
                        </a:rPr>
                        <a:t>DR-A</a:t>
                      </a:r>
                      <a:endParaRPr lang="en-US" sz="700" dirty="0">
                        <a:latin typeface="Calibri" charset="0"/>
                        <a:ea typeface="+mn-ea"/>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A2B34"/>
                          </a:solidFill>
                          <a:latin typeface="Calibri" pitchFamily="34" charset="0"/>
                          <a:ea typeface="+mn-ea"/>
                          <a:cs typeface="Calibri" pitchFamily="34" charset="-120"/>
                        </a:rPr>
                        <a:t>North</a:t>
                      </a:r>
                      <a:endParaRPr lang="en-US" sz="700" dirty="0">
                        <a:latin typeface="Calibri" charset="0"/>
                        <a:ea typeface="+mn-ea"/>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0D7377"/>
                          </a:solidFill>
                          <a:latin typeface="Calibri" pitchFamily="34" charset="0"/>
                          <a:ea typeface="+mn-ea"/>
                          <a:cs typeface="Calibri" pitchFamily="34" charset="-120"/>
                        </a:rPr>
                        <a:t>Active</a:t>
                      </a:r>
                      <a:endParaRPr lang="en-US" sz="700" dirty="0">
                        <a:latin typeface="Calibri" charset="0"/>
                        <a:ea typeface="+mn-ea"/>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A2B34"/>
                          </a:solidFill>
                          <a:latin typeface="Calibri" pitchFamily="34" charset="0"/>
                          <a:ea typeface="Calibri" pitchFamily="34" charset="-122"/>
                          <a:cs typeface="Calibri" pitchFamily="34" charset="-120"/>
                        </a:rPr>
                        <a:t>45</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E85D3A"/>
                          </a:solidFill>
                          <a:latin typeface="Calibri" pitchFamily="34" charset="0"/>
                          <a:ea typeface="Calibri" pitchFamily="34" charset="-122"/>
                          <a:cs typeface="Calibri" pitchFamily="34" charset="-120"/>
                        </a:rPr>
                        <a:t>0</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FDECEA"/>
                    </a:solidFill>
                  </a:tcPr>
                </a:tc>
                <a:tc>
                  <a:txBody>
                    <a:bodyPr/>
                    <a:lstStyle/>
                    <a:p>
                      <a:pPr marL="0" indent="0" algn="ctr">
                        <a:buNone/>
                      </a:pPr>
                      <a:r>
                        <a:rPr lang="en-US" sz="700" b="1" dirty="0">
                          <a:solidFill>
                            <a:srgbClr val="E85D3A"/>
                          </a:solidFill>
                          <a:latin typeface="Calibri" pitchFamily="34" charset="0"/>
                          <a:ea typeface="Calibri" pitchFamily="34" charset="-122"/>
                          <a:cs typeface="Calibri" pitchFamily="34" charset="-120"/>
                        </a:rPr>
                        <a:t>0%</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FDECEA"/>
                    </a:solidFill>
                  </a:tcPr>
                </a:tc>
                <a:tc>
                  <a:txBody>
                    <a:bodyPr/>
                    <a:lstStyle/>
                    <a:p>
                      <a:pPr marL="0" indent="0" algn="ctr">
                        <a:buNone/>
                      </a:pPr>
                      <a:r>
                        <a:rPr lang="en-US" sz="700" b="1" dirty="0">
                          <a:solidFill>
                            <a:srgbClr val="E85D3A"/>
                          </a:solidFill>
                          <a:latin typeface="Calibri" pitchFamily="34" charset="0"/>
                          <a:ea typeface="Calibri" pitchFamily="34" charset="-122"/>
                          <a:cs typeface="Calibri" pitchFamily="34" charset="-120"/>
                        </a:rPr>
                        <a:t>False +</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FDECEA"/>
                    </a:solidFill>
                  </a:tcPr>
                </a:tc>
                <a:extLst>
                  <a:ext uri="{0D108BD9-81ED-4DB2-BD59-A6C34878D82A}">
                    <a16:rowId xmlns:a16="http://schemas.microsoft.com/office/drawing/2014/main" val="10001"/>
                  </a:ext>
                </a:extLst>
              </a:tr>
              <a:tr h="228600">
                <a:tc>
                  <a:txBody>
                    <a:bodyPr/>
                    <a:lstStyle/>
                    <a:p>
                      <a:pPr marL="0" indent="0" algn="ctr">
                        <a:buNone/>
                      </a:pPr>
                      <a:r>
                        <a:rPr lang="en-US" sz="700" dirty="0">
                          <a:solidFill>
                            <a:srgbClr val="1A2B34"/>
                          </a:solidFill>
                          <a:latin typeface="Calibri" pitchFamily="34" charset="0"/>
                          <a:ea typeface="+mn-ea"/>
                          <a:cs typeface="Calibri" pitchFamily="34" charset="-120"/>
                        </a:rPr>
                        <a:t>DR-B</a:t>
                      </a:r>
                      <a:endParaRPr lang="en-US" sz="700" dirty="0">
                        <a:latin typeface="Calibri" charset="0"/>
                        <a:ea typeface="+mn-ea"/>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E6F5F3"/>
                    </a:solidFill>
                  </a:tcPr>
                </a:tc>
                <a:tc>
                  <a:txBody>
                    <a:bodyPr/>
                    <a:lstStyle/>
                    <a:p>
                      <a:pPr marL="0" indent="0" algn="ctr">
                        <a:buNone/>
                      </a:pPr>
                      <a:r>
                        <a:rPr lang="en-US" sz="700" dirty="0">
                          <a:solidFill>
                            <a:srgbClr val="1A2B34"/>
                          </a:solidFill>
                          <a:latin typeface="Calibri" pitchFamily="34" charset="0"/>
                          <a:ea typeface="+mn-ea"/>
                          <a:cs typeface="Calibri" pitchFamily="34" charset="-120"/>
                        </a:rPr>
                        <a:t>South</a:t>
                      </a:r>
                      <a:endParaRPr lang="en-US" sz="700" dirty="0">
                        <a:latin typeface="Calibri" charset="0"/>
                        <a:ea typeface="+mn-ea"/>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E6F5F3"/>
                    </a:solidFill>
                  </a:tcPr>
                </a:tc>
                <a:tc>
                  <a:txBody>
                    <a:bodyPr/>
                    <a:lstStyle/>
                    <a:p>
                      <a:pPr marL="0" indent="0" algn="ctr">
                        <a:buNone/>
                      </a:pPr>
                      <a:r>
                        <a:rPr lang="en-US" sz="700" b="1" dirty="0">
                          <a:solidFill>
                            <a:srgbClr val="0D7377"/>
                          </a:solidFill>
                          <a:latin typeface="Calibri" pitchFamily="34" charset="0"/>
                          <a:ea typeface="+mn-ea"/>
                          <a:cs typeface="Calibri" pitchFamily="34" charset="-120"/>
                        </a:rPr>
                        <a:t>Active</a:t>
                      </a:r>
                      <a:endParaRPr lang="en-US" sz="700" dirty="0">
                        <a:latin typeface="Calibri" charset="0"/>
                        <a:ea typeface="+mn-ea"/>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E6F5F3"/>
                    </a:solidFill>
                  </a:tcPr>
                </a:tc>
                <a:tc>
                  <a:txBody>
                    <a:bodyPr/>
                    <a:lstStyle/>
                    <a:p>
                      <a:pPr marL="0" indent="0" algn="ctr">
                        <a:buNone/>
                      </a:pPr>
                      <a:r>
                        <a:rPr lang="en-US" sz="700" dirty="0">
                          <a:solidFill>
                            <a:srgbClr val="1A2B34"/>
                          </a:solidFill>
                          <a:latin typeface="Calibri" pitchFamily="34" charset="0"/>
                          <a:ea typeface="Calibri" pitchFamily="34" charset="-122"/>
                          <a:cs typeface="Calibri" pitchFamily="34" charset="-120"/>
                        </a:rPr>
                        <a:t>2</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E6F5F3"/>
                    </a:solidFill>
                  </a:tcPr>
                </a:tc>
                <a:tc>
                  <a:txBody>
                    <a:bodyPr/>
                    <a:lstStyle/>
                    <a:p>
                      <a:pPr marL="0" indent="0" algn="ctr">
                        <a:buNone/>
                      </a:pPr>
                      <a:r>
                        <a:rPr lang="en-US" sz="700" dirty="0">
                          <a:solidFill>
                            <a:srgbClr val="1A2B34"/>
                          </a:solidFill>
                          <a:latin typeface="Calibri" pitchFamily="34" charset="0"/>
                          <a:ea typeface="Calibri" pitchFamily="34" charset="-122"/>
                          <a:cs typeface="Calibri" pitchFamily="34" charset="-120"/>
                        </a:rPr>
                        <a:t>18</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E6F5F3"/>
                    </a:solidFill>
                  </a:tcPr>
                </a:tc>
                <a:tc>
                  <a:txBody>
                    <a:bodyPr/>
                    <a:lstStyle/>
                    <a:p>
                      <a:pPr marL="0" indent="0" algn="ctr">
                        <a:buNone/>
                      </a:pPr>
                      <a:r>
                        <a:rPr lang="en-US" sz="700" dirty="0">
                          <a:solidFill>
                            <a:srgbClr val="1A2B34"/>
                          </a:solidFill>
                          <a:latin typeface="Calibri" pitchFamily="34" charset="0"/>
                          <a:ea typeface="Calibri" pitchFamily="34" charset="-122"/>
                          <a:cs typeface="Calibri" pitchFamily="34" charset="-120"/>
                        </a:rPr>
                        <a:t>95%</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E6F5F3"/>
                    </a:solidFill>
                  </a:tcPr>
                </a:tc>
                <a:tc>
                  <a:txBody>
                    <a:bodyPr/>
                    <a:lstStyle/>
                    <a:p>
                      <a:pPr marL="0" indent="0" algn="ctr">
                        <a:buNone/>
                      </a:pPr>
                      <a:r>
                        <a:rPr lang="en-US" sz="700" b="1" dirty="0">
                          <a:solidFill>
                            <a:srgbClr val="0D7377"/>
                          </a:solidFill>
                          <a:latin typeface="Calibri" pitchFamily="34" charset="0"/>
                          <a:ea typeface="Calibri" pitchFamily="34" charset="-122"/>
                          <a:cs typeface="Calibri" pitchFamily="34" charset="-120"/>
                        </a:rPr>
                        <a:t>Engaged</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E6F5F3"/>
                    </a:solidFill>
                  </a:tcPr>
                </a:tc>
                <a:extLst>
                  <a:ext uri="{0D108BD9-81ED-4DB2-BD59-A6C34878D82A}">
                    <a16:rowId xmlns:a16="http://schemas.microsoft.com/office/drawing/2014/main" val="10002"/>
                  </a:ext>
                </a:extLst>
              </a:tr>
              <a:tr h="228600">
                <a:tc>
                  <a:txBody>
                    <a:bodyPr/>
                    <a:lstStyle/>
                    <a:p>
                      <a:pPr marL="0" indent="0" algn="ctr">
                        <a:buNone/>
                      </a:pPr>
                      <a:r>
                        <a:rPr lang="en-US" sz="700" dirty="0">
                          <a:solidFill>
                            <a:srgbClr val="1A2B34"/>
                          </a:solidFill>
                          <a:latin typeface="Calibri" pitchFamily="34" charset="0"/>
                          <a:ea typeface="+mn-ea"/>
                          <a:cs typeface="Calibri" pitchFamily="34" charset="-120"/>
                        </a:rPr>
                        <a:t>DR-C</a:t>
                      </a:r>
                      <a:endParaRPr lang="en-US" sz="700" dirty="0">
                        <a:latin typeface="Calibri" charset="0"/>
                        <a:ea typeface="+mn-ea"/>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A2B34"/>
                          </a:solidFill>
                          <a:latin typeface="Calibri" pitchFamily="34" charset="0"/>
                          <a:ea typeface="+mn-ea"/>
                          <a:cs typeface="Calibri" pitchFamily="34" charset="-120"/>
                        </a:rPr>
                        <a:t>East</a:t>
                      </a:r>
                      <a:endParaRPr lang="en-US" sz="700" dirty="0">
                        <a:latin typeface="Calibri" charset="0"/>
                        <a:ea typeface="+mn-ea"/>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E85D3A"/>
                          </a:solidFill>
                          <a:latin typeface="Calibri" pitchFamily="34" charset="0"/>
                          <a:ea typeface="+mn-ea"/>
                          <a:cs typeface="Calibri" pitchFamily="34" charset="-120"/>
                        </a:rPr>
                        <a:t>Inactive</a:t>
                      </a:r>
                      <a:endParaRPr lang="en-US" sz="700" dirty="0">
                        <a:latin typeface="Calibri" charset="0"/>
                        <a:ea typeface="+mn-ea"/>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A2B34"/>
                          </a:solidFill>
                          <a:latin typeface="Calibri" pitchFamily="34" charset="0"/>
                          <a:ea typeface="Calibri" pitchFamily="34" charset="-122"/>
                          <a:cs typeface="Calibri" pitchFamily="34" charset="-120"/>
                        </a:rPr>
                        <a:t>0</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2E7D32"/>
                          </a:solidFill>
                          <a:latin typeface="Calibri" pitchFamily="34" charset="0"/>
                          <a:ea typeface="Calibri" pitchFamily="34" charset="-122"/>
                          <a:cs typeface="Calibri" pitchFamily="34" charset="-120"/>
                        </a:rPr>
                        <a:t>12</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E8F5E9"/>
                    </a:solidFill>
                  </a:tcPr>
                </a:tc>
                <a:tc>
                  <a:txBody>
                    <a:bodyPr/>
                    <a:lstStyle/>
                    <a:p>
                      <a:pPr marL="0" indent="0" algn="ctr">
                        <a:buNone/>
                      </a:pPr>
                      <a:r>
                        <a:rPr lang="en-US" sz="700" dirty="0">
                          <a:solidFill>
                            <a:srgbClr val="1A2B34"/>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D4A843"/>
                          </a:solidFill>
                          <a:latin typeface="Calibri" pitchFamily="34" charset="0"/>
                          <a:ea typeface="Calibri" pitchFamily="34" charset="-122"/>
                          <a:cs typeface="Calibri" pitchFamily="34" charset="-120"/>
                        </a:rPr>
                        <a:t>False −</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FFF8E1"/>
                    </a:solidFill>
                  </a:tcPr>
                </a:tc>
                <a:extLst>
                  <a:ext uri="{0D108BD9-81ED-4DB2-BD59-A6C34878D82A}">
                    <a16:rowId xmlns:a16="http://schemas.microsoft.com/office/drawing/2014/main" val="10003"/>
                  </a:ext>
                </a:extLst>
              </a:tr>
              <a:tr h="228600">
                <a:tc>
                  <a:txBody>
                    <a:bodyPr/>
                    <a:lstStyle/>
                    <a:p>
                      <a:pPr marL="0" indent="0" algn="ctr">
                        <a:buNone/>
                      </a:pPr>
                      <a:r>
                        <a:rPr lang="en-US" sz="700" dirty="0">
                          <a:solidFill>
                            <a:srgbClr val="1A2B34"/>
                          </a:solidFill>
                          <a:latin typeface="Calibri" pitchFamily="34" charset="0"/>
                          <a:ea typeface="+mn-ea"/>
                          <a:cs typeface="Calibri" pitchFamily="34" charset="-120"/>
                        </a:rPr>
                        <a:t>DR-D</a:t>
                      </a:r>
                      <a:endParaRPr lang="en-US" sz="700" dirty="0">
                        <a:latin typeface="Calibri" charset="0"/>
                        <a:ea typeface="+mn-ea"/>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E6F5F3"/>
                    </a:solidFill>
                  </a:tcPr>
                </a:tc>
                <a:tc>
                  <a:txBody>
                    <a:bodyPr/>
                    <a:lstStyle/>
                    <a:p>
                      <a:pPr marL="0" indent="0" algn="ctr">
                        <a:buNone/>
                      </a:pPr>
                      <a:r>
                        <a:rPr lang="en-US" sz="700" dirty="0">
                          <a:solidFill>
                            <a:srgbClr val="1A2B34"/>
                          </a:solidFill>
                          <a:latin typeface="Calibri" pitchFamily="34" charset="0"/>
                          <a:ea typeface="+mn-ea"/>
                          <a:cs typeface="Calibri" pitchFamily="34" charset="-120"/>
                        </a:rPr>
                        <a:t>West</a:t>
                      </a:r>
                      <a:endParaRPr lang="en-US" sz="700" dirty="0">
                        <a:latin typeface="Calibri" charset="0"/>
                        <a:ea typeface="+mn-ea"/>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E6F5F3"/>
                    </a:solidFill>
                  </a:tcPr>
                </a:tc>
                <a:tc>
                  <a:txBody>
                    <a:bodyPr/>
                    <a:lstStyle/>
                    <a:p>
                      <a:pPr marL="0" indent="0" algn="ctr">
                        <a:buNone/>
                      </a:pPr>
                      <a:r>
                        <a:rPr lang="en-US" sz="700" b="1" dirty="0">
                          <a:solidFill>
                            <a:srgbClr val="0D7377"/>
                          </a:solidFill>
                          <a:latin typeface="Calibri" pitchFamily="34" charset="0"/>
                          <a:ea typeface="+mn-ea"/>
                          <a:cs typeface="Calibri" pitchFamily="34" charset="-120"/>
                        </a:rPr>
                        <a:t>Active</a:t>
                      </a:r>
                      <a:endParaRPr lang="en-US" sz="700" dirty="0">
                        <a:latin typeface="Calibri" charset="0"/>
                        <a:ea typeface="+mn-ea"/>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E6F5F3"/>
                    </a:solidFill>
                  </a:tcPr>
                </a:tc>
                <a:tc>
                  <a:txBody>
                    <a:bodyPr/>
                    <a:lstStyle/>
                    <a:p>
                      <a:pPr marL="0" indent="0" algn="ctr">
                        <a:buNone/>
                      </a:pPr>
                      <a:r>
                        <a:rPr lang="en-US" sz="700" dirty="0">
                          <a:solidFill>
                            <a:srgbClr val="1A2B34"/>
                          </a:solidFill>
                          <a:latin typeface="Calibri" pitchFamily="34" charset="0"/>
                          <a:ea typeface="Calibri" pitchFamily="34" charset="-122"/>
                          <a:cs typeface="Calibri" pitchFamily="34" charset="-120"/>
                        </a:rPr>
                        <a:t>12</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E6F5F3"/>
                    </a:solidFill>
                  </a:tcPr>
                </a:tc>
                <a:tc>
                  <a:txBody>
                    <a:bodyPr/>
                    <a:lstStyle/>
                    <a:p>
                      <a:pPr marL="0" indent="0" algn="ctr">
                        <a:buNone/>
                      </a:pPr>
                      <a:r>
                        <a:rPr lang="en-US" sz="700" dirty="0">
                          <a:solidFill>
                            <a:srgbClr val="1A2B34"/>
                          </a:solidFill>
                          <a:latin typeface="Calibri" pitchFamily="34" charset="0"/>
                          <a:ea typeface="Calibri" pitchFamily="34" charset="-122"/>
                          <a:cs typeface="Calibri" pitchFamily="34" charset="-120"/>
                        </a:rPr>
                        <a:t>12</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E6F5F3"/>
                    </a:solidFill>
                  </a:tcPr>
                </a:tc>
                <a:tc>
                  <a:txBody>
                    <a:bodyPr/>
                    <a:lstStyle/>
                    <a:p>
                      <a:pPr marL="0" indent="0" algn="ctr">
                        <a:buNone/>
                      </a:pPr>
                      <a:r>
                        <a:rPr lang="en-US" sz="700" dirty="0">
                          <a:solidFill>
                            <a:srgbClr val="1A2B34"/>
                          </a:solidFill>
                          <a:latin typeface="Calibri" pitchFamily="34" charset="0"/>
                          <a:ea typeface="Calibri" pitchFamily="34" charset="-122"/>
                          <a:cs typeface="Calibri" pitchFamily="34" charset="-120"/>
                        </a:rPr>
                        <a:t>50%</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E6F5F3"/>
                    </a:solidFill>
                  </a:tcPr>
                </a:tc>
                <a:tc>
                  <a:txBody>
                    <a:bodyPr/>
                    <a:lstStyle/>
                    <a:p>
                      <a:pPr marL="0" indent="0" algn="ctr">
                        <a:buNone/>
                      </a:pPr>
                      <a:r>
                        <a:rPr lang="en-US" sz="700" b="1" dirty="0">
                          <a:solidFill>
                            <a:srgbClr val="0D7377"/>
                          </a:solidFill>
                          <a:latin typeface="Calibri" pitchFamily="34" charset="0"/>
                          <a:ea typeface="Calibri" pitchFamily="34" charset="-122"/>
                          <a:cs typeface="Calibri" pitchFamily="34" charset="-120"/>
                        </a:rPr>
                        <a:t>OK</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E6F5F3"/>
                    </a:solidFill>
                  </a:tcPr>
                </a:tc>
                <a:extLst>
                  <a:ext uri="{0D108BD9-81ED-4DB2-BD59-A6C34878D82A}">
                    <a16:rowId xmlns:a16="http://schemas.microsoft.com/office/drawing/2014/main" val="10004"/>
                  </a:ext>
                </a:extLst>
              </a:tr>
            </a:tbl>
          </a:graphicData>
        </a:graphic>
      </p:graphicFrame>
      <p:pic>
        <p:nvPicPr>
          <p:cNvPr id="7" name="Image 0" descr="preencoded.png"/>
          <p:cNvPicPr>
            <a:picLocks noChangeAspect="1"/>
          </p:cNvPicPr>
          <p:nvPr/>
        </p:nvPicPr>
        <p:blipFill>
          <a:blip r:embed="rId3"/>
          <a:stretch>
            <a:fillRect/>
          </a:stretch>
        </p:blipFill>
        <p:spPr>
          <a:xfrm>
            <a:off x="4334764" y="1747012"/>
            <a:ext cx="255015" cy="255015"/>
          </a:xfrm>
          <a:prstGeom prst="rect">
            <a:avLst/>
          </a:prstGeom>
        </p:spPr>
      </p:pic>
      <p:sp>
        <p:nvSpPr>
          <p:cNvPr id="6" name="Text 4"/>
          <p:cNvSpPr/>
          <p:nvPr/>
        </p:nvSpPr>
        <p:spPr>
          <a:xfrm>
            <a:off x="5692140" y="958596"/>
            <a:ext cx="4114800" cy="201168"/>
          </a:xfrm>
          <a:prstGeom prst="rect">
            <a:avLst/>
          </a:prstGeom>
          <a:noFill/>
          <a:ln/>
        </p:spPr>
        <p:txBody>
          <a:bodyPr wrap="square" lIns="0" tIns="0" rIns="0" bIns="0" rtlCol="0" anchor="ctr"/>
          <a:lstStyle/>
          <a:p>
            <a:pPr marL="0" indent="0">
              <a:buNone/>
            </a:pPr>
            <a:r>
              <a:rPr lang="en-US" sz="900" b="1" dirty="0">
                <a:solidFill>
                  <a:srgbClr val="1A2B34"/>
                </a:solidFill>
                <a:latin typeface="Trebuchet MS" pitchFamily="34" charset="0"/>
                <a:ea typeface="Trebuchet MS" pitchFamily="34" charset="-122"/>
                <a:cs typeface="Trebuchet MS" pitchFamily="34" charset="-120"/>
              </a:rPr>
              <a:t>Proposed KPIs (To-Be)</a:t>
            </a:r>
            <a:endParaRPr lang="en-US" sz="900" dirty="0"/>
          </a:p>
        </p:txBody>
      </p:sp>
      <p:graphicFrame>
        <p:nvGraphicFramePr>
          <p:cNvPr id="15" name="Table 1"/>
          <p:cNvGraphicFramePr>
            <a:graphicFrameLocks noGrp="1"/>
          </p:cNvGraphicFramePr>
          <p:nvPr/>
        </p:nvGraphicFramePr>
        <p:xfrm>
          <a:off x="4709160" y="1143000"/>
          <a:ext cx="3749040" cy="1203960"/>
        </p:xfrm>
        <a:graphic>
          <a:graphicData uri="http://schemas.openxmlformats.org/drawingml/2006/table">
            <a:tbl>
              <a:tblPr/>
              <a:tblGrid>
                <a:gridCol w="45720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tblGrid>
              <a:tr h="274320">
                <a:tc>
                  <a:txBody>
                    <a:bodyPr/>
                    <a:lstStyle/>
                    <a:p>
                      <a:pPr marL="0" indent="0" algn="ctr">
                        <a:buNone/>
                      </a:pPr>
                      <a:r>
                        <a:rPr lang="en-US" sz="650" b="1" dirty="0">
                          <a:solidFill>
                            <a:srgbClr val="FFFFFF"/>
                          </a:solidFill>
                          <a:latin typeface="Trebuchet MS" pitchFamily="34" charset="0"/>
                          <a:ea typeface="Trebuchet MS" pitchFamily="34" charset="-122"/>
                          <a:cs typeface="Trebuchet MS" pitchFamily="34" charset="-120"/>
                        </a:rPr>
                        <a:t>ID</a:t>
                      </a:r>
                      <a:endParaRPr lang="en-US" sz="650" dirty="0">
                        <a:latin typeface="Trebuchet MS" charset="0"/>
                        <a:ea typeface="Trebuchet MS" charset="0"/>
                        <a:cs typeface="Trebuchet MS"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0D7377"/>
                    </a:solidFill>
                  </a:tcPr>
                </a:tc>
                <a:tc>
                  <a:txBody>
                    <a:bodyPr/>
                    <a:lstStyle/>
                    <a:p>
                      <a:pPr marL="0" indent="0" algn="ctr">
                        <a:buNone/>
                      </a:pPr>
                      <a:r>
                        <a:rPr lang="en-US" sz="650" b="1" dirty="0">
                          <a:solidFill>
                            <a:srgbClr val="FFFFFF"/>
                          </a:solidFill>
                          <a:latin typeface="Trebuchet MS" pitchFamily="34" charset="0"/>
                          <a:ea typeface="Trebuchet MS" pitchFamily="34" charset="-122"/>
                          <a:cs typeface="Trebuchet MS" pitchFamily="34" charset="-120"/>
                        </a:rPr>
                        <a:t>Order</a:t>
                      </a:r>
                      <a:endParaRPr lang="en-US" sz="650" dirty="0">
                        <a:latin typeface="Trebuchet MS" charset="0"/>
                        <a:ea typeface="Trebuchet MS" charset="0"/>
                        <a:cs typeface="Trebuchet MS" charset="0"/>
                      </a:endParaRPr>
                    </a:p>
                    <a:p>
                      <a:pPr marL="0" indent="0" algn="ctr">
                        <a:buNone/>
                      </a:pPr>
                      <a:r>
                        <a:rPr lang="en-US" sz="650" b="1" dirty="0">
                          <a:solidFill>
                            <a:srgbClr val="FFFFFF"/>
                          </a:solidFill>
                          <a:latin typeface="Trebuchet MS" pitchFamily="34" charset="0"/>
                          <a:ea typeface="Trebuchet MS" pitchFamily="34" charset="-122"/>
                          <a:cs typeface="Trebuchet MS" pitchFamily="34" charset="-120"/>
                        </a:rPr>
                        <a:t>Activity</a:t>
                      </a:r>
                      <a:endParaRPr lang="en-US" sz="650" dirty="0">
                        <a:latin typeface="Trebuchet MS" charset="0"/>
                        <a:ea typeface="Trebuchet MS" charset="0"/>
                        <a:cs typeface="Trebuchet MS"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0D7377"/>
                    </a:solidFill>
                  </a:tcPr>
                </a:tc>
                <a:tc>
                  <a:txBody>
                    <a:bodyPr/>
                    <a:lstStyle/>
                    <a:p>
                      <a:pPr marL="0" indent="0" algn="ctr">
                        <a:buNone/>
                      </a:pPr>
                      <a:r>
                        <a:rPr lang="en-US" sz="650" b="1" dirty="0">
                          <a:solidFill>
                            <a:srgbClr val="FFFFFF"/>
                          </a:solidFill>
                          <a:latin typeface="Trebuchet MS" pitchFamily="34" charset="0"/>
                          <a:ea typeface="Trebuchet MS" pitchFamily="34" charset="-122"/>
                          <a:cs typeface="Trebuchet MS" pitchFamily="34" charset="-120"/>
                        </a:rPr>
                        <a:t>Engage</a:t>
                      </a:r>
                      <a:endParaRPr lang="en-US" sz="650" dirty="0">
                        <a:latin typeface="Trebuchet MS" charset="0"/>
                        <a:ea typeface="Trebuchet MS" charset="0"/>
                        <a:cs typeface="Trebuchet MS" charset="0"/>
                      </a:endParaRPr>
                    </a:p>
                    <a:p>
                      <a:pPr marL="0" indent="0" algn="ctr">
                        <a:buNone/>
                      </a:pPr>
                      <a:r>
                        <a:rPr lang="en-US" sz="650" b="1" dirty="0">
                          <a:solidFill>
                            <a:srgbClr val="FFFFFF"/>
                          </a:solidFill>
                          <a:latin typeface="Trebuchet MS" pitchFamily="34" charset="0"/>
                          <a:ea typeface="Trebuchet MS" pitchFamily="34" charset="-122"/>
                          <a:cs typeface="Trebuchet MS" pitchFamily="34" charset="-120"/>
                        </a:rPr>
                        <a:t>Score</a:t>
                      </a:r>
                      <a:endParaRPr lang="en-US" sz="650" dirty="0">
                        <a:latin typeface="Trebuchet MS" charset="0"/>
                        <a:ea typeface="Trebuchet MS" charset="0"/>
                        <a:cs typeface="Trebuchet MS"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0D7377"/>
                    </a:solidFill>
                  </a:tcPr>
                </a:tc>
                <a:tc>
                  <a:txBody>
                    <a:bodyPr/>
                    <a:lstStyle/>
                    <a:p>
                      <a:pPr marL="0" indent="0" algn="ctr">
                        <a:buNone/>
                      </a:pPr>
                      <a:r>
                        <a:rPr lang="en-US" sz="650" b="1" dirty="0">
                          <a:solidFill>
                            <a:srgbClr val="FFFFFF"/>
                          </a:solidFill>
                          <a:latin typeface="Trebuchet MS" pitchFamily="34" charset="0"/>
                          <a:ea typeface="Trebuchet MS" pitchFamily="34" charset="-122"/>
                          <a:cs typeface="Trebuchet MS" pitchFamily="34" charset="-120"/>
                        </a:rPr>
                        <a:t>CS</a:t>
                      </a:r>
                      <a:endParaRPr lang="en-US" sz="650" dirty="0">
                        <a:latin typeface="Trebuchet MS" charset="0"/>
                        <a:ea typeface="Trebuchet MS" charset="0"/>
                        <a:cs typeface="Trebuchet MS" charset="0"/>
                      </a:endParaRPr>
                    </a:p>
                    <a:p>
                      <a:pPr marL="0" indent="0" algn="ctr">
                        <a:buNone/>
                      </a:pPr>
                      <a:r>
                        <a:rPr lang="en-US" sz="650" b="1" dirty="0">
                          <a:solidFill>
                            <a:srgbClr val="FFFFFF"/>
                          </a:solidFill>
                          <a:latin typeface="Trebuchet MS" pitchFamily="34" charset="0"/>
                          <a:ea typeface="Trebuchet MS" pitchFamily="34" charset="-122"/>
                          <a:cs typeface="Trebuchet MS" pitchFamily="34" charset="-120"/>
                        </a:rPr>
                        <a:t>Recency</a:t>
                      </a:r>
                      <a:endParaRPr lang="en-US" sz="650" dirty="0">
                        <a:latin typeface="Trebuchet MS" charset="0"/>
                        <a:ea typeface="Trebuchet MS" charset="0"/>
                        <a:cs typeface="Trebuchet MS"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0D7377"/>
                    </a:solidFill>
                  </a:tcPr>
                </a:tc>
                <a:tc>
                  <a:txBody>
                    <a:bodyPr/>
                    <a:lstStyle/>
                    <a:p>
                      <a:pPr marL="0" indent="0" algn="ctr">
                        <a:buNone/>
                      </a:pPr>
                      <a:r>
                        <a:rPr lang="en-US" sz="650" b="1" dirty="0">
                          <a:solidFill>
                            <a:srgbClr val="FFFFFF"/>
                          </a:solidFill>
                          <a:latin typeface="Trebuchet MS" pitchFamily="34" charset="0"/>
                          <a:ea typeface="Trebuchet MS" pitchFamily="34" charset="-122"/>
                          <a:cs typeface="Trebuchet MS" pitchFamily="34" charset="-120"/>
                        </a:rPr>
                        <a:t>Health</a:t>
                      </a:r>
                      <a:endParaRPr lang="en-US" sz="650" dirty="0">
                        <a:latin typeface="Trebuchet MS" charset="0"/>
                        <a:ea typeface="Trebuchet MS" charset="0"/>
                        <a:cs typeface="Trebuchet MS" charset="0"/>
                      </a:endParaRPr>
                    </a:p>
                    <a:p>
                      <a:pPr marL="0" indent="0" algn="ctr">
                        <a:buNone/>
                      </a:pPr>
                      <a:r>
                        <a:rPr lang="en-US" sz="650" b="1" dirty="0">
                          <a:solidFill>
                            <a:srgbClr val="FFFFFF"/>
                          </a:solidFill>
                          <a:latin typeface="Trebuchet MS" pitchFamily="34" charset="0"/>
                          <a:ea typeface="Trebuchet MS" pitchFamily="34" charset="-122"/>
                          <a:cs typeface="Trebuchet MS" pitchFamily="34" charset="-120"/>
                        </a:rPr>
                        <a:t>Tier</a:t>
                      </a:r>
                      <a:endParaRPr lang="en-US" sz="650" dirty="0">
                        <a:latin typeface="Trebuchet MS" charset="0"/>
                        <a:ea typeface="Trebuchet MS" charset="0"/>
                        <a:cs typeface="Trebuchet MS"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0D7377"/>
                    </a:solidFill>
                  </a:tcPr>
                </a:tc>
                <a:extLst>
                  <a:ext uri="{0D108BD9-81ED-4DB2-BD59-A6C34878D82A}">
                    <a16:rowId xmlns:a16="http://schemas.microsoft.com/office/drawing/2014/main" val="10000"/>
                  </a:ext>
                </a:extLst>
              </a:tr>
              <a:tr h="228600">
                <a:tc>
                  <a:txBody>
                    <a:bodyPr/>
                    <a:lstStyle/>
                    <a:p>
                      <a:pPr marL="0" indent="0" algn="ctr">
                        <a:buNone/>
                      </a:pPr>
                      <a:r>
                        <a:rPr lang="en-US" sz="700" dirty="0">
                          <a:solidFill>
                            <a:srgbClr val="1A2B34"/>
                          </a:solidFill>
                          <a:latin typeface="Calibri" pitchFamily="34" charset="0"/>
                          <a:ea typeface="Calibri" pitchFamily="34" charset="-122"/>
                          <a:cs typeface="Calibri" pitchFamily="34" charset="-120"/>
                        </a:rPr>
                        <a:t>DR-A</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E85D3A"/>
                          </a:solidFill>
                          <a:latin typeface="Calibri" pitchFamily="34" charset="0"/>
                          <a:ea typeface="Calibri" pitchFamily="34" charset="-122"/>
                          <a:cs typeface="Calibri" pitchFamily="34" charset="-120"/>
                        </a:rPr>
                        <a:t>0</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FDECEA"/>
                    </a:solidFill>
                  </a:tcPr>
                </a:tc>
                <a:tc>
                  <a:txBody>
                    <a:bodyPr/>
                    <a:lstStyle/>
                    <a:p>
                      <a:pPr marL="0" indent="0" algn="ctr">
                        <a:buNone/>
                      </a:pPr>
                      <a:r>
                        <a:rPr lang="en-US" sz="700" dirty="0">
                          <a:solidFill>
                            <a:srgbClr val="E85D3A"/>
                          </a:solidFill>
                          <a:latin typeface="Calibri" pitchFamily="34" charset="0"/>
                          <a:ea typeface="Calibri" pitchFamily="34" charset="-122"/>
                          <a:cs typeface="Calibri" pitchFamily="34" charset="-120"/>
                        </a:rPr>
                        <a:t>Low</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FDECEA"/>
                    </a:solidFill>
                  </a:tcPr>
                </a:tc>
                <a:tc>
                  <a:txBody>
                    <a:bodyPr/>
                    <a:lstStyle/>
                    <a:p>
                      <a:pPr marL="0" indent="0" algn="ctr">
                        <a:buNone/>
                      </a:pPr>
                      <a:r>
                        <a:rPr lang="en-US" sz="700" b="1" dirty="0">
                          <a:solidFill>
                            <a:srgbClr val="E85D3A"/>
                          </a:solidFill>
                          <a:latin typeface="Calibri" pitchFamily="34" charset="0"/>
                          <a:ea typeface="Calibri" pitchFamily="34" charset="-122"/>
                          <a:cs typeface="Calibri" pitchFamily="34" charset="-120"/>
                        </a:rPr>
                        <a:t>90+ days</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FDECEA"/>
                    </a:solidFill>
                  </a:tcPr>
                </a:tc>
                <a:tc>
                  <a:txBody>
                    <a:bodyPr/>
                    <a:lstStyle/>
                    <a:p>
                      <a:pPr marL="0" indent="0" algn="ctr">
                        <a:buNone/>
                      </a:pPr>
                      <a:r>
                        <a:rPr lang="en-US" sz="700" b="1" dirty="0">
                          <a:solidFill>
                            <a:srgbClr val="E85D3A"/>
                          </a:solidFill>
                          <a:latin typeface="Calibri" pitchFamily="34" charset="0"/>
                          <a:ea typeface="Calibri" pitchFamily="34" charset="-122"/>
                          <a:cs typeface="Calibri" pitchFamily="34" charset="-120"/>
                        </a:rPr>
                        <a:t>Critical</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FDECEA"/>
                    </a:solidFill>
                  </a:tcPr>
                </a:tc>
                <a:extLst>
                  <a:ext uri="{0D108BD9-81ED-4DB2-BD59-A6C34878D82A}">
                    <a16:rowId xmlns:a16="http://schemas.microsoft.com/office/drawing/2014/main" val="10001"/>
                  </a:ext>
                </a:extLst>
              </a:tr>
              <a:tr h="228600">
                <a:tc>
                  <a:txBody>
                    <a:bodyPr/>
                    <a:lstStyle/>
                    <a:p>
                      <a:pPr marL="0" indent="0" algn="ctr">
                        <a:buNone/>
                      </a:pPr>
                      <a:r>
                        <a:rPr lang="en-US" sz="700" dirty="0">
                          <a:solidFill>
                            <a:srgbClr val="1A2B34"/>
                          </a:solidFill>
                          <a:latin typeface="Calibri" pitchFamily="34" charset="0"/>
                          <a:ea typeface="Calibri" pitchFamily="34" charset="-122"/>
                          <a:cs typeface="Calibri" pitchFamily="34" charset="-120"/>
                        </a:rPr>
                        <a:t>DR-B</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E6F5F3"/>
                    </a:solidFill>
                  </a:tcPr>
                </a:tc>
                <a:tc>
                  <a:txBody>
                    <a:bodyPr/>
                    <a:lstStyle/>
                    <a:p>
                      <a:pPr marL="0" indent="0" algn="ctr">
                        <a:buNone/>
                      </a:pPr>
                      <a:r>
                        <a:rPr lang="en-US" sz="700" b="1" dirty="0">
                          <a:solidFill>
                            <a:srgbClr val="0D7377"/>
                          </a:solidFill>
                          <a:latin typeface="Calibri" pitchFamily="34" charset="0"/>
                          <a:ea typeface="Calibri" pitchFamily="34" charset="-122"/>
                          <a:cs typeface="Calibri" pitchFamily="34" charset="-120"/>
                        </a:rPr>
                        <a:t>18 (+8%)</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E6F5F3"/>
                    </a:solidFill>
                  </a:tcPr>
                </a:tc>
                <a:tc>
                  <a:txBody>
                    <a:bodyPr/>
                    <a:lstStyle/>
                    <a:p>
                      <a:pPr marL="0" indent="0" algn="ctr">
                        <a:buNone/>
                      </a:pPr>
                      <a:r>
                        <a:rPr lang="en-US" sz="700" dirty="0">
                          <a:solidFill>
                            <a:srgbClr val="0D7377"/>
                          </a:solidFill>
                          <a:latin typeface="Calibri" pitchFamily="34" charset="0"/>
                          <a:ea typeface="Calibri" pitchFamily="34" charset="-122"/>
                          <a:cs typeface="Calibri" pitchFamily="34" charset="-120"/>
                        </a:rPr>
                        <a:t>High</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E6F5F3"/>
                    </a:solidFill>
                  </a:tcPr>
                </a:tc>
                <a:tc>
                  <a:txBody>
                    <a:bodyPr/>
                    <a:lstStyle/>
                    <a:p>
                      <a:pPr marL="0" indent="0" algn="ctr">
                        <a:buNone/>
                      </a:pPr>
                      <a:r>
                        <a:rPr lang="en-US" sz="700" dirty="0">
                          <a:solidFill>
                            <a:srgbClr val="1A2B34"/>
                          </a:solidFill>
                          <a:latin typeface="Calibri" pitchFamily="34" charset="0"/>
                          <a:ea typeface="Calibri" pitchFamily="34" charset="-122"/>
                          <a:cs typeface="Calibri" pitchFamily="34" charset="-120"/>
                        </a:rPr>
                        <a:t>7 days</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E6F5F3"/>
                    </a:solidFill>
                  </a:tcPr>
                </a:tc>
                <a:tc>
                  <a:txBody>
                    <a:bodyPr/>
                    <a:lstStyle/>
                    <a:p>
                      <a:pPr marL="0" indent="0" algn="ctr">
                        <a:buNone/>
                      </a:pPr>
                      <a:r>
                        <a:rPr lang="en-US" sz="700" b="1" dirty="0">
                          <a:solidFill>
                            <a:srgbClr val="0D7377"/>
                          </a:solidFill>
                          <a:latin typeface="Calibri" pitchFamily="34" charset="0"/>
                          <a:ea typeface="Calibri" pitchFamily="34" charset="-122"/>
                          <a:cs typeface="Calibri" pitchFamily="34" charset="-120"/>
                        </a:rPr>
                        <a:t>Healthy</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E6F5F3"/>
                    </a:solidFill>
                  </a:tcPr>
                </a:tc>
                <a:extLst>
                  <a:ext uri="{0D108BD9-81ED-4DB2-BD59-A6C34878D82A}">
                    <a16:rowId xmlns:a16="http://schemas.microsoft.com/office/drawing/2014/main" val="10002"/>
                  </a:ext>
                </a:extLst>
              </a:tr>
              <a:tr h="228600">
                <a:tc>
                  <a:txBody>
                    <a:bodyPr/>
                    <a:lstStyle/>
                    <a:p>
                      <a:pPr marL="0" indent="0" algn="ctr">
                        <a:buNone/>
                      </a:pPr>
                      <a:r>
                        <a:rPr lang="en-US" sz="700" dirty="0">
                          <a:solidFill>
                            <a:srgbClr val="1A2B34"/>
                          </a:solidFill>
                          <a:latin typeface="Calibri" pitchFamily="34" charset="0"/>
                          <a:ea typeface="Calibri" pitchFamily="34" charset="-122"/>
                          <a:cs typeface="Calibri" pitchFamily="34" charset="-120"/>
                        </a:rPr>
                        <a:t>DR-C</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D4A843"/>
                          </a:solidFill>
                          <a:latin typeface="Calibri" pitchFamily="34" charset="0"/>
                          <a:ea typeface="Calibri" pitchFamily="34" charset="-122"/>
                          <a:cs typeface="Calibri" pitchFamily="34" charset="-120"/>
                        </a:rPr>
                        <a:t>12 (−15%)</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D4A843"/>
                          </a:solidFill>
                          <a:latin typeface="Calibri" pitchFamily="34" charset="0"/>
                          <a:ea typeface="Calibri" pitchFamily="34" charset="-122"/>
                          <a:cs typeface="Calibri" pitchFamily="34" charset="-120"/>
                        </a:rPr>
                        <a:t>Low</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FFF8E1"/>
                    </a:solidFill>
                  </a:tcPr>
                </a:tc>
                <a:tc>
                  <a:txBody>
                    <a:bodyPr/>
                    <a:lstStyle/>
                    <a:p>
                      <a:pPr marL="0" indent="0" algn="ctr">
                        <a:buNone/>
                      </a:pPr>
                      <a:r>
                        <a:rPr lang="en-US" sz="700" b="1" dirty="0">
                          <a:solidFill>
                            <a:srgbClr val="D4A843"/>
                          </a:solidFill>
                          <a:latin typeface="Calibri" pitchFamily="34" charset="0"/>
                          <a:ea typeface="Calibri" pitchFamily="34" charset="-122"/>
                          <a:cs typeface="Calibri" pitchFamily="34" charset="-120"/>
                        </a:rPr>
                        <a:t>60+ days</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FFF8E1"/>
                    </a:solidFill>
                  </a:tcPr>
                </a:tc>
                <a:tc>
                  <a:txBody>
                    <a:bodyPr/>
                    <a:lstStyle/>
                    <a:p>
                      <a:pPr marL="0" indent="0" algn="ctr">
                        <a:buNone/>
                      </a:pPr>
                      <a:r>
                        <a:rPr lang="en-US" sz="700" b="1" dirty="0">
                          <a:solidFill>
                            <a:srgbClr val="D4A843"/>
                          </a:solidFill>
                          <a:latin typeface="Calibri" pitchFamily="34" charset="0"/>
                          <a:ea typeface="Calibri" pitchFamily="34" charset="-122"/>
                          <a:cs typeface="Calibri" pitchFamily="34" charset="-120"/>
                        </a:rPr>
                        <a:t>At Risk</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FFF8E1"/>
                    </a:solidFill>
                  </a:tcPr>
                </a:tc>
                <a:extLst>
                  <a:ext uri="{0D108BD9-81ED-4DB2-BD59-A6C34878D82A}">
                    <a16:rowId xmlns:a16="http://schemas.microsoft.com/office/drawing/2014/main" val="10003"/>
                  </a:ext>
                </a:extLst>
              </a:tr>
              <a:tr h="228600">
                <a:tc>
                  <a:txBody>
                    <a:bodyPr/>
                    <a:lstStyle/>
                    <a:p>
                      <a:pPr marL="0" indent="0" algn="ctr">
                        <a:buNone/>
                      </a:pPr>
                      <a:r>
                        <a:rPr lang="en-US" sz="700" dirty="0">
                          <a:solidFill>
                            <a:srgbClr val="1A2B34"/>
                          </a:solidFill>
                          <a:latin typeface="Calibri" pitchFamily="34" charset="0"/>
                          <a:ea typeface="Calibri" pitchFamily="34" charset="-122"/>
                          <a:cs typeface="Calibri" pitchFamily="34" charset="-120"/>
                        </a:rPr>
                        <a:t>DR-D</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E6F5F3"/>
                    </a:solidFill>
                  </a:tcPr>
                </a:tc>
                <a:tc>
                  <a:txBody>
                    <a:bodyPr/>
                    <a:lstStyle/>
                    <a:p>
                      <a:pPr marL="0" indent="0" algn="ctr">
                        <a:buNone/>
                      </a:pPr>
                      <a:r>
                        <a:rPr lang="en-US" sz="700" dirty="0">
                          <a:solidFill>
                            <a:srgbClr val="1A2B34"/>
                          </a:solidFill>
                          <a:latin typeface="Calibri" pitchFamily="34" charset="0"/>
                          <a:ea typeface="Calibri" pitchFamily="34" charset="-122"/>
                          <a:cs typeface="Calibri" pitchFamily="34" charset="-120"/>
                        </a:rPr>
                        <a:t>12 (−5%)</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E6F5F3"/>
                    </a:solidFill>
                  </a:tcPr>
                </a:tc>
                <a:tc>
                  <a:txBody>
                    <a:bodyPr/>
                    <a:lstStyle/>
                    <a:p>
                      <a:pPr marL="0" indent="0" algn="ctr">
                        <a:buNone/>
                      </a:pPr>
                      <a:r>
                        <a:rPr lang="en-US" sz="700" dirty="0">
                          <a:solidFill>
                            <a:srgbClr val="1A2B34"/>
                          </a:solidFill>
                          <a:latin typeface="Calibri" pitchFamily="34" charset="0"/>
                          <a:ea typeface="Calibri" pitchFamily="34" charset="-122"/>
                          <a:cs typeface="Calibri" pitchFamily="34" charset="-120"/>
                        </a:rPr>
                        <a:t>Medium</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E6F5F3"/>
                    </a:solidFill>
                  </a:tcPr>
                </a:tc>
                <a:tc>
                  <a:txBody>
                    <a:bodyPr/>
                    <a:lstStyle/>
                    <a:p>
                      <a:pPr marL="0" indent="0" algn="ctr">
                        <a:buNone/>
                      </a:pPr>
                      <a:r>
                        <a:rPr lang="en-US" sz="700" dirty="0">
                          <a:solidFill>
                            <a:srgbClr val="1A2B34"/>
                          </a:solidFill>
                          <a:latin typeface="Calibri" pitchFamily="34" charset="0"/>
                          <a:ea typeface="Calibri" pitchFamily="34" charset="-122"/>
                          <a:cs typeface="Calibri" pitchFamily="34" charset="-120"/>
                        </a:rPr>
                        <a:t>25 days</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E6F5F3"/>
                    </a:solidFill>
                  </a:tcPr>
                </a:tc>
                <a:tc>
                  <a:txBody>
                    <a:bodyPr/>
                    <a:lstStyle/>
                    <a:p>
                      <a:pPr marL="0" indent="0" algn="ctr">
                        <a:buNone/>
                      </a:pPr>
                      <a:r>
                        <a:rPr lang="en-US" sz="700" b="1" dirty="0">
                          <a:solidFill>
                            <a:srgbClr val="14A3A8"/>
                          </a:solidFill>
                          <a:latin typeface="Calibri" pitchFamily="34" charset="0"/>
                          <a:ea typeface="Calibri" pitchFamily="34" charset="-122"/>
                          <a:cs typeface="Calibri" pitchFamily="34" charset="-120"/>
                        </a:rPr>
                        <a:t>Watch</a:t>
                      </a:r>
                      <a:endParaRPr lang="en-US" sz="700" dirty="0">
                        <a:latin typeface="Calibri" charset="0"/>
                        <a:ea typeface="Calibri" charset="0"/>
                        <a:cs typeface="Calibri" charset="0"/>
                      </a:endParaRPr>
                    </a:p>
                  </a:txBody>
                  <a:tcPr>
                    <a:lnL w="5080" cap="flat" cmpd="sng" algn="ctr">
                      <a:solidFill>
                        <a:srgbClr val="D1E5E0"/>
                      </a:solidFill>
                      <a:prstDash val="solid"/>
                      <a:round/>
                      <a:headEnd type="none" w="med" len="med"/>
                      <a:tailEnd type="none" w="med" len="med"/>
                    </a:lnL>
                    <a:lnR w="5080" cap="flat" cmpd="sng" algn="ctr">
                      <a:solidFill>
                        <a:srgbClr val="D1E5E0"/>
                      </a:solidFill>
                      <a:prstDash val="solid"/>
                      <a:round/>
                      <a:headEnd type="none" w="med" len="med"/>
                      <a:tailEnd type="none" w="med" len="med"/>
                    </a:lnR>
                    <a:lnT w="5080" cap="flat" cmpd="sng" algn="ctr">
                      <a:solidFill>
                        <a:srgbClr val="D1E5E0"/>
                      </a:solidFill>
                      <a:prstDash val="solid"/>
                      <a:round/>
                      <a:headEnd type="none" w="med" len="med"/>
                      <a:tailEnd type="none" w="med" len="med"/>
                    </a:lnT>
                    <a:lnB w="5080" cap="flat" cmpd="sng" algn="ctr">
                      <a:solidFill>
                        <a:srgbClr val="D1E5E0"/>
                      </a:solidFill>
                      <a:prstDash val="solid"/>
                      <a:round/>
                      <a:headEnd type="none" w="med" len="med"/>
                      <a:tailEnd type="none" w="med" len="med"/>
                    </a:lnB>
                    <a:solidFill>
                      <a:srgbClr val="E6F5F3"/>
                    </a:solidFill>
                  </a:tcPr>
                </a:tc>
                <a:extLst>
                  <a:ext uri="{0D108BD9-81ED-4DB2-BD59-A6C34878D82A}">
                    <a16:rowId xmlns:a16="http://schemas.microsoft.com/office/drawing/2014/main" val="10004"/>
                  </a:ext>
                </a:extLst>
              </a:tr>
            </a:tbl>
          </a:graphicData>
        </a:graphic>
      </p:graphicFrame>
      <p:sp>
        <p:nvSpPr>
          <p:cNvPr id="10" name="Shape 5"/>
          <p:cNvSpPr/>
          <p:nvPr/>
        </p:nvSpPr>
        <p:spPr>
          <a:xfrm>
            <a:off x="274320" y="2514600"/>
            <a:ext cx="4251960" cy="777240"/>
          </a:xfrm>
          <a:prstGeom prst="rect">
            <a:avLst/>
          </a:prstGeom>
          <a:solidFill>
            <a:srgbClr val="FDECEA"/>
          </a:solidFill>
          <a:ln w="6350">
            <a:solidFill>
              <a:srgbClr val="E85D3A"/>
            </a:solidFill>
            <a:prstDash val="solid"/>
          </a:ln>
        </p:spPr>
        <p:txBody>
          <a:bodyPr/>
          <a:lstStyle/>
          <a:p>
            <a:endParaRPr lang="en-US"/>
          </a:p>
        </p:txBody>
      </p:sp>
      <p:sp>
        <p:nvSpPr>
          <p:cNvPr id="11" name="Text 6"/>
          <p:cNvSpPr/>
          <p:nvPr/>
        </p:nvSpPr>
        <p:spPr>
          <a:xfrm>
            <a:off x="384048" y="2542032"/>
            <a:ext cx="4023360" cy="713232"/>
          </a:xfrm>
          <a:prstGeom prst="rect">
            <a:avLst/>
          </a:prstGeom>
          <a:noFill/>
          <a:ln/>
        </p:spPr>
        <p:txBody>
          <a:bodyPr wrap="square" lIns="0" tIns="0" rIns="0" bIns="0" rtlCol="0" anchor="t"/>
          <a:lstStyle/>
          <a:p>
            <a:pPr>
              <a:lnSpc>
                <a:spcPct val="120000"/>
              </a:lnSpc>
            </a:pPr>
            <a:r>
              <a:rPr lang="en-US" sz="850" b="1" dirty="0">
                <a:solidFill>
                  <a:srgbClr val="E85D3A"/>
                </a:solidFill>
                <a:latin typeface="Trebuchet MS" pitchFamily="34" charset="0"/>
                <a:ea typeface="Trebuchet MS" pitchFamily="34" charset="-122"/>
                <a:cs typeface="Trebuchet MS" pitchFamily="34" charset="-120"/>
              </a:rPr>
              <a:t xml:space="preserve">DR-A: </a:t>
            </a:r>
            <a:r>
              <a:rPr lang="en-US" sz="800" dirty="0">
                <a:solidFill>
                  <a:srgbClr val="4A6572"/>
                </a:solidFill>
                <a:latin typeface="Calibri" pitchFamily="34" charset="0"/>
                <a:ea typeface="Calibri" pitchFamily="34" charset="-122"/>
                <a:cs typeface="Calibri" pitchFamily="34" charset="-120"/>
              </a:rPr>
              <a:t xml:space="preserve">Labeled Active, but zero samples and zero email engagement. 45 portal logins with no orders </a:t>
            </a:r>
            <a:r>
              <a:rPr lang="en-US" sz="800" dirty="0">
                <a:solidFill>
                  <a:srgbClr val="4A6572"/>
                </a:solidFill>
                <a:latin typeface="Calibri" pitchFamily="34" charset="0"/>
                <a:cs typeface="Calibri" pitchFamily="34" charset="-120"/>
              </a:rPr>
              <a:t xml:space="preserve">may indicate ordering friction or another disconnect between engagement and conversion. </a:t>
            </a:r>
            <a:r>
              <a:rPr lang="en-US" sz="800" dirty="0">
                <a:solidFill>
                  <a:srgbClr val="4A6572"/>
                </a:solidFill>
                <a:latin typeface="Calibri" pitchFamily="34" charset="0"/>
                <a:ea typeface="Calibri" pitchFamily="34" charset="-122"/>
                <a:cs typeface="Calibri" pitchFamily="34" charset="-120"/>
              </a:rPr>
              <a:t xml:space="preserve">CS should be asking: what could be blocking this users ability to place an order? </a:t>
            </a:r>
            <a:endParaRPr lang="en-US" sz="850" dirty="0"/>
          </a:p>
        </p:txBody>
      </p:sp>
      <p:sp>
        <p:nvSpPr>
          <p:cNvPr id="12" name="Shape 7"/>
          <p:cNvSpPr/>
          <p:nvPr/>
        </p:nvSpPr>
        <p:spPr>
          <a:xfrm>
            <a:off x="4709160" y="2514600"/>
            <a:ext cx="4160520" cy="777240"/>
          </a:xfrm>
          <a:prstGeom prst="rect">
            <a:avLst/>
          </a:prstGeom>
          <a:solidFill>
            <a:srgbClr val="FFF8E1"/>
          </a:solidFill>
          <a:ln w="6350">
            <a:solidFill>
              <a:srgbClr val="D4A843"/>
            </a:solidFill>
            <a:prstDash val="solid"/>
          </a:ln>
        </p:spPr>
        <p:txBody>
          <a:bodyPr/>
          <a:lstStyle/>
          <a:p>
            <a:endParaRPr lang="en-US" dirty="0"/>
          </a:p>
        </p:txBody>
      </p:sp>
      <p:sp>
        <p:nvSpPr>
          <p:cNvPr id="13" name="Text 8"/>
          <p:cNvSpPr/>
          <p:nvPr/>
        </p:nvSpPr>
        <p:spPr>
          <a:xfrm>
            <a:off x="4818888" y="2542032"/>
            <a:ext cx="3931920" cy="713232"/>
          </a:xfrm>
          <a:prstGeom prst="rect">
            <a:avLst/>
          </a:prstGeom>
          <a:noFill/>
          <a:ln/>
        </p:spPr>
        <p:txBody>
          <a:bodyPr wrap="square" lIns="0" tIns="0" rIns="0" bIns="0" rtlCol="0" anchor="t"/>
          <a:lstStyle/>
          <a:p>
            <a:pPr>
              <a:lnSpc>
                <a:spcPct val="120000"/>
              </a:lnSpc>
            </a:pPr>
            <a:r>
              <a:rPr lang="en-US" sz="850" b="1" dirty="0">
                <a:solidFill>
                  <a:srgbClr val="D4A843"/>
                </a:solidFill>
                <a:latin typeface="Trebuchet MS" pitchFamily="34" charset="0"/>
                <a:ea typeface="Trebuchet MS" pitchFamily="34" charset="-122"/>
                <a:cs typeface="Trebuchet MS" pitchFamily="34" charset="-120"/>
              </a:rPr>
              <a:t xml:space="preserve">DR-C: </a:t>
            </a:r>
            <a:r>
              <a:rPr lang="en-US" sz="800" dirty="0">
                <a:solidFill>
                  <a:srgbClr val="4A6572"/>
                </a:solidFill>
                <a:latin typeface="Calibri" pitchFamily="34" charset="0"/>
                <a:ea typeface="Calibri" pitchFamily="34" charset="-122"/>
                <a:cs typeface="Calibri" pitchFamily="34" charset="-120"/>
              </a:rPr>
              <a:t xml:space="preserve">Labeled inactive, sent 12 samples and generates revenue. </a:t>
            </a:r>
            <a:r>
              <a:rPr lang="en-US" sz="800" dirty="0">
                <a:solidFill>
                  <a:srgbClr val="4A6572"/>
                </a:solidFill>
                <a:latin typeface="Calibri" pitchFamily="34" charset="0"/>
                <a:cs typeface="Calibri" pitchFamily="34" charset="-120"/>
              </a:rPr>
              <a:t xml:space="preserve">May be under prioritized if the team relies too heavily on CRM status alone. </a:t>
            </a:r>
            <a:r>
              <a:rPr lang="en-US" sz="800" dirty="0">
                <a:solidFill>
                  <a:srgbClr val="4A6572"/>
                </a:solidFill>
                <a:latin typeface="Calibri" pitchFamily="34" charset="0"/>
                <a:ea typeface="Calibri" pitchFamily="34" charset="-122"/>
                <a:cs typeface="Calibri" pitchFamily="34" charset="-120"/>
              </a:rPr>
              <a:t xml:space="preserve">Proactive outreach for portal onboarding. </a:t>
            </a:r>
          </a:p>
          <a:p>
            <a:pPr>
              <a:lnSpc>
                <a:spcPct val="120000"/>
              </a:lnSpc>
            </a:pPr>
            <a:endParaRPr lang="en-US" sz="850" dirty="0">
              <a:solidFill>
                <a:srgbClr val="4A6572"/>
              </a:solidFill>
              <a:latin typeface="Calibri" pitchFamily="34" charset="0"/>
              <a:cs typeface="Calibri" pitchFamily="34" charset="-120"/>
            </a:endParaRPr>
          </a:p>
          <a:p>
            <a:pPr>
              <a:lnSpc>
                <a:spcPct val="120000"/>
              </a:lnSpc>
            </a:pPr>
            <a:endParaRPr lang="en-US" sz="800" dirty="0">
              <a:solidFill>
                <a:srgbClr val="4A6572"/>
              </a:solidFill>
              <a:latin typeface="Calibri" pitchFamily="34" charset="0"/>
              <a:cs typeface="Calibri" pitchFamily="34" charset="-120"/>
            </a:endParaRPr>
          </a:p>
        </p:txBody>
      </p:sp>
      <p:sp>
        <p:nvSpPr>
          <p:cNvPr id="14" name="Shape 9"/>
          <p:cNvSpPr/>
          <p:nvPr/>
        </p:nvSpPr>
        <p:spPr>
          <a:xfrm>
            <a:off x="274320" y="3429000"/>
            <a:ext cx="8595360" cy="256032"/>
          </a:xfrm>
          <a:prstGeom prst="rect">
            <a:avLst/>
          </a:prstGeom>
          <a:solidFill>
            <a:srgbClr val="0D7377"/>
          </a:solidFill>
          <a:ln/>
        </p:spPr>
        <p:txBody>
          <a:bodyPr/>
          <a:lstStyle/>
          <a:p>
            <a:endParaRPr lang="en-US"/>
          </a:p>
        </p:txBody>
      </p:sp>
      <p:sp>
        <p:nvSpPr>
          <p:cNvPr id="9" name="Text 10"/>
          <p:cNvSpPr/>
          <p:nvPr/>
        </p:nvSpPr>
        <p:spPr>
          <a:xfrm>
            <a:off x="457200" y="3447288"/>
            <a:ext cx="7315200" cy="219456"/>
          </a:xfrm>
          <a:prstGeom prst="rect">
            <a:avLst/>
          </a:prstGeom>
          <a:noFill/>
          <a:ln/>
        </p:spPr>
        <p:txBody>
          <a:bodyPr wrap="square" lIns="0" tIns="0" rIns="0" bIns="0" rtlCol="0" anchor="ctr"/>
          <a:lstStyle/>
          <a:p>
            <a:pPr marL="0" indent="0">
              <a:buNone/>
            </a:pPr>
            <a:r>
              <a:rPr lang="en-US" sz="1000" b="1" dirty="0">
                <a:solidFill>
                  <a:srgbClr val="FFFFFF"/>
                </a:solidFill>
                <a:latin typeface="Trebuchet MS" pitchFamily="34" charset="0"/>
                <a:ea typeface="Trebuchet MS" pitchFamily="34" charset="-122"/>
                <a:cs typeface="Trebuchet MS" pitchFamily="34" charset="-120"/>
              </a:rPr>
              <a:t>Four Key New KPI Definitions, What Each New KPI Measures</a:t>
            </a:r>
            <a:endParaRPr lang="en-US" sz="1000" dirty="0"/>
          </a:p>
        </p:txBody>
      </p:sp>
      <p:sp>
        <p:nvSpPr>
          <p:cNvPr id="16" name="Shape 11"/>
          <p:cNvSpPr/>
          <p:nvPr/>
        </p:nvSpPr>
        <p:spPr>
          <a:xfrm>
            <a:off x="274320" y="3776472"/>
            <a:ext cx="2057400" cy="685800"/>
          </a:xfrm>
          <a:prstGeom prst="rect">
            <a:avLst/>
          </a:prstGeom>
          <a:solidFill>
            <a:srgbClr val="FFFFFF"/>
          </a:solidFill>
          <a:ln/>
          <a:effectLst>
            <a:outerShdw blurRad="63500" dist="25400" dir="8100000" algn="bl" rotWithShape="0">
              <a:srgbClr val="000000">
                <a:alpha val="8000"/>
              </a:srgbClr>
            </a:outerShdw>
          </a:effectLst>
        </p:spPr>
        <p:txBody>
          <a:bodyPr/>
          <a:lstStyle/>
          <a:p>
            <a:endParaRPr lang="en-US"/>
          </a:p>
        </p:txBody>
      </p:sp>
      <p:sp>
        <p:nvSpPr>
          <p:cNvPr id="17" name="Shape 12"/>
          <p:cNvSpPr/>
          <p:nvPr/>
        </p:nvSpPr>
        <p:spPr>
          <a:xfrm>
            <a:off x="274320" y="3776472"/>
            <a:ext cx="2057400" cy="45720"/>
          </a:xfrm>
          <a:prstGeom prst="rect">
            <a:avLst/>
          </a:prstGeom>
          <a:solidFill>
            <a:srgbClr val="0D7377"/>
          </a:solidFill>
          <a:ln/>
        </p:spPr>
        <p:txBody>
          <a:bodyPr/>
          <a:lstStyle/>
          <a:p>
            <a:endParaRPr lang="en-US"/>
          </a:p>
        </p:txBody>
      </p:sp>
      <p:sp>
        <p:nvSpPr>
          <p:cNvPr id="18" name="Text 13"/>
          <p:cNvSpPr/>
          <p:nvPr/>
        </p:nvSpPr>
        <p:spPr>
          <a:xfrm>
            <a:off x="347472" y="3840480"/>
            <a:ext cx="1920240" cy="182880"/>
          </a:xfrm>
          <a:prstGeom prst="rect">
            <a:avLst/>
          </a:prstGeom>
          <a:noFill/>
          <a:ln/>
        </p:spPr>
        <p:txBody>
          <a:bodyPr wrap="square" lIns="0" tIns="0" rIns="0" bIns="0" rtlCol="0" anchor="ctr"/>
          <a:lstStyle/>
          <a:p>
            <a:pPr marL="0" indent="0">
              <a:buNone/>
            </a:pPr>
            <a:r>
              <a:rPr lang="en-US" sz="800" b="1" dirty="0">
                <a:solidFill>
                  <a:srgbClr val="1A2B34"/>
                </a:solidFill>
                <a:latin typeface="Trebuchet MS" pitchFamily="34" charset="0"/>
                <a:ea typeface="Trebuchet MS" pitchFamily="34" charset="-122"/>
                <a:cs typeface="Trebuchet MS" pitchFamily="34" charset="-120"/>
              </a:rPr>
              <a:t>Order Activity Score</a:t>
            </a:r>
            <a:endParaRPr lang="en-US" sz="800" dirty="0"/>
          </a:p>
        </p:txBody>
      </p:sp>
      <p:sp>
        <p:nvSpPr>
          <p:cNvPr id="19" name="Text 14"/>
          <p:cNvSpPr/>
          <p:nvPr/>
        </p:nvSpPr>
        <p:spPr>
          <a:xfrm>
            <a:off x="347472" y="4041648"/>
            <a:ext cx="1920240" cy="384048"/>
          </a:xfrm>
          <a:prstGeom prst="rect">
            <a:avLst/>
          </a:prstGeom>
          <a:noFill/>
          <a:ln/>
        </p:spPr>
        <p:txBody>
          <a:bodyPr wrap="square" lIns="0" tIns="0" rIns="0" bIns="0" rtlCol="0" anchor="t"/>
          <a:lstStyle/>
          <a:p>
            <a:pPr marL="0" indent="0">
              <a:lnSpc>
                <a:spcPct val="120000"/>
              </a:lnSpc>
              <a:buNone/>
            </a:pPr>
            <a:r>
              <a:rPr lang="en-US" sz="700" dirty="0">
                <a:solidFill>
                  <a:srgbClr val="4A6572"/>
                </a:solidFill>
                <a:latin typeface="Calibri" pitchFamily="34" charset="0"/>
                <a:ea typeface="Calibri" pitchFamily="34" charset="-122"/>
                <a:cs typeface="Calibri" pitchFamily="34" charset="-120"/>
              </a:rPr>
              <a:t>Test orders in last 30 days + MoM % change. Measures actual commercial value to the organization.</a:t>
            </a:r>
            <a:endParaRPr lang="en-US" sz="700" dirty="0"/>
          </a:p>
        </p:txBody>
      </p:sp>
      <p:sp>
        <p:nvSpPr>
          <p:cNvPr id="20" name="Shape 15"/>
          <p:cNvSpPr/>
          <p:nvPr/>
        </p:nvSpPr>
        <p:spPr>
          <a:xfrm>
            <a:off x="2468880" y="3776472"/>
            <a:ext cx="2057400" cy="685800"/>
          </a:xfrm>
          <a:prstGeom prst="rect">
            <a:avLst/>
          </a:prstGeom>
          <a:solidFill>
            <a:srgbClr val="FFFFFF"/>
          </a:solidFill>
          <a:ln/>
          <a:effectLst>
            <a:outerShdw blurRad="63500" dist="25400" dir="8100000" algn="bl" rotWithShape="0">
              <a:srgbClr val="000000">
                <a:alpha val="8000"/>
              </a:srgbClr>
            </a:outerShdw>
          </a:effectLst>
        </p:spPr>
        <p:txBody>
          <a:bodyPr/>
          <a:lstStyle/>
          <a:p>
            <a:endParaRPr lang="en-US"/>
          </a:p>
        </p:txBody>
      </p:sp>
      <p:sp>
        <p:nvSpPr>
          <p:cNvPr id="21" name="Shape 16"/>
          <p:cNvSpPr/>
          <p:nvPr/>
        </p:nvSpPr>
        <p:spPr>
          <a:xfrm>
            <a:off x="2468880" y="3776472"/>
            <a:ext cx="2057400" cy="45720"/>
          </a:xfrm>
          <a:prstGeom prst="rect">
            <a:avLst/>
          </a:prstGeom>
          <a:solidFill>
            <a:srgbClr val="14A3A8"/>
          </a:solidFill>
          <a:ln/>
        </p:spPr>
        <p:txBody>
          <a:bodyPr/>
          <a:lstStyle/>
          <a:p>
            <a:endParaRPr lang="en-US"/>
          </a:p>
        </p:txBody>
      </p:sp>
      <p:sp>
        <p:nvSpPr>
          <p:cNvPr id="22" name="Text 17"/>
          <p:cNvSpPr/>
          <p:nvPr/>
        </p:nvSpPr>
        <p:spPr>
          <a:xfrm>
            <a:off x="2542032" y="3840480"/>
            <a:ext cx="1920240" cy="182880"/>
          </a:xfrm>
          <a:prstGeom prst="rect">
            <a:avLst/>
          </a:prstGeom>
          <a:noFill/>
          <a:ln/>
        </p:spPr>
        <p:txBody>
          <a:bodyPr wrap="square" lIns="0" tIns="0" rIns="0" bIns="0" rtlCol="0" anchor="ctr"/>
          <a:lstStyle/>
          <a:p>
            <a:pPr marL="0" indent="0">
              <a:buNone/>
            </a:pPr>
            <a:r>
              <a:rPr lang="en-US" sz="800" b="1" dirty="0">
                <a:solidFill>
                  <a:srgbClr val="1A2B34"/>
                </a:solidFill>
                <a:latin typeface="Trebuchet MS" pitchFamily="34" charset="0"/>
                <a:ea typeface="Trebuchet MS" pitchFamily="34" charset="-122"/>
                <a:cs typeface="Trebuchet MS" pitchFamily="34" charset="-120"/>
              </a:rPr>
              <a:t>Engagement Score</a:t>
            </a:r>
            <a:endParaRPr lang="en-US" sz="800" dirty="0"/>
          </a:p>
        </p:txBody>
      </p:sp>
      <p:sp>
        <p:nvSpPr>
          <p:cNvPr id="23" name="Text 18"/>
          <p:cNvSpPr/>
          <p:nvPr/>
        </p:nvSpPr>
        <p:spPr>
          <a:xfrm>
            <a:off x="2542032" y="4041648"/>
            <a:ext cx="1920240" cy="384048"/>
          </a:xfrm>
          <a:prstGeom prst="rect">
            <a:avLst/>
          </a:prstGeom>
          <a:noFill/>
          <a:ln/>
        </p:spPr>
        <p:txBody>
          <a:bodyPr wrap="square" lIns="0" tIns="0" rIns="0" bIns="0" rtlCol="0" anchor="t"/>
          <a:lstStyle/>
          <a:p>
            <a:pPr marL="0" indent="0">
              <a:lnSpc>
                <a:spcPct val="120000"/>
              </a:lnSpc>
              <a:buNone/>
            </a:pPr>
            <a:r>
              <a:rPr lang="en-US" sz="700" dirty="0">
                <a:solidFill>
                  <a:srgbClr val="4A6572"/>
                </a:solidFill>
                <a:latin typeface="Calibri" pitchFamily="34" charset="0"/>
                <a:ea typeface="Calibri" pitchFamily="34" charset="-122"/>
                <a:cs typeface="Calibri" pitchFamily="34" charset="-120"/>
              </a:rPr>
              <a:t>Composite of email open rate, portal login frequency, and clinical update interaction.</a:t>
            </a:r>
            <a:endParaRPr lang="en-US" sz="700" dirty="0"/>
          </a:p>
        </p:txBody>
      </p:sp>
      <p:sp>
        <p:nvSpPr>
          <p:cNvPr id="24" name="Shape 19"/>
          <p:cNvSpPr/>
          <p:nvPr/>
        </p:nvSpPr>
        <p:spPr>
          <a:xfrm>
            <a:off x="4663440" y="3776472"/>
            <a:ext cx="2057400" cy="685800"/>
          </a:xfrm>
          <a:prstGeom prst="rect">
            <a:avLst/>
          </a:prstGeom>
          <a:solidFill>
            <a:srgbClr val="FFFFFF"/>
          </a:solidFill>
          <a:ln/>
          <a:effectLst>
            <a:outerShdw blurRad="63500" dist="25400" dir="8100000" algn="bl" rotWithShape="0">
              <a:srgbClr val="000000">
                <a:alpha val="8000"/>
              </a:srgbClr>
            </a:outerShdw>
          </a:effectLst>
        </p:spPr>
        <p:txBody>
          <a:bodyPr/>
          <a:lstStyle/>
          <a:p>
            <a:endParaRPr lang="en-US"/>
          </a:p>
        </p:txBody>
      </p:sp>
      <p:sp>
        <p:nvSpPr>
          <p:cNvPr id="25" name="Shape 20"/>
          <p:cNvSpPr/>
          <p:nvPr/>
        </p:nvSpPr>
        <p:spPr>
          <a:xfrm>
            <a:off x="4663440" y="3776472"/>
            <a:ext cx="2057400" cy="45720"/>
          </a:xfrm>
          <a:prstGeom prst="rect">
            <a:avLst/>
          </a:prstGeom>
          <a:solidFill>
            <a:srgbClr val="E85D3A"/>
          </a:solidFill>
          <a:ln/>
        </p:spPr>
        <p:txBody>
          <a:bodyPr/>
          <a:lstStyle/>
          <a:p>
            <a:endParaRPr lang="en-US"/>
          </a:p>
        </p:txBody>
      </p:sp>
      <p:sp>
        <p:nvSpPr>
          <p:cNvPr id="26" name="Text 21"/>
          <p:cNvSpPr/>
          <p:nvPr/>
        </p:nvSpPr>
        <p:spPr>
          <a:xfrm>
            <a:off x="4736592" y="3840480"/>
            <a:ext cx="1920240" cy="182880"/>
          </a:xfrm>
          <a:prstGeom prst="rect">
            <a:avLst/>
          </a:prstGeom>
          <a:noFill/>
          <a:ln/>
        </p:spPr>
        <p:txBody>
          <a:bodyPr wrap="square" lIns="0" tIns="0" rIns="0" bIns="0" rtlCol="0" anchor="ctr"/>
          <a:lstStyle/>
          <a:p>
            <a:pPr marL="0" indent="0">
              <a:buNone/>
            </a:pPr>
            <a:r>
              <a:rPr lang="en-US" sz="800" b="1" dirty="0">
                <a:solidFill>
                  <a:srgbClr val="1A2B34"/>
                </a:solidFill>
                <a:latin typeface="Trebuchet MS" pitchFamily="34" charset="0"/>
                <a:ea typeface="Trebuchet MS" pitchFamily="34" charset="-122"/>
                <a:cs typeface="Trebuchet MS" pitchFamily="34" charset="-120"/>
              </a:rPr>
              <a:t>CS Relationship Recency</a:t>
            </a:r>
            <a:endParaRPr lang="en-US" sz="800" dirty="0"/>
          </a:p>
        </p:txBody>
      </p:sp>
      <p:sp>
        <p:nvSpPr>
          <p:cNvPr id="27" name="Text 22"/>
          <p:cNvSpPr/>
          <p:nvPr/>
        </p:nvSpPr>
        <p:spPr>
          <a:xfrm>
            <a:off x="4736592" y="4041648"/>
            <a:ext cx="1920240" cy="384048"/>
          </a:xfrm>
          <a:prstGeom prst="rect">
            <a:avLst/>
          </a:prstGeom>
          <a:noFill/>
          <a:ln/>
        </p:spPr>
        <p:txBody>
          <a:bodyPr wrap="square" lIns="0" tIns="0" rIns="0" bIns="0" rtlCol="0" anchor="t"/>
          <a:lstStyle/>
          <a:p>
            <a:pPr marL="0" indent="0">
              <a:lnSpc>
                <a:spcPct val="120000"/>
              </a:lnSpc>
              <a:buNone/>
            </a:pPr>
            <a:r>
              <a:rPr lang="en-US" sz="700" dirty="0">
                <a:solidFill>
                  <a:srgbClr val="4A6572"/>
                </a:solidFill>
                <a:latin typeface="Calibri" pitchFamily="34" charset="0"/>
                <a:ea typeface="Calibri" pitchFamily="34" charset="-122"/>
                <a:cs typeface="Calibri" pitchFamily="34" charset="-120"/>
              </a:rPr>
              <a:t>Days since last meaningful CS contact, weighted by type (call &gt; email &gt; auto-touch).</a:t>
            </a:r>
            <a:endParaRPr lang="en-US" sz="700" dirty="0"/>
          </a:p>
        </p:txBody>
      </p:sp>
      <p:sp>
        <p:nvSpPr>
          <p:cNvPr id="28" name="Shape 23"/>
          <p:cNvSpPr/>
          <p:nvPr/>
        </p:nvSpPr>
        <p:spPr>
          <a:xfrm>
            <a:off x="6858000" y="3776472"/>
            <a:ext cx="2057400" cy="685800"/>
          </a:xfrm>
          <a:prstGeom prst="rect">
            <a:avLst/>
          </a:prstGeom>
          <a:solidFill>
            <a:srgbClr val="FFFFFF"/>
          </a:solidFill>
          <a:ln/>
          <a:effectLst>
            <a:outerShdw blurRad="63500" dist="25400" dir="8100000" algn="bl" rotWithShape="0">
              <a:srgbClr val="000000">
                <a:alpha val="8000"/>
              </a:srgbClr>
            </a:outerShdw>
          </a:effectLst>
        </p:spPr>
        <p:txBody>
          <a:bodyPr/>
          <a:lstStyle/>
          <a:p>
            <a:endParaRPr lang="en-US"/>
          </a:p>
        </p:txBody>
      </p:sp>
      <p:sp>
        <p:nvSpPr>
          <p:cNvPr id="29" name="Shape 24"/>
          <p:cNvSpPr/>
          <p:nvPr/>
        </p:nvSpPr>
        <p:spPr>
          <a:xfrm>
            <a:off x="6858000" y="3776472"/>
            <a:ext cx="2057400" cy="45720"/>
          </a:xfrm>
          <a:prstGeom prst="rect">
            <a:avLst/>
          </a:prstGeom>
          <a:solidFill>
            <a:srgbClr val="0B1D26"/>
          </a:solidFill>
          <a:ln/>
        </p:spPr>
        <p:txBody>
          <a:bodyPr/>
          <a:lstStyle/>
          <a:p>
            <a:endParaRPr lang="en-US"/>
          </a:p>
        </p:txBody>
      </p:sp>
      <p:sp>
        <p:nvSpPr>
          <p:cNvPr id="30" name="Text 25"/>
          <p:cNvSpPr/>
          <p:nvPr/>
        </p:nvSpPr>
        <p:spPr>
          <a:xfrm>
            <a:off x="6931152" y="3840480"/>
            <a:ext cx="1920240" cy="182880"/>
          </a:xfrm>
          <a:prstGeom prst="rect">
            <a:avLst/>
          </a:prstGeom>
          <a:noFill/>
          <a:ln/>
        </p:spPr>
        <p:txBody>
          <a:bodyPr wrap="square" lIns="0" tIns="0" rIns="0" bIns="0" rtlCol="0" anchor="ctr"/>
          <a:lstStyle/>
          <a:p>
            <a:pPr marL="0" indent="0">
              <a:buNone/>
            </a:pPr>
            <a:r>
              <a:rPr lang="en-US" sz="800" b="1" dirty="0">
                <a:solidFill>
                  <a:srgbClr val="1A2B34"/>
                </a:solidFill>
                <a:latin typeface="Trebuchet MS" pitchFamily="34" charset="0"/>
                <a:ea typeface="Trebuchet MS" pitchFamily="34" charset="-122"/>
                <a:cs typeface="Trebuchet MS" pitchFamily="34" charset="-120"/>
              </a:rPr>
              <a:t>Physician Health Tier</a:t>
            </a:r>
            <a:endParaRPr lang="en-US" sz="800" dirty="0"/>
          </a:p>
        </p:txBody>
      </p:sp>
      <p:sp>
        <p:nvSpPr>
          <p:cNvPr id="31" name="Text 26"/>
          <p:cNvSpPr/>
          <p:nvPr/>
        </p:nvSpPr>
        <p:spPr>
          <a:xfrm>
            <a:off x="6931152" y="4041648"/>
            <a:ext cx="1920240" cy="384048"/>
          </a:xfrm>
          <a:prstGeom prst="rect">
            <a:avLst/>
          </a:prstGeom>
          <a:noFill/>
          <a:ln/>
        </p:spPr>
        <p:txBody>
          <a:bodyPr wrap="square" lIns="0" tIns="0" rIns="0" bIns="0" rtlCol="0" anchor="t"/>
          <a:lstStyle/>
          <a:p>
            <a:pPr marL="0" indent="0">
              <a:lnSpc>
                <a:spcPct val="120000"/>
              </a:lnSpc>
              <a:buNone/>
            </a:pPr>
            <a:r>
              <a:rPr lang="en-US" sz="700" dirty="0">
                <a:solidFill>
                  <a:srgbClr val="4A6572"/>
                </a:solidFill>
                <a:latin typeface="Calibri" pitchFamily="34" charset="0"/>
                <a:ea typeface="Calibri" pitchFamily="34" charset="-122"/>
                <a:cs typeface="Calibri" pitchFamily="34" charset="-120"/>
              </a:rPr>
              <a:t>Composite of all three. Replaces Active/Inactive with Healthy, Watch, At Risk, Critical.</a:t>
            </a:r>
            <a:endParaRPr lang="en-US" sz="700" dirty="0"/>
          </a:p>
        </p:txBody>
      </p:sp>
      <p:sp>
        <p:nvSpPr>
          <p:cNvPr id="32" name="Shape 27"/>
          <p:cNvSpPr/>
          <p:nvPr/>
        </p:nvSpPr>
        <p:spPr>
          <a:xfrm>
            <a:off x="274320" y="4617720"/>
            <a:ext cx="8595360" cy="320040"/>
          </a:xfrm>
          <a:prstGeom prst="rect">
            <a:avLst/>
          </a:prstGeom>
          <a:solidFill>
            <a:srgbClr val="E6F5F3"/>
          </a:solidFill>
          <a:ln/>
        </p:spPr>
        <p:txBody>
          <a:bodyPr/>
          <a:lstStyle/>
          <a:p>
            <a:endParaRPr lang="en-US"/>
          </a:p>
        </p:txBody>
      </p:sp>
      <p:sp>
        <p:nvSpPr>
          <p:cNvPr id="33" name="Text 28"/>
          <p:cNvSpPr/>
          <p:nvPr/>
        </p:nvSpPr>
        <p:spPr>
          <a:xfrm>
            <a:off x="411480" y="4636008"/>
            <a:ext cx="8321040" cy="274320"/>
          </a:xfrm>
          <a:prstGeom prst="rect">
            <a:avLst/>
          </a:prstGeom>
          <a:noFill/>
          <a:ln/>
        </p:spPr>
        <p:txBody>
          <a:bodyPr wrap="square" lIns="0" tIns="0" rIns="0" bIns="0" rtlCol="0" anchor="ctr"/>
          <a:lstStyle/>
          <a:p>
            <a:r>
              <a:rPr lang="en-US" sz="800" b="1" dirty="0">
                <a:solidFill>
                  <a:srgbClr val="0D7377"/>
                </a:solidFill>
                <a:latin typeface="Trebuchet MS" pitchFamily="34" charset="0"/>
                <a:ea typeface="Trebuchet MS" pitchFamily="34" charset="-122"/>
                <a:cs typeface="Trebuchet MS" pitchFamily="34" charset="-120"/>
              </a:rPr>
              <a:t xml:space="preserve">Key insight: </a:t>
            </a:r>
            <a:r>
              <a:rPr lang="en-US" sz="800" dirty="0">
                <a:solidFill>
                  <a:srgbClr val="4A6572"/>
                </a:solidFill>
                <a:latin typeface="Calibri" pitchFamily="34" charset="0"/>
                <a:cs typeface="Calibri" pitchFamily="34" charset="-120"/>
              </a:rPr>
              <a:t>Portal logins and email opens are useful engagement indicators, but orders and samples should remain the primary signals of commercial value</a:t>
            </a:r>
            <a:r>
              <a:rPr lang="en-US" sz="800"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B1D26"/>
          </a:solidFill>
          <a:ln/>
        </p:spPr>
        <p:txBody>
          <a:bodyPr/>
          <a:lstStyle/>
          <a:p>
            <a:endParaRPr lang="en-US"/>
          </a:p>
        </p:txBody>
      </p:sp>
      <p:sp>
        <p:nvSpPr>
          <p:cNvPr id="3" name="Text 1"/>
          <p:cNvSpPr/>
          <p:nvPr/>
        </p:nvSpPr>
        <p:spPr>
          <a:xfrm>
            <a:off x="548640" y="45720"/>
            <a:ext cx="8229600" cy="548640"/>
          </a:xfrm>
          <a:prstGeom prst="rect">
            <a:avLst/>
          </a:prstGeom>
          <a:noFill/>
          <a:ln/>
        </p:spPr>
        <p:txBody>
          <a:bodyPr wrap="square" lIns="0" tIns="0" rIns="0" bIns="0" rtlCol="0" anchor="ctr"/>
          <a:lstStyle/>
          <a:p>
            <a:r>
              <a:rPr lang="en-US" sz="1800" b="1" dirty="0">
                <a:solidFill>
                  <a:schemeClr val="bg1"/>
                </a:solidFill>
                <a:latin typeface="Trebuchet MS" pitchFamily="34" charset="0"/>
                <a:ea typeface="Trebuchet MS" pitchFamily="34" charset="-122"/>
                <a:cs typeface="Trebuchet MS" pitchFamily="34" charset="-120"/>
              </a:rPr>
              <a:t xml:space="preserve">Part 2   </a:t>
            </a:r>
            <a:r>
              <a:rPr lang="en-US" dirty="0">
                <a:solidFill>
                  <a:schemeClr val="bg1"/>
                </a:solidFill>
              </a:rPr>
              <a:t>The dashboard must join CRM and lab data to surface churn risk</a:t>
            </a:r>
            <a:endParaRPr lang="en-US" sz="1800" dirty="0">
              <a:solidFill>
                <a:schemeClr val="bg1"/>
              </a:solidFill>
            </a:endParaRPr>
          </a:p>
        </p:txBody>
      </p:sp>
      <p:sp>
        <p:nvSpPr>
          <p:cNvPr id="4" name="Text 2"/>
          <p:cNvSpPr/>
          <p:nvPr/>
        </p:nvSpPr>
        <p:spPr>
          <a:xfrm>
            <a:off x="548640" y="749808"/>
            <a:ext cx="8229600" cy="274320"/>
          </a:xfrm>
          <a:prstGeom prst="rect">
            <a:avLst/>
          </a:prstGeom>
          <a:noFill/>
          <a:ln/>
        </p:spPr>
        <p:txBody>
          <a:bodyPr wrap="square" lIns="0" tIns="0" rIns="0" bIns="0" rtlCol="0" anchor="ctr"/>
          <a:lstStyle/>
          <a:p>
            <a:pPr marL="0" indent="0">
              <a:buNone/>
            </a:pPr>
            <a:r>
              <a:rPr lang="en-US" sz="1100" dirty="0">
                <a:solidFill>
                  <a:srgbClr val="4A6572"/>
                </a:solidFill>
                <a:latin typeface="Calibri" pitchFamily="34" charset="0"/>
                <a:ea typeface="Calibri" pitchFamily="34" charset="-122"/>
                <a:cs typeface="Calibri" pitchFamily="34" charset="-120"/>
              </a:rPr>
              <a:t>What fields, filters, and keys the BI team needs to build the dashboard</a:t>
            </a:r>
            <a:endParaRPr lang="en-US" sz="1100" dirty="0"/>
          </a:p>
        </p:txBody>
      </p:sp>
      <p:sp>
        <p:nvSpPr>
          <p:cNvPr id="5" name="Shape 3"/>
          <p:cNvSpPr/>
          <p:nvPr/>
        </p:nvSpPr>
        <p:spPr>
          <a:xfrm>
            <a:off x="365760" y="1143000"/>
            <a:ext cx="3657600" cy="1828800"/>
          </a:xfrm>
          <a:prstGeom prst="rect">
            <a:avLst/>
          </a:prstGeom>
          <a:solidFill>
            <a:srgbClr val="FFFFFF"/>
          </a:solidFill>
          <a:ln/>
          <a:effectLst>
            <a:outerShdw blurRad="63500" dist="25400" dir="8100000" algn="bl" rotWithShape="0">
              <a:srgbClr val="000000">
                <a:alpha val="8000"/>
              </a:srgbClr>
            </a:outerShdw>
          </a:effectLst>
        </p:spPr>
        <p:txBody>
          <a:bodyPr/>
          <a:lstStyle/>
          <a:p>
            <a:endParaRPr lang="en-US"/>
          </a:p>
        </p:txBody>
      </p:sp>
      <p:sp>
        <p:nvSpPr>
          <p:cNvPr id="6" name="Shape 4"/>
          <p:cNvSpPr/>
          <p:nvPr/>
        </p:nvSpPr>
        <p:spPr>
          <a:xfrm>
            <a:off x="365760" y="1143000"/>
            <a:ext cx="3657600" cy="320040"/>
          </a:xfrm>
          <a:prstGeom prst="rect">
            <a:avLst/>
          </a:prstGeom>
          <a:solidFill>
            <a:srgbClr val="0D7377"/>
          </a:solidFill>
          <a:ln/>
        </p:spPr>
        <p:txBody>
          <a:bodyPr/>
          <a:lstStyle/>
          <a:p>
            <a:endParaRPr lang="en-US"/>
          </a:p>
        </p:txBody>
      </p:sp>
      <p:sp>
        <p:nvSpPr>
          <p:cNvPr id="7" name="Text 5"/>
          <p:cNvSpPr/>
          <p:nvPr/>
        </p:nvSpPr>
        <p:spPr>
          <a:xfrm>
            <a:off x="502920" y="1170432"/>
            <a:ext cx="3200400" cy="274320"/>
          </a:xfrm>
          <a:prstGeom prst="rect">
            <a:avLst/>
          </a:prstGeom>
          <a:noFill/>
          <a:ln/>
        </p:spPr>
        <p:txBody>
          <a:bodyPr wrap="square" lIns="0" tIns="0" rIns="0" bIns="0" rtlCol="0" anchor="ctr"/>
          <a:lstStyle/>
          <a:p>
            <a:pPr marL="0" indent="0">
              <a:buNone/>
            </a:pPr>
            <a:r>
              <a:rPr lang="en-US" sz="1000" b="1" dirty="0">
                <a:solidFill>
                  <a:srgbClr val="FFFFFF"/>
                </a:solidFill>
                <a:latin typeface="Trebuchet MS" pitchFamily="34" charset="0"/>
                <a:ea typeface="Trebuchet MS" pitchFamily="34" charset="-122"/>
                <a:cs typeface="Trebuchet MS" pitchFamily="34" charset="-120"/>
              </a:rPr>
              <a:t>Salesforce CRM Fields</a:t>
            </a:r>
            <a:endParaRPr lang="en-US" sz="1000" dirty="0"/>
          </a:p>
        </p:txBody>
      </p:sp>
      <p:sp>
        <p:nvSpPr>
          <p:cNvPr id="8" name="Text 6"/>
          <p:cNvSpPr/>
          <p:nvPr/>
        </p:nvSpPr>
        <p:spPr>
          <a:xfrm>
            <a:off x="502920" y="1536192"/>
            <a:ext cx="3383280" cy="1371600"/>
          </a:xfrm>
          <a:prstGeom prst="rect">
            <a:avLst/>
          </a:prstGeom>
          <a:noFill/>
          <a:ln/>
        </p:spPr>
        <p:txBody>
          <a:bodyPr wrap="square" lIns="0" tIns="0" rIns="0" bIns="0" rtlCol="0" anchor="t"/>
          <a:lstStyle/>
          <a:p>
            <a:pPr marL="0" indent="0">
              <a:lnSpc>
                <a:spcPct val="140000"/>
              </a:lnSpc>
              <a:buNone/>
            </a:pPr>
            <a:r>
              <a:rPr lang="en-US" sz="850" dirty="0">
                <a:solidFill>
                  <a:srgbClr val="4A6572"/>
                </a:solidFill>
                <a:latin typeface="Calibri" pitchFamily="34" charset="0"/>
                <a:ea typeface="Calibri" pitchFamily="34" charset="-122"/>
                <a:cs typeface="Calibri" pitchFamily="34" charset="-120"/>
              </a:rPr>
              <a:t>Physician ID, Account ID, Region</a:t>
            </a:r>
            <a:endParaRPr lang="en-US" sz="850" dirty="0"/>
          </a:p>
          <a:p>
            <a:pPr marL="0" indent="0">
              <a:lnSpc>
                <a:spcPct val="140000"/>
              </a:lnSpc>
              <a:buNone/>
            </a:pPr>
            <a:r>
              <a:rPr lang="en-US" sz="850" dirty="0">
                <a:solidFill>
                  <a:srgbClr val="4A6572"/>
                </a:solidFill>
                <a:latin typeface="Calibri" pitchFamily="34" charset="0"/>
                <a:ea typeface="Calibri" pitchFamily="34" charset="-122"/>
                <a:cs typeface="Calibri" pitchFamily="34" charset="-120"/>
              </a:rPr>
              <a:t>CS Assignee, CRM Status</a:t>
            </a:r>
            <a:endParaRPr lang="en-US" sz="850" dirty="0"/>
          </a:p>
          <a:p>
            <a:pPr marL="0" indent="0">
              <a:lnSpc>
                <a:spcPct val="140000"/>
              </a:lnSpc>
              <a:buNone/>
            </a:pPr>
            <a:r>
              <a:rPr lang="en-US" sz="850" dirty="0">
                <a:solidFill>
                  <a:srgbClr val="4A6572"/>
                </a:solidFill>
                <a:latin typeface="Calibri" pitchFamily="34" charset="0"/>
                <a:ea typeface="Calibri" pitchFamily="34" charset="-122"/>
                <a:cs typeface="Calibri" pitchFamily="34" charset="-120"/>
              </a:rPr>
              <a:t>Order #, Order Date, Order Amount ($)</a:t>
            </a:r>
            <a:endParaRPr lang="en-US" sz="850" dirty="0"/>
          </a:p>
          <a:p>
            <a:pPr marL="0" indent="0">
              <a:lnSpc>
                <a:spcPct val="140000"/>
              </a:lnSpc>
              <a:buNone/>
            </a:pPr>
            <a:r>
              <a:rPr lang="en-US" sz="850" dirty="0">
                <a:solidFill>
                  <a:srgbClr val="4A6572"/>
                </a:solidFill>
                <a:latin typeface="Calibri" pitchFamily="34" charset="0"/>
                <a:ea typeface="Calibri" pitchFamily="34" charset="-122"/>
                <a:cs typeface="Calibri" pitchFamily="34" charset="-120"/>
              </a:rPr>
              <a:t>Last CS Engagement Date</a:t>
            </a:r>
            <a:endParaRPr lang="en-US" sz="850" dirty="0"/>
          </a:p>
          <a:p>
            <a:pPr marL="0" indent="0">
              <a:lnSpc>
                <a:spcPct val="140000"/>
              </a:lnSpc>
              <a:buNone/>
            </a:pPr>
            <a:r>
              <a:rPr lang="en-US" sz="850" dirty="0">
                <a:solidFill>
                  <a:srgbClr val="4A6572"/>
                </a:solidFill>
                <a:latin typeface="Calibri" pitchFamily="34" charset="0"/>
                <a:ea typeface="Calibri" pitchFamily="34" charset="-122"/>
                <a:cs typeface="Calibri" pitchFamily="34" charset="-120"/>
              </a:rPr>
              <a:t>Last Inquiry Date</a:t>
            </a:r>
            <a:endParaRPr lang="en-US" sz="850" dirty="0"/>
          </a:p>
          <a:p>
            <a:pPr marL="0" indent="0">
              <a:lnSpc>
                <a:spcPct val="140000"/>
              </a:lnSpc>
              <a:buNone/>
            </a:pPr>
            <a:r>
              <a:rPr lang="en-US" sz="850" dirty="0">
                <a:solidFill>
                  <a:srgbClr val="4A6572"/>
                </a:solidFill>
                <a:latin typeface="Calibri" pitchFamily="34" charset="0"/>
                <a:ea typeface="Calibri" pitchFamily="34" charset="-122"/>
                <a:cs typeface="Calibri" pitchFamily="34" charset="-120"/>
              </a:rPr>
              <a:t>Email Open Rate (clinical updates)</a:t>
            </a:r>
            <a:endParaRPr lang="en-US" sz="850" dirty="0"/>
          </a:p>
        </p:txBody>
      </p:sp>
      <p:sp>
        <p:nvSpPr>
          <p:cNvPr id="9" name="Shape 7"/>
          <p:cNvSpPr/>
          <p:nvPr/>
        </p:nvSpPr>
        <p:spPr>
          <a:xfrm>
            <a:off x="365760" y="3108960"/>
            <a:ext cx="3657600" cy="1234440"/>
          </a:xfrm>
          <a:prstGeom prst="rect">
            <a:avLst/>
          </a:prstGeom>
          <a:solidFill>
            <a:srgbClr val="FFFFFF"/>
          </a:solidFill>
          <a:ln/>
          <a:effectLst>
            <a:outerShdw blurRad="63500" dist="25400" dir="8100000" algn="bl" rotWithShape="0">
              <a:srgbClr val="000000">
                <a:alpha val="8000"/>
              </a:srgbClr>
            </a:outerShdw>
          </a:effectLst>
        </p:spPr>
        <p:txBody>
          <a:bodyPr/>
          <a:lstStyle/>
          <a:p>
            <a:endParaRPr lang="en-US"/>
          </a:p>
        </p:txBody>
      </p:sp>
      <p:sp>
        <p:nvSpPr>
          <p:cNvPr id="10" name="Shape 8"/>
          <p:cNvSpPr/>
          <p:nvPr/>
        </p:nvSpPr>
        <p:spPr>
          <a:xfrm>
            <a:off x="365760" y="3108960"/>
            <a:ext cx="3657600" cy="320040"/>
          </a:xfrm>
          <a:prstGeom prst="rect">
            <a:avLst/>
          </a:prstGeom>
          <a:solidFill>
            <a:srgbClr val="14A3A8"/>
          </a:solidFill>
          <a:ln/>
        </p:spPr>
        <p:txBody>
          <a:bodyPr/>
          <a:lstStyle/>
          <a:p>
            <a:endParaRPr lang="en-US"/>
          </a:p>
        </p:txBody>
      </p:sp>
      <p:sp>
        <p:nvSpPr>
          <p:cNvPr id="11" name="Text 9"/>
          <p:cNvSpPr/>
          <p:nvPr/>
        </p:nvSpPr>
        <p:spPr>
          <a:xfrm>
            <a:off x="502920" y="3136392"/>
            <a:ext cx="3200400" cy="274320"/>
          </a:xfrm>
          <a:prstGeom prst="rect">
            <a:avLst/>
          </a:prstGeom>
          <a:noFill/>
          <a:ln/>
        </p:spPr>
        <p:txBody>
          <a:bodyPr wrap="square" lIns="0" tIns="0" rIns="0" bIns="0" rtlCol="0" anchor="ctr"/>
          <a:lstStyle/>
          <a:p>
            <a:pPr marL="0" indent="0">
              <a:buNone/>
            </a:pPr>
            <a:r>
              <a:rPr lang="en-US" sz="1000" b="1" dirty="0">
                <a:solidFill>
                  <a:srgbClr val="FFFFFF"/>
                </a:solidFill>
                <a:latin typeface="Trebuchet MS" pitchFamily="34" charset="0"/>
                <a:ea typeface="Trebuchet MS" pitchFamily="34" charset="-122"/>
                <a:cs typeface="Trebuchet MS" pitchFamily="34" charset="-120"/>
              </a:rPr>
              <a:t>Lab Database Fields</a:t>
            </a:r>
            <a:endParaRPr lang="en-US" sz="1000" dirty="0"/>
          </a:p>
        </p:txBody>
      </p:sp>
      <p:sp>
        <p:nvSpPr>
          <p:cNvPr id="12" name="Text 10"/>
          <p:cNvSpPr/>
          <p:nvPr/>
        </p:nvSpPr>
        <p:spPr>
          <a:xfrm>
            <a:off x="502920" y="3493008"/>
            <a:ext cx="3383280" cy="777240"/>
          </a:xfrm>
          <a:prstGeom prst="rect">
            <a:avLst/>
          </a:prstGeom>
          <a:noFill/>
          <a:ln/>
        </p:spPr>
        <p:txBody>
          <a:bodyPr wrap="square" lIns="0" tIns="0" rIns="0" bIns="0" rtlCol="0" anchor="t"/>
          <a:lstStyle/>
          <a:p>
            <a:pPr marL="0" indent="0">
              <a:lnSpc>
                <a:spcPct val="140000"/>
              </a:lnSpc>
              <a:buNone/>
            </a:pPr>
            <a:r>
              <a:rPr lang="en-US" sz="850" dirty="0">
                <a:solidFill>
                  <a:srgbClr val="4A6572"/>
                </a:solidFill>
                <a:latin typeface="Calibri" pitchFamily="34" charset="0"/>
                <a:ea typeface="Calibri" pitchFamily="34" charset="-122"/>
                <a:cs typeface="Calibri" pitchFamily="34" charset="-120"/>
              </a:rPr>
              <a:t>Test Order #, Sample Received Date</a:t>
            </a:r>
            <a:endParaRPr lang="en-US" sz="850" dirty="0"/>
          </a:p>
          <a:p>
            <a:pPr>
              <a:lnSpc>
                <a:spcPct val="140000"/>
              </a:lnSpc>
            </a:pPr>
            <a:r>
              <a:rPr lang="en-US" sz="850" dirty="0">
                <a:solidFill>
                  <a:srgbClr val="4A6572"/>
                </a:solidFill>
                <a:latin typeface="Calibri" pitchFamily="34" charset="0"/>
                <a:cs typeface="Calibri" pitchFamily="34" charset="-120"/>
              </a:rPr>
              <a:t xml:space="preserve">Last result finalized date </a:t>
            </a:r>
          </a:p>
          <a:p>
            <a:pPr>
              <a:lnSpc>
                <a:spcPct val="140000"/>
              </a:lnSpc>
            </a:pPr>
            <a:r>
              <a:rPr lang="en-US" sz="850" dirty="0">
                <a:solidFill>
                  <a:srgbClr val="4A6572"/>
                </a:solidFill>
                <a:latin typeface="Calibri" pitchFamily="34" charset="0"/>
                <a:ea typeface="Calibri" pitchFamily="34" charset="-122"/>
                <a:cs typeface="Calibri" pitchFamily="34" charset="-120"/>
              </a:rPr>
              <a:t>Most Frequent Test Type Ordered</a:t>
            </a:r>
            <a:endParaRPr lang="en-US" sz="850" dirty="0"/>
          </a:p>
          <a:p>
            <a:pPr marL="0" indent="0">
              <a:lnSpc>
                <a:spcPct val="140000"/>
              </a:lnSpc>
              <a:buNone/>
            </a:pPr>
            <a:r>
              <a:rPr lang="en-US" sz="850" dirty="0">
                <a:solidFill>
                  <a:srgbClr val="4A6572"/>
                </a:solidFill>
                <a:latin typeface="Calibri" pitchFamily="34" charset="0"/>
                <a:ea typeface="Calibri" pitchFamily="34" charset="-122"/>
                <a:cs typeface="Calibri" pitchFamily="34" charset="-120"/>
              </a:rPr>
              <a:t>Report Delivery Date</a:t>
            </a:r>
            <a:endParaRPr lang="en-US" sz="850" dirty="0"/>
          </a:p>
        </p:txBody>
      </p:sp>
      <p:sp>
        <p:nvSpPr>
          <p:cNvPr id="13" name="Shape 11"/>
          <p:cNvSpPr/>
          <p:nvPr/>
        </p:nvSpPr>
        <p:spPr>
          <a:xfrm>
            <a:off x="365760" y="4480560"/>
            <a:ext cx="3657600" cy="502920"/>
          </a:xfrm>
          <a:prstGeom prst="rect">
            <a:avLst/>
          </a:prstGeom>
          <a:solidFill>
            <a:srgbClr val="E6F5F3"/>
          </a:solidFill>
          <a:ln/>
        </p:spPr>
        <p:txBody>
          <a:bodyPr/>
          <a:lstStyle/>
          <a:p>
            <a:endParaRPr lang="en-US"/>
          </a:p>
        </p:txBody>
      </p:sp>
      <p:sp>
        <p:nvSpPr>
          <p:cNvPr id="14" name="Text 12"/>
          <p:cNvSpPr/>
          <p:nvPr/>
        </p:nvSpPr>
        <p:spPr>
          <a:xfrm>
            <a:off x="502920" y="4507992"/>
            <a:ext cx="3383280" cy="438912"/>
          </a:xfrm>
          <a:prstGeom prst="rect">
            <a:avLst/>
          </a:prstGeom>
          <a:noFill/>
          <a:ln/>
        </p:spPr>
        <p:txBody>
          <a:bodyPr wrap="square" lIns="0" tIns="0" rIns="0" bIns="0" rtlCol="0" anchor="ctr"/>
          <a:lstStyle/>
          <a:p>
            <a:pPr>
              <a:lnSpc>
                <a:spcPct val="120000"/>
              </a:lnSpc>
            </a:pPr>
            <a:r>
              <a:rPr lang="en-US" sz="850" b="1" dirty="0">
                <a:solidFill>
                  <a:srgbClr val="0D7377"/>
                </a:solidFill>
                <a:latin typeface="Trebuchet MS" pitchFamily="34" charset="0"/>
                <a:ea typeface="Trebuchet MS" pitchFamily="34" charset="-122"/>
                <a:cs typeface="Trebuchet MS" pitchFamily="34" charset="-120"/>
              </a:rPr>
              <a:t xml:space="preserve">Join Key: </a:t>
            </a:r>
            <a:r>
              <a:rPr lang="en-US" sz="850" dirty="0">
                <a:solidFill>
                  <a:srgbClr val="4A6572"/>
                </a:solidFill>
                <a:latin typeface="Calibri" pitchFamily="34" charset="0"/>
                <a:cs typeface="Calibri" pitchFamily="34" charset="-120"/>
              </a:rPr>
              <a:t>Primary join keys should be physician ID or a validated order level crosswalk. If direct matches are unavailable, BI should maintain a mapping between CRM order IDs and lab order IDs.</a:t>
            </a:r>
          </a:p>
        </p:txBody>
      </p:sp>
      <p:sp>
        <p:nvSpPr>
          <p:cNvPr id="15" name="Shape 13"/>
          <p:cNvSpPr/>
          <p:nvPr/>
        </p:nvSpPr>
        <p:spPr>
          <a:xfrm>
            <a:off x="4251960" y="1143000"/>
            <a:ext cx="4572000" cy="2240280"/>
          </a:xfrm>
          <a:prstGeom prst="rect">
            <a:avLst/>
          </a:prstGeom>
          <a:solidFill>
            <a:srgbClr val="FFFFFF"/>
          </a:solidFill>
          <a:ln/>
          <a:effectLst>
            <a:outerShdw blurRad="63500" dist="25400" dir="8100000" algn="bl" rotWithShape="0">
              <a:srgbClr val="000000">
                <a:alpha val="8000"/>
              </a:srgbClr>
            </a:outerShdw>
          </a:effectLst>
        </p:spPr>
        <p:txBody>
          <a:bodyPr/>
          <a:lstStyle/>
          <a:p>
            <a:endParaRPr lang="en-US"/>
          </a:p>
        </p:txBody>
      </p:sp>
      <p:sp>
        <p:nvSpPr>
          <p:cNvPr id="16" name="Shape 14"/>
          <p:cNvSpPr/>
          <p:nvPr/>
        </p:nvSpPr>
        <p:spPr>
          <a:xfrm>
            <a:off x="4251960" y="1143000"/>
            <a:ext cx="4572000" cy="320040"/>
          </a:xfrm>
          <a:prstGeom prst="rect">
            <a:avLst/>
          </a:prstGeom>
          <a:solidFill>
            <a:srgbClr val="E85D3A"/>
          </a:solidFill>
          <a:ln/>
        </p:spPr>
        <p:txBody>
          <a:bodyPr/>
          <a:lstStyle/>
          <a:p>
            <a:endParaRPr lang="en-US"/>
          </a:p>
        </p:txBody>
      </p:sp>
      <p:sp>
        <p:nvSpPr>
          <p:cNvPr id="17" name="Text 15"/>
          <p:cNvSpPr/>
          <p:nvPr/>
        </p:nvSpPr>
        <p:spPr>
          <a:xfrm>
            <a:off x="4389120" y="1170432"/>
            <a:ext cx="4114800" cy="274320"/>
          </a:xfrm>
          <a:prstGeom prst="rect">
            <a:avLst/>
          </a:prstGeom>
          <a:noFill/>
          <a:ln/>
        </p:spPr>
        <p:txBody>
          <a:bodyPr wrap="square" lIns="0" tIns="0" rIns="0" bIns="0" rtlCol="0" anchor="ctr"/>
          <a:lstStyle/>
          <a:p>
            <a:pPr marL="0" indent="0">
              <a:buNone/>
            </a:pPr>
            <a:r>
              <a:rPr lang="en-US" sz="1000" b="1" dirty="0">
                <a:solidFill>
                  <a:srgbClr val="FFFFFF"/>
                </a:solidFill>
                <a:latin typeface="Trebuchet MS" pitchFamily="34" charset="0"/>
                <a:ea typeface="Trebuchet MS" pitchFamily="34" charset="-122"/>
                <a:cs typeface="Trebuchet MS" pitchFamily="34" charset="-120"/>
              </a:rPr>
              <a:t>Derived Fields for BI to Build</a:t>
            </a:r>
            <a:endParaRPr lang="en-US" sz="1000" dirty="0"/>
          </a:p>
        </p:txBody>
      </p:sp>
      <p:sp>
        <p:nvSpPr>
          <p:cNvPr id="18" name="Text 16"/>
          <p:cNvSpPr/>
          <p:nvPr/>
        </p:nvSpPr>
        <p:spPr>
          <a:xfrm>
            <a:off x="4389120" y="1536192"/>
            <a:ext cx="4297680" cy="1783080"/>
          </a:xfrm>
          <a:prstGeom prst="rect">
            <a:avLst/>
          </a:prstGeom>
          <a:noFill/>
          <a:ln/>
        </p:spPr>
        <p:txBody>
          <a:bodyPr wrap="square" lIns="0" tIns="0" rIns="0" bIns="0" rtlCol="0" anchor="t"/>
          <a:lstStyle/>
          <a:p>
            <a:pPr marL="0" indent="0">
              <a:lnSpc>
                <a:spcPct val="140000"/>
              </a:lnSpc>
              <a:buNone/>
            </a:pPr>
            <a:r>
              <a:rPr lang="en-US" sz="850" dirty="0">
                <a:solidFill>
                  <a:srgbClr val="4A6572"/>
                </a:solidFill>
                <a:latin typeface="Calibri" pitchFamily="34" charset="0"/>
                <a:ea typeface="Calibri" pitchFamily="34" charset="-122"/>
                <a:cs typeface="Calibri" pitchFamily="34" charset="-120"/>
              </a:rPr>
              <a:t>Test orders in last 30 days</a:t>
            </a:r>
            <a:endParaRPr lang="en-US" sz="850" dirty="0"/>
          </a:p>
          <a:p>
            <a:pPr marL="0" indent="0">
              <a:lnSpc>
                <a:spcPct val="140000"/>
              </a:lnSpc>
              <a:buNone/>
            </a:pPr>
            <a:r>
              <a:rPr lang="en-US" sz="850" dirty="0">
                <a:solidFill>
                  <a:srgbClr val="4A6572"/>
                </a:solidFill>
                <a:latin typeface="Calibri" pitchFamily="34" charset="0"/>
                <a:ea typeface="Calibri" pitchFamily="34" charset="-122"/>
                <a:cs typeface="Calibri" pitchFamily="34" charset="-120"/>
              </a:rPr>
              <a:t>Month-over-month % change in orders</a:t>
            </a:r>
            <a:endParaRPr lang="en-US" sz="850" dirty="0"/>
          </a:p>
          <a:p>
            <a:pPr marL="0" indent="0">
              <a:lnSpc>
                <a:spcPct val="140000"/>
              </a:lnSpc>
              <a:buNone/>
            </a:pPr>
            <a:r>
              <a:rPr lang="en-US" sz="850" dirty="0">
                <a:solidFill>
                  <a:srgbClr val="4A6572"/>
                </a:solidFill>
                <a:latin typeface="Calibri" pitchFamily="34" charset="0"/>
                <a:ea typeface="Calibri" pitchFamily="34" charset="-122"/>
                <a:cs typeface="Calibri" pitchFamily="34" charset="-120"/>
              </a:rPr>
              <a:t>Quarter-over-quarter % change in order volume</a:t>
            </a:r>
            <a:endParaRPr lang="en-US" sz="850" dirty="0"/>
          </a:p>
          <a:p>
            <a:pPr marL="0" indent="0">
              <a:lnSpc>
                <a:spcPct val="140000"/>
              </a:lnSpc>
              <a:buNone/>
            </a:pPr>
            <a:r>
              <a:rPr lang="en-US" sz="850" dirty="0">
                <a:solidFill>
                  <a:srgbClr val="4A6572"/>
                </a:solidFill>
                <a:latin typeface="Calibri" pitchFamily="34" charset="0"/>
                <a:ea typeface="Calibri" pitchFamily="34" charset="-122"/>
                <a:cs typeface="Calibri" pitchFamily="34" charset="-120"/>
              </a:rPr>
              <a:t>Days since last CS contact</a:t>
            </a:r>
            <a:endParaRPr lang="en-US" sz="850" dirty="0"/>
          </a:p>
          <a:p>
            <a:pPr marL="0" indent="0">
              <a:lnSpc>
                <a:spcPct val="140000"/>
              </a:lnSpc>
              <a:buNone/>
            </a:pPr>
            <a:r>
              <a:rPr lang="en-US" sz="850" dirty="0">
                <a:solidFill>
                  <a:srgbClr val="4A6572"/>
                </a:solidFill>
                <a:latin typeface="Calibri" pitchFamily="34" charset="0"/>
                <a:ea typeface="Calibri" pitchFamily="34" charset="-122"/>
                <a:cs typeface="Calibri" pitchFamily="34" charset="-120"/>
              </a:rPr>
              <a:t>Contact recency score (weighted by contact type)</a:t>
            </a:r>
            <a:endParaRPr lang="en-US" sz="850" dirty="0"/>
          </a:p>
          <a:p>
            <a:pPr marL="0" indent="0">
              <a:lnSpc>
                <a:spcPct val="140000"/>
              </a:lnSpc>
              <a:buNone/>
            </a:pPr>
            <a:r>
              <a:rPr lang="en-US" sz="850" dirty="0">
                <a:solidFill>
                  <a:srgbClr val="4A6572"/>
                </a:solidFill>
                <a:latin typeface="Calibri" pitchFamily="34" charset="0"/>
                <a:ea typeface="Calibri" pitchFamily="34" charset="-122"/>
                <a:cs typeface="Calibri" pitchFamily="34" charset="-120"/>
              </a:rPr>
              <a:t>Churn risk tier (Healthy / Watch / At Risk / Critical)</a:t>
            </a:r>
            <a:endParaRPr lang="en-US" sz="850" dirty="0"/>
          </a:p>
          <a:p>
            <a:pPr marL="0" indent="0">
              <a:lnSpc>
                <a:spcPct val="140000"/>
              </a:lnSpc>
              <a:buNone/>
            </a:pPr>
            <a:r>
              <a:rPr lang="en-US" sz="850" dirty="0">
                <a:solidFill>
                  <a:srgbClr val="4A6572"/>
                </a:solidFill>
                <a:latin typeface="Calibri" pitchFamily="34" charset="0"/>
                <a:ea typeface="Calibri" pitchFamily="34" charset="-122"/>
                <a:cs typeface="Calibri" pitchFamily="34" charset="-120"/>
              </a:rPr>
              <a:t>Order frequency volatility</a:t>
            </a:r>
            <a:endParaRPr lang="en-US" sz="850" dirty="0"/>
          </a:p>
          <a:p>
            <a:pPr marL="0" indent="0">
              <a:lnSpc>
                <a:spcPct val="140000"/>
              </a:lnSpc>
              <a:buNone/>
            </a:pPr>
            <a:r>
              <a:rPr lang="en-US" sz="850" dirty="0">
                <a:solidFill>
                  <a:srgbClr val="4A6572"/>
                </a:solidFill>
                <a:latin typeface="Calibri" pitchFamily="34" charset="0"/>
                <a:ea typeface="Calibri" pitchFamily="34" charset="-122"/>
                <a:cs typeface="Calibri" pitchFamily="34" charset="-120"/>
              </a:rPr>
              <a:t>Average order value</a:t>
            </a:r>
            <a:endParaRPr lang="en-US" sz="850" dirty="0"/>
          </a:p>
          <a:p>
            <a:pPr marL="0" indent="0">
              <a:lnSpc>
                <a:spcPct val="140000"/>
              </a:lnSpc>
              <a:buNone/>
            </a:pPr>
            <a:r>
              <a:rPr lang="en-US" sz="850" dirty="0">
                <a:solidFill>
                  <a:srgbClr val="4A6572"/>
                </a:solidFill>
                <a:latin typeface="Calibri" pitchFamily="34" charset="0"/>
                <a:ea typeface="Calibri" pitchFamily="34" charset="-122"/>
                <a:cs typeface="Calibri" pitchFamily="34" charset="-120"/>
              </a:rPr>
              <a:t>Time from order to report delivery</a:t>
            </a:r>
            <a:endParaRPr lang="en-US" sz="850" dirty="0"/>
          </a:p>
        </p:txBody>
      </p:sp>
      <p:sp>
        <p:nvSpPr>
          <p:cNvPr id="19" name="Shape 17"/>
          <p:cNvSpPr/>
          <p:nvPr/>
        </p:nvSpPr>
        <p:spPr>
          <a:xfrm>
            <a:off x="4251960" y="3520440"/>
            <a:ext cx="4572000" cy="1463040"/>
          </a:xfrm>
          <a:prstGeom prst="rect">
            <a:avLst/>
          </a:prstGeom>
          <a:solidFill>
            <a:srgbClr val="FFFFFF"/>
          </a:solidFill>
          <a:ln/>
          <a:effectLst>
            <a:outerShdw blurRad="63500" dist="25400" dir="8100000" algn="bl" rotWithShape="0">
              <a:srgbClr val="000000">
                <a:alpha val="8000"/>
              </a:srgbClr>
            </a:outerShdw>
          </a:effectLst>
        </p:spPr>
        <p:txBody>
          <a:bodyPr/>
          <a:lstStyle/>
          <a:p>
            <a:endParaRPr lang="en-US"/>
          </a:p>
        </p:txBody>
      </p:sp>
      <p:sp>
        <p:nvSpPr>
          <p:cNvPr id="20" name="Shape 18"/>
          <p:cNvSpPr/>
          <p:nvPr/>
        </p:nvSpPr>
        <p:spPr>
          <a:xfrm>
            <a:off x="4251960" y="3520440"/>
            <a:ext cx="4572000" cy="320040"/>
          </a:xfrm>
          <a:prstGeom prst="rect">
            <a:avLst/>
          </a:prstGeom>
          <a:solidFill>
            <a:srgbClr val="D4A843"/>
          </a:solidFill>
          <a:ln/>
        </p:spPr>
        <p:txBody>
          <a:bodyPr/>
          <a:lstStyle/>
          <a:p>
            <a:endParaRPr lang="en-US"/>
          </a:p>
        </p:txBody>
      </p:sp>
      <p:sp>
        <p:nvSpPr>
          <p:cNvPr id="21" name="Text 19"/>
          <p:cNvSpPr/>
          <p:nvPr/>
        </p:nvSpPr>
        <p:spPr>
          <a:xfrm>
            <a:off x="4389120" y="3547872"/>
            <a:ext cx="4114800" cy="274320"/>
          </a:xfrm>
          <a:prstGeom prst="rect">
            <a:avLst/>
          </a:prstGeom>
          <a:noFill/>
          <a:ln/>
        </p:spPr>
        <p:txBody>
          <a:bodyPr wrap="square" lIns="0" tIns="0" rIns="0" bIns="0" rtlCol="0" anchor="ctr"/>
          <a:lstStyle/>
          <a:p>
            <a:pPr marL="0" indent="0">
              <a:buNone/>
            </a:pPr>
            <a:r>
              <a:rPr lang="en-US" sz="1000" b="1" dirty="0">
                <a:solidFill>
                  <a:srgbClr val="FFFFFF"/>
                </a:solidFill>
                <a:latin typeface="Trebuchet MS" pitchFamily="34" charset="0"/>
                <a:ea typeface="Trebuchet MS" pitchFamily="34" charset="-122"/>
                <a:cs typeface="Trebuchet MS" pitchFamily="34" charset="-120"/>
              </a:rPr>
              <a:t>Dashboard Filters</a:t>
            </a:r>
            <a:endParaRPr lang="en-US" sz="1000" dirty="0"/>
          </a:p>
        </p:txBody>
      </p:sp>
      <p:sp>
        <p:nvSpPr>
          <p:cNvPr id="22" name="Text 20"/>
          <p:cNvSpPr/>
          <p:nvPr/>
        </p:nvSpPr>
        <p:spPr>
          <a:xfrm>
            <a:off x="4389120" y="3913632"/>
            <a:ext cx="4297680" cy="1005840"/>
          </a:xfrm>
          <a:prstGeom prst="rect">
            <a:avLst/>
          </a:prstGeom>
          <a:noFill/>
          <a:ln/>
        </p:spPr>
        <p:txBody>
          <a:bodyPr wrap="square" lIns="0" tIns="0" rIns="0" bIns="0" rtlCol="0" anchor="t"/>
          <a:lstStyle/>
          <a:p>
            <a:pPr marL="0" indent="0">
              <a:lnSpc>
                <a:spcPct val="135000"/>
              </a:lnSpc>
              <a:buNone/>
            </a:pPr>
            <a:r>
              <a:rPr lang="en-US" sz="850" dirty="0">
                <a:solidFill>
                  <a:srgbClr val="4A6572"/>
                </a:solidFill>
                <a:latin typeface="Calibri" pitchFamily="34" charset="0"/>
                <a:ea typeface="Calibri" pitchFamily="34" charset="-122"/>
                <a:cs typeface="Calibri" pitchFamily="34" charset="-120"/>
              </a:rPr>
              <a:t>Core slicers: Time period, Region, CS Owner, Account, Physician, Assay type, Risk tier</a:t>
            </a:r>
            <a:endParaRPr lang="en-US" sz="850" dirty="0"/>
          </a:p>
          <a:p>
            <a:pPr marL="0" indent="0">
              <a:lnSpc>
                <a:spcPct val="135000"/>
              </a:lnSpc>
              <a:buNone/>
            </a:pPr>
            <a:r>
              <a:rPr lang="en-US" sz="850" dirty="0">
                <a:solidFill>
                  <a:srgbClr val="4A6572"/>
                </a:solidFill>
                <a:latin typeface="Calibri" pitchFamily="34" charset="0"/>
                <a:ea typeface="Calibri" pitchFamily="34" charset="-122"/>
                <a:cs typeface="Calibri" pitchFamily="34" charset="-120"/>
              </a:rPr>
              <a:t>Priority sort options within each view:</a:t>
            </a:r>
            <a:endParaRPr lang="en-US" sz="850" dirty="0"/>
          </a:p>
          <a:p>
            <a:pPr marL="0" indent="0">
              <a:lnSpc>
                <a:spcPct val="135000"/>
              </a:lnSpc>
              <a:buNone/>
            </a:pPr>
            <a:r>
              <a:rPr lang="en-US" sz="850" dirty="0">
                <a:solidFill>
                  <a:srgbClr val="4A6572"/>
                </a:solidFill>
                <a:latin typeface="Calibri" pitchFamily="34" charset="0"/>
                <a:ea typeface="Calibri" pitchFamily="34" charset="-122"/>
                <a:cs typeface="Calibri" pitchFamily="34" charset="-120"/>
              </a:rPr>
              <a:t xml:space="preserve">    Largest MoM order decline</a:t>
            </a:r>
            <a:endParaRPr lang="en-US" sz="850" dirty="0"/>
          </a:p>
          <a:p>
            <a:pPr marL="0" indent="0">
              <a:lnSpc>
                <a:spcPct val="135000"/>
              </a:lnSpc>
              <a:buNone/>
            </a:pPr>
            <a:r>
              <a:rPr lang="en-US" sz="850" dirty="0">
                <a:solidFill>
                  <a:srgbClr val="4A6572"/>
                </a:solidFill>
                <a:latin typeface="Calibri" pitchFamily="34" charset="0"/>
                <a:ea typeface="Calibri" pitchFamily="34" charset="-122"/>
                <a:cs typeface="Calibri" pitchFamily="34" charset="-120"/>
              </a:rPr>
              <a:t xml:space="preserve">    No CS contact in 30+ days</a:t>
            </a:r>
            <a:endParaRPr lang="en-US" sz="850" dirty="0"/>
          </a:p>
          <a:p>
            <a:pPr marL="0" indent="0">
              <a:lnSpc>
                <a:spcPct val="135000"/>
              </a:lnSpc>
              <a:buNone/>
            </a:pPr>
            <a:r>
              <a:rPr lang="en-US" sz="850" dirty="0">
                <a:solidFill>
                  <a:srgbClr val="4A6572"/>
                </a:solidFill>
                <a:latin typeface="Calibri" pitchFamily="34" charset="0"/>
                <a:ea typeface="Calibri" pitchFamily="34" charset="-122"/>
                <a:cs typeface="Calibri" pitchFamily="34" charset="-120"/>
              </a:rPr>
              <a:t xml:space="preserve">    Churn risk score (highest first)</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1A1A2E"/>
          </a:solidFill>
          <a:ln/>
        </p:spPr>
        <p:txBody>
          <a:bodyPr/>
          <a:lstStyle/>
          <a:p>
            <a:endParaRPr lang="en-US"/>
          </a:p>
        </p:txBody>
      </p:sp>
      <p:sp>
        <p:nvSpPr>
          <p:cNvPr id="3" name="Text 1"/>
          <p:cNvSpPr/>
          <p:nvPr/>
        </p:nvSpPr>
        <p:spPr>
          <a:xfrm>
            <a:off x="274320" y="36576"/>
            <a:ext cx="4114800" cy="27432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Part 3: The Physician Health Dashboard</a:t>
            </a:r>
            <a:endParaRPr lang="en-US" sz="1200" dirty="0"/>
          </a:p>
        </p:txBody>
      </p:sp>
      <p:sp>
        <p:nvSpPr>
          <p:cNvPr id="4" name="Shape 2"/>
          <p:cNvSpPr/>
          <p:nvPr/>
        </p:nvSpPr>
        <p:spPr>
          <a:xfrm>
            <a:off x="0" y="347472"/>
            <a:ext cx="9144000" cy="219456"/>
          </a:xfrm>
          <a:prstGeom prst="rect">
            <a:avLst/>
          </a:prstGeom>
          <a:solidFill>
            <a:srgbClr val="FFFFFF"/>
          </a:solidFill>
          <a:ln w="6350">
            <a:solidFill>
              <a:srgbClr val="E5E7EB"/>
            </a:solidFill>
            <a:prstDash val="solid"/>
          </a:ln>
        </p:spPr>
        <p:txBody>
          <a:bodyPr/>
          <a:lstStyle/>
          <a:p>
            <a:endParaRPr lang="en-US"/>
          </a:p>
        </p:txBody>
      </p:sp>
      <p:sp>
        <p:nvSpPr>
          <p:cNvPr id="5" name="Text 3"/>
          <p:cNvSpPr/>
          <p:nvPr/>
        </p:nvSpPr>
        <p:spPr>
          <a:xfrm>
            <a:off x="274320" y="365760"/>
            <a:ext cx="1280160" cy="164592"/>
          </a:xfrm>
          <a:prstGeom prst="rect">
            <a:avLst/>
          </a:prstGeom>
          <a:noFill/>
          <a:ln/>
        </p:spPr>
        <p:txBody>
          <a:bodyPr wrap="square" lIns="0" tIns="0" rIns="0" bIns="0" rtlCol="0" anchor="ctr"/>
          <a:lstStyle/>
          <a:p>
            <a:pPr marL="0" indent="0">
              <a:buNone/>
            </a:pPr>
            <a:r>
              <a:rPr lang="en-US" sz="500" dirty="0">
                <a:solidFill>
                  <a:srgbClr val="6B7280"/>
                </a:solidFill>
                <a:latin typeface="Calibri" pitchFamily="34" charset="0"/>
                <a:ea typeface="Calibri" pitchFamily="34" charset="-122"/>
                <a:cs typeface="Calibri" pitchFamily="34" charset="-120"/>
              </a:rPr>
              <a:t xml:space="preserve">Region: </a:t>
            </a:r>
            <a:r>
              <a:rPr lang="en-US" sz="500" b="1" dirty="0">
                <a:solidFill>
                  <a:srgbClr val="1A1A2E"/>
                </a:solidFill>
                <a:latin typeface="Trebuchet MS" pitchFamily="34" charset="0"/>
                <a:ea typeface="Trebuchet MS" pitchFamily="34" charset="-122"/>
                <a:cs typeface="Trebuchet MS" pitchFamily="34" charset="-120"/>
              </a:rPr>
              <a:t>All ▾</a:t>
            </a:r>
            <a:endParaRPr lang="en-US" sz="500" dirty="0"/>
          </a:p>
        </p:txBody>
      </p:sp>
      <p:sp>
        <p:nvSpPr>
          <p:cNvPr id="6" name="Text 4"/>
          <p:cNvSpPr/>
          <p:nvPr/>
        </p:nvSpPr>
        <p:spPr>
          <a:xfrm>
            <a:off x="1691640" y="365760"/>
            <a:ext cx="1280160" cy="164592"/>
          </a:xfrm>
          <a:prstGeom prst="rect">
            <a:avLst/>
          </a:prstGeom>
          <a:noFill/>
          <a:ln/>
        </p:spPr>
        <p:txBody>
          <a:bodyPr wrap="square" lIns="0" tIns="0" rIns="0" bIns="0" rtlCol="0" anchor="ctr"/>
          <a:lstStyle/>
          <a:p>
            <a:pPr marL="0" indent="0">
              <a:buNone/>
            </a:pPr>
            <a:r>
              <a:rPr lang="en-US" sz="500" dirty="0">
                <a:solidFill>
                  <a:srgbClr val="6B7280"/>
                </a:solidFill>
                <a:latin typeface="Calibri" pitchFamily="34" charset="0"/>
                <a:ea typeface="Calibri" pitchFamily="34" charset="-122"/>
                <a:cs typeface="Calibri" pitchFamily="34" charset="-120"/>
              </a:rPr>
              <a:t xml:space="preserve">Risk Tier: </a:t>
            </a:r>
            <a:r>
              <a:rPr lang="en-US" sz="500" b="1" dirty="0">
                <a:solidFill>
                  <a:srgbClr val="1A1A2E"/>
                </a:solidFill>
                <a:latin typeface="Trebuchet MS" pitchFamily="34" charset="0"/>
                <a:ea typeface="Trebuchet MS" pitchFamily="34" charset="-122"/>
                <a:cs typeface="Trebuchet MS" pitchFamily="34" charset="-120"/>
              </a:rPr>
              <a:t>All ▾</a:t>
            </a:r>
            <a:endParaRPr lang="en-US" sz="500" dirty="0"/>
          </a:p>
        </p:txBody>
      </p:sp>
      <p:sp>
        <p:nvSpPr>
          <p:cNvPr id="7" name="Text 5"/>
          <p:cNvSpPr/>
          <p:nvPr/>
        </p:nvSpPr>
        <p:spPr>
          <a:xfrm>
            <a:off x="3108960" y="365760"/>
            <a:ext cx="1280160" cy="164592"/>
          </a:xfrm>
          <a:prstGeom prst="rect">
            <a:avLst/>
          </a:prstGeom>
          <a:noFill/>
          <a:ln/>
        </p:spPr>
        <p:txBody>
          <a:bodyPr wrap="square" lIns="0" tIns="0" rIns="0" bIns="0" rtlCol="0" anchor="ctr"/>
          <a:lstStyle/>
          <a:p>
            <a:pPr marL="0" indent="0">
              <a:buNone/>
            </a:pPr>
            <a:r>
              <a:rPr lang="en-US" sz="500" dirty="0">
                <a:solidFill>
                  <a:srgbClr val="6B7280"/>
                </a:solidFill>
                <a:latin typeface="Calibri" pitchFamily="34" charset="0"/>
                <a:ea typeface="Calibri" pitchFamily="34" charset="-122"/>
                <a:cs typeface="Calibri" pitchFamily="34" charset="-120"/>
              </a:rPr>
              <a:t xml:space="preserve">CS Owner: </a:t>
            </a:r>
            <a:r>
              <a:rPr lang="en-US" sz="500" b="1" dirty="0">
                <a:solidFill>
                  <a:srgbClr val="1A1A2E"/>
                </a:solidFill>
                <a:latin typeface="Trebuchet MS" pitchFamily="34" charset="0"/>
                <a:ea typeface="Trebuchet MS" pitchFamily="34" charset="-122"/>
                <a:cs typeface="Trebuchet MS" pitchFamily="34" charset="-120"/>
              </a:rPr>
              <a:t>All ▾</a:t>
            </a:r>
            <a:endParaRPr lang="en-US" sz="500" dirty="0"/>
          </a:p>
        </p:txBody>
      </p:sp>
      <p:sp>
        <p:nvSpPr>
          <p:cNvPr id="8" name="Text 6"/>
          <p:cNvSpPr/>
          <p:nvPr/>
        </p:nvSpPr>
        <p:spPr>
          <a:xfrm>
            <a:off x="4526280" y="365760"/>
            <a:ext cx="1280160" cy="164592"/>
          </a:xfrm>
          <a:prstGeom prst="rect">
            <a:avLst/>
          </a:prstGeom>
          <a:noFill/>
          <a:ln/>
        </p:spPr>
        <p:txBody>
          <a:bodyPr wrap="square" lIns="0" tIns="0" rIns="0" bIns="0" rtlCol="0" anchor="ctr"/>
          <a:lstStyle/>
          <a:p>
            <a:pPr marL="0" indent="0">
              <a:buNone/>
            </a:pPr>
            <a:r>
              <a:rPr lang="en-US" sz="500" dirty="0">
                <a:solidFill>
                  <a:srgbClr val="6B7280"/>
                </a:solidFill>
                <a:latin typeface="Calibri" pitchFamily="34" charset="0"/>
                <a:ea typeface="Calibri" pitchFamily="34" charset="-122"/>
                <a:cs typeface="Calibri" pitchFamily="34" charset="-120"/>
              </a:rPr>
              <a:t xml:space="preserve">Period: </a:t>
            </a:r>
            <a:r>
              <a:rPr lang="en-US" sz="500" b="1" dirty="0">
                <a:solidFill>
                  <a:srgbClr val="1A1A2E"/>
                </a:solidFill>
                <a:latin typeface="Trebuchet MS" pitchFamily="34" charset="0"/>
                <a:ea typeface="Trebuchet MS" pitchFamily="34" charset="-122"/>
                <a:cs typeface="Trebuchet MS" pitchFamily="34" charset="-120"/>
              </a:rPr>
              <a:t>Last 30 Days ▾</a:t>
            </a:r>
            <a:endParaRPr lang="en-US" sz="500" dirty="0"/>
          </a:p>
        </p:txBody>
      </p:sp>
      <p:sp>
        <p:nvSpPr>
          <p:cNvPr id="9" name="Shape 7"/>
          <p:cNvSpPr/>
          <p:nvPr/>
        </p:nvSpPr>
        <p:spPr>
          <a:xfrm>
            <a:off x="201168" y="658368"/>
            <a:ext cx="1682496" cy="420624"/>
          </a:xfrm>
          <a:prstGeom prst="rect">
            <a:avLst/>
          </a:prstGeom>
          <a:solidFill>
            <a:srgbClr val="FFFFFF"/>
          </a:solidFill>
          <a:ln w="6350">
            <a:solidFill>
              <a:srgbClr val="E5E7EB"/>
            </a:solidFill>
            <a:prstDash val="solid"/>
          </a:ln>
        </p:spPr>
        <p:txBody>
          <a:bodyPr/>
          <a:lstStyle/>
          <a:p>
            <a:endParaRPr lang="en-US"/>
          </a:p>
        </p:txBody>
      </p:sp>
      <p:sp>
        <p:nvSpPr>
          <p:cNvPr id="10" name="Text 8"/>
          <p:cNvSpPr/>
          <p:nvPr/>
        </p:nvSpPr>
        <p:spPr>
          <a:xfrm>
            <a:off x="256032" y="667512"/>
            <a:ext cx="1572768" cy="100584"/>
          </a:xfrm>
          <a:prstGeom prst="rect">
            <a:avLst/>
          </a:prstGeom>
          <a:noFill/>
          <a:ln/>
        </p:spPr>
        <p:txBody>
          <a:bodyPr wrap="square" lIns="0" tIns="0" rIns="0" bIns="0" rtlCol="0" anchor="ctr"/>
          <a:lstStyle/>
          <a:p>
            <a:pPr marL="0" indent="0">
              <a:buNone/>
            </a:pPr>
            <a:r>
              <a:rPr lang="en-US" sz="450" dirty="0">
                <a:solidFill>
                  <a:srgbClr val="6B7280"/>
                </a:solidFill>
                <a:latin typeface="Calibri" pitchFamily="34" charset="0"/>
                <a:ea typeface="Calibri" pitchFamily="34" charset="-122"/>
                <a:cs typeface="Calibri" pitchFamily="34" charset="-120"/>
              </a:rPr>
              <a:t>Total Physicians</a:t>
            </a:r>
            <a:endParaRPr lang="en-US" sz="450" dirty="0"/>
          </a:p>
        </p:txBody>
      </p:sp>
      <p:sp>
        <p:nvSpPr>
          <p:cNvPr id="11" name="Text 9"/>
          <p:cNvSpPr/>
          <p:nvPr/>
        </p:nvSpPr>
        <p:spPr>
          <a:xfrm>
            <a:off x="256032" y="768096"/>
            <a:ext cx="777240" cy="201168"/>
          </a:xfrm>
          <a:prstGeom prst="rect">
            <a:avLst/>
          </a:prstGeom>
          <a:noFill/>
          <a:ln/>
        </p:spPr>
        <p:txBody>
          <a:bodyPr wrap="square" lIns="0" tIns="0" rIns="0" bIns="0" rtlCol="0" anchor="ctr"/>
          <a:lstStyle/>
          <a:p>
            <a:pPr marL="0" indent="0">
              <a:buNone/>
            </a:pPr>
            <a:r>
              <a:rPr lang="en-US" sz="1300" b="1" dirty="0">
                <a:solidFill>
                  <a:srgbClr val="111827"/>
                </a:solidFill>
                <a:latin typeface="Trebuchet MS" pitchFamily="34" charset="0"/>
                <a:ea typeface="Trebuchet MS" pitchFamily="34" charset="-122"/>
                <a:cs typeface="Trebuchet MS" pitchFamily="34" charset="-120"/>
              </a:rPr>
              <a:t>127</a:t>
            </a:r>
            <a:endParaRPr lang="en-US" sz="1300" dirty="0"/>
          </a:p>
        </p:txBody>
      </p:sp>
      <p:sp>
        <p:nvSpPr>
          <p:cNvPr id="12" name="Text 10"/>
          <p:cNvSpPr/>
          <p:nvPr/>
        </p:nvSpPr>
        <p:spPr>
          <a:xfrm>
            <a:off x="978408" y="822960"/>
            <a:ext cx="868680" cy="91440"/>
          </a:xfrm>
          <a:prstGeom prst="rect">
            <a:avLst/>
          </a:prstGeom>
          <a:noFill/>
          <a:ln/>
        </p:spPr>
        <p:txBody>
          <a:bodyPr wrap="square" lIns="0" tIns="0" rIns="0" bIns="0" rtlCol="0" anchor="ctr"/>
          <a:lstStyle/>
          <a:p>
            <a:pPr marL="0" indent="0" algn="r">
              <a:buNone/>
            </a:pPr>
            <a:r>
              <a:rPr lang="en-US" sz="400" dirty="0">
                <a:solidFill>
                  <a:srgbClr val="9CA3AF"/>
                </a:solidFill>
                <a:latin typeface="Calibri" pitchFamily="34" charset="0"/>
                <a:ea typeface="Calibri" pitchFamily="34" charset="-122"/>
                <a:cs typeface="Calibri" pitchFamily="34" charset="-120"/>
              </a:rPr>
              <a:t>in portfolio</a:t>
            </a:r>
            <a:endParaRPr lang="en-US" sz="400" dirty="0"/>
          </a:p>
        </p:txBody>
      </p:sp>
      <p:sp>
        <p:nvSpPr>
          <p:cNvPr id="13" name="Shape 11"/>
          <p:cNvSpPr/>
          <p:nvPr/>
        </p:nvSpPr>
        <p:spPr>
          <a:xfrm>
            <a:off x="1984248" y="658368"/>
            <a:ext cx="1682496" cy="420624"/>
          </a:xfrm>
          <a:prstGeom prst="rect">
            <a:avLst/>
          </a:prstGeom>
          <a:solidFill>
            <a:srgbClr val="FFFFFF"/>
          </a:solidFill>
          <a:ln w="6350">
            <a:solidFill>
              <a:srgbClr val="E5E7EB"/>
            </a:solidFill>
            <a:prstDash val="solid"/>
          </a:ln>
        </p:spPr>
        <p:txBody>
          <a:bodyPr/>
          <a:lstStyle/>
          <a:p>
            <a:endParaRPr lang="en-US"/>
          </a:p>
        </p:txBody>
      </p:sp>
      <p:sp>
        <p:nvSpPr>
          <p:cNvPr id="14" name="Text 12"/>
          <p:cNvSpPr/>
          <p:nvPr/>
        </p:nvSpPr>
        <p:spPr>
          <a:xfrm>
            <a:off x="2039112" y="667512"/>
            <a:ext cx="1572768" cy="100584"/>
          </a:xfrm>
          <a:prstGeom prst="rect">
            <a:avLst/>
          </a:prstGeom>
          <a:noFill/>
          <a:ln/>
        </p:spPr>
        <p:txBody>
          <a:bodyPr wrap="square" lIns="0" tIns="0" rIns="0" bIns="0" rtlCol="0" anchor="ctr"/>
          <a:lstStyle/>
          <a:p>
            <a:pPr marL="0" indent="0">
              <a:buNone/>
            </a:pPr>
            <a:r>
              <a:rPr lang="en-US" sz="450" dirty="0">
                <a:solidFill>
                  <a:srgbClr val="6B7280"/>
                </a:solidFill>
                <a:latin typeface="Calibri" pitchFamily="34" charset="0"/>
                <a:ea typeface="Calibri" pitchFamily="34" charset="-122"/>
                <a:cs typeface="Calibri" pitchFamily="34" charset="-120"/>
              </a:rPr>
              <a:t>High Churn Risk</a:t>
            </a:r>
            <a:endParaRPr lang="en-US" sz="450" dirty="0"/>
          </a:p>
        </p:txBody>
      </p:sp>
      <p:sp>
        <p:nvSpPr>
          <p:cNvPr id="15" name="Text 13"/>
          <p:cNvSpPr/>
          <p:nvPr/>
        </p:nvSpPr>
        <p:spPr>
          <a:xfrm>
            <a:off x="2039112" y="768096"/>
            <a:ext cx="777240" cy="201168"/>
          </a:xfrm>
          <a:prstGeom prst="rect">
            <a:avLst/>
          </a:prstGeom>
          <a:noFill/>
          <a:ln/>
        </p:spPr>
        <p:txBody>
          <a:bodyPr wrap="square" lIns="0" tIns="0" rIns="0" bIns="0" rtlCol="0" anchor="ctr"/>
          <a:lstStyle/>
          <a:p>
            <a:pPr marL="0" indent="0">
              <a:buNone/>
            </a:pPr>
            <a:r>
              <a:rPr lang="en-US" sz="1300" b="1" dirty="0">
                <a:solidFill>
                  <a:srgbClr val="111827"/>
                </a:solidFill>
                <a:latin typeface="Trebuchet MS" pitchFamily="34" charset="0"/>
                <a:ea typeface="Trebuchet MS" pitchFamily="34" charset="-122"/>
                <a:cs typeface="Trebuchet MS" pitchFamily="34" charset="-120"/>
              </a:rPr>
              <a:t>18</a:t>
            </a:r>
            <a:endParaRPr lang="en-US" sz="1300" dirty="0"/>
          </a:p>
        </p:txBody>
      </p:sp>
      <p:sp>
        <p:nvSpPr>
          <p:cNvPr id="16" name="Text 14"/>
          <p:cNvSpPr/>
          <p:nvPr/>
        </p:nvSpPr>
        <p:spPr>
          <a:xfrm>
            <a:off x="2761488" y="822960"/>
            <a:ext cx="868680" cy="91440"/>
          </a:xfrm>
          <a:prstGeom prst="rect">
            <a:avLst/>
          </a:prstGeom>
          <a:noFill/>
          <a:ln/>
        </p:spPr>
        <p:txBody>
          <a:bodyPr wrap="square" lIns="0" tIns="0" rIns="0" bIns="0" rtlCol="0" anchor="ctr"/>
          <a:lstStyle/>
          <a:p>
            <a:pPr marL="0" indent="0" algn="r">
              <a:buNone/>
            </a:pPr>
            <a:r>
              <a:rPr lang="en-US" sz="400" dirty="0">
                <a:solidFill>
                  <a:srgbClr val="9CA3AF"/>
                </a:solidFill>
                <a:latin typeface="Calibri" pitchFamily="34" charset="0"/>
                <a:ea typeface="Calibri" pitchFamily="34" charset="-122"/>
                <a:cs typeface="Calibri" pitchFamily="34" charset="-120"/>
              </a:rPr>
              <a:t>14% of portfolio</a:t>
            </a:r>
            <a:endParaRPr lang="en-US" sz="400" dirty="0"/>
          </a:p>
        </p:txBody>
      </p:sp>
      <p:sp>
        <p:nvSpPr>
          <p:cNvPr id="17" name="Shape 15"/>
          <p:cNvSpPr/>
          <p:nvPr/>
        </p:nvSpPr>
        <p:spPr>
          <a:xfrm>
            <a:off x="3767328" y="658368"/>
            <a:ext cx="1682496" cy="420624"/>
          </a:xfrm>
          <a:prstGeom prst="rect">
            <a:avLst/>
          </a:prstGeom>
          <a:solidFill>
            <a:srgbClr val="FFFFFF"/>
          </a:solidFill>
          <a:ln w="6350">
            <a:solidFill>
              <a:srgbClr val="E5E7EB"/>
            </a:solidFill>
            <a:prstDash val="solid"/>
          </a:ln>
        </p:spPr>
        <p:txBody>
          <a:bodyPr/>
          <a:lstStyle/>
          <a:p>
            <a:endParaRPr lang="en-US"/>
          </a:p>
        </p:txBody>
      </p:sp>
      <p:sp>
        <p:nvSpPr>
          <p:cNvPr id="18" name="Text 16"/>
          <p:cNvSpPr/>
          <p:nvPr/>
        </p:nvSpPr>
        <p:spPr>
          <a:xfrm>
            <a:off x="3822192" y="667512"/>
            <a:ext cx="1572768" cy="100584"/>
          </a:xfrm>
          <a:prstGeom prst="rect">
            <a:avLst/>
          </a:prstGeom>
          <a:noFill/>
          <a:ln/>
        </p:spPr>
        <p:txBody>
          <a:bodyPr wrap="square" lIns="0" tIns="0" rIns="0" bIns="0" rtlCol="0" anchor="ctr"/>
          <a:lstStyle/>
          <a:p>
            <a:pPr marL="0" indent="0">
              <a:buNone/>
            </a:pPr>
            <a:r>
              <a:rPr lang="en-US" sz="450" dirty="0">
                <a:solidFill>
                  <a:srgbClr val="6B7280"/>
                </a:solidFill>
                <a:latin typeface="Calibri" pitchFamily="34" charset="0"/>
                <a:ea typeface="Calibri" pitchFamily="34" charset="-122"/>
                <a:cs typeface="Calibri" pitchFamily="34" charset="-120"/>
              </a:rPr>
              <a:t>No CS Contact 30d</a:t>
            </a:r>
            <a:endParaRPr lang="en-US" sz="450" dirty="0"/>
          </a:p>
        </p:txBody>
      </p:sp>
      <p:sp>
        <p:nvSpPr>
          <p:cNvPr id="19" name="Text 17"/>
          <p:cNvSpPr/>
          <p:nvPr/>
        </p:nvSpPr>
        <p:spPr>
          <a:xfrm>
            <a:off x="3822192" y="768096"/>
            <a:ext cx="777240" cy="201168"/>
          </a:xfrm>
          <a:prstGeom prst="rect">
            <a:avLst/>
          </a:prstGeom>
          <a:noFill/>
          <a:ln/>
        </p:spPr>
        <p:txBody>
          <a:bodyPr wrap="square" lIns="0" tIns="0" rIns="0" bIns="0" rtlCol="0" anchor="ctr"/>
          <a:lstStyle/>
          <a:p>
            <a:pPr marL="0" indent="0">
              <a:buNone/>
            </a:pPr>
            <a:r>
              <a:rPr lang="en-US" sz="1300" b="1" dirty="0">
                <a:solidFill>
                  <a:srgbClr val="111827"/>
                </a:solidFill>
                <a:latin typeface="Trebuchet MS" pitchFamily="34" charset="0"/>
                <a:ea typeface="Trebuchet MS" pitchFamily="34" charset="-122"/>
                <a:cs typeface="Trebuchet MS" pitchFamily="34" charset="-120"/>
              </a:rPr>
              <a:t>34</a:t>
            </a:r>
            <a:endParaRPr lang="en-US" sz="1300" dirty="0"/>
          </a:p>
        </p:txBody>
      </p:sp>
      <p:sp>
        <p:nvSpPr>
          <p:cNvPr id="20" name="Text 18"/>
          <p:cNvSpPr/>
          <p:nvPr/>
        </p:nvSpPr>
        <p:spPr>
          <a:xfrm>
            <a:off x="4544568" y="822960"/>
            <a:ext cx="868680" cy="91440"/>
          </a:xfrm>
          <a:prstGeom prst="rect">
            <a:avLst/>
          </a:prstGeom>
          <a:noFill/>
          <a:ln/>
        </p:spPr>
        <p:txBody>
          <a:bodyPr wrap="square" lIns="0" tIns="0" rIns="0" bIns="0" rtlCol="0" anchor="ctr"/>
          <a:lstStyle/>
          <a:p>
            <a:pPr marL="0" indent="0" algn="r">
              <a:buNone/>
            </a:pPr>
            <a:r>
              <a:rPr lang="en-US" sz="400" dirty="0">
                <a:solidFill>
                  <a:srgbClr val="9CA3AF"/>
                </a:solidFill>
                <a:latin typeface="Calibri" pitchFamily="34" charset="0"/>
                <a:ea typeface="Calibri" pitchFamily="34" charset="-122"/>
                <a:cs typeface="Calibri" pitchFamily="34" charset="-120"/>
              </a:rPr>
              <a:t>27% of portfolio</a:t>
            </a:r>
            <a:endParaRPr lang="en-US" sz="400" dirty="0"/>
          </a:p>
        </p:txBody>
      </p:sp>
      <p:sp>
        <p:nvSpPr>
          <p:cNvPr id="21" name="Shape 19"/>
          <p:cNvSpPr/>
          <p:nvPr/>
        </p:nvSpPr>
        <p:spPr>
          <a:xfrm>
            <a:off x="5550408" y="658368"/>
            <a:ext cx="1682496" cy="420624"/>
          </a:xfrm>
          <a:prstGeom prst="rect">
            <a:avLst/>
          </a:prstGeom>
          <a:solidFill>
            <a:srgbClr val="FFFFFF"/>
          </a:solidFill>
          <a:ln w="6350">
            <a:solidFill>
              <a:srgbClr val="E5E7EB"/>
            </a:solidFill>
            <a:prstDash val="solid"/>
          </a:ln>
        </p:spPr>
        <p:txBody>
          <a:bodyPr/>
          <a:lstStyle/>
          <a:p>
            <a:endParaRPr lang="en-US"/>
          </a:p>
        </p:txBody>
      </p:sp>
      <p:sp>
        <p:nvSpPr>
          <p:cNvPr id="22" name="Text 20"/>
          <p:cNvSpPr/>
          <p:nvPr/>
        </p:nvSpPr>
        <p:spPr>
          <a:xfrm>
            <a:off x="5605272" y="667512"/>
            <a:ext cx="1572768" cy="100584"/>
          </a:xfrm>
          <a:prstGeom prst="rect">
            <a:avLst/>
          </a:prstGeom>
          <a:noFill/>
          <a:ln/>
        </p:spPr>
        <p:txBody>
          <a:bodyPr wrap="square" lIns="0" tIns="0" rIns="0" bIns="0" rtlCol="0" anchor="ctr"/>
          <a:lstStyle/>
          <a:p>
            <a:pPr marL="0" indent="0">
              <a:buNone/>
            </a:pPr>
            <a:r>
              <a:rPr lang="en-US" sz="450" dirty="0">
                <a:solidFill>
                  <a:srgbClr val="6B7280"/>
                </a:solidFill>
                <a:latin typeface="Calibri" pitchFamily="34" charset="0"/>
                <a:ea typeface="Calibri" pitchFamily="34" charset="-122"/>
                <a:cs typeface="Calibri" pitchFamily="34" charset="-120"/>
              </a:rPr>
              <a:t>Avg MoM Order Change</a:t>
            </a:r>
            <a:endParaRPr lang="en-US" sz="450" dirty="0"/>
          </a:p>
        </p:txBody>
      </p:sp>
      <p:sp>
        <p:nvSpPr>
          <p:cNvPr id="23" name="Text 21"/>
          <p:cNvSpPr/>
          <p:nvPr/>
        </p:nvSpPr>
        <p:spPr>
          <a:xfrm>
            <a:off x="5605272" y="768096"/>
            <a:ext cx="777240" cy="201168"/>
          </a:xfrm>
          <a:prstGeom prst="rect">
            <a:avLst/>
          </a:prstGeom>
          <a:noFill/>
          <a:ln/>
        </p:spPr>
        <p:txBody>
          <a:bodyPr wrap="square" lIns="0" tIns="0" rIns="0" bIns="0" rtlCol="0" anchor="ctr"/>
          <a:lstStyle/>
          <a:p>
            <a:pPr marL="0" indent="0">
              <a:buNone/>
            </a:pPr>
            <a:r>
              <a:rPr lang="en-US" sz="1300" b="1" dirty="0">
                <a:solidFill>
                  <a:srgbClr val="DC2626"/>
                </a:solidFill>
                <a:latin typeface="Trebuchet MS" pitchFamily="34" charset="0"/>
                <a:ea typeface="Trebuchet MS" pitchFamily="34" charset="-122"/>
                <a:cs typeface="Trebuchet MS" pitchFamily="34" charset="-120"/>
              </a:rPr>
              <a:t>-6%</a:t>
            </a:r>
            <a:endParaRPr lang="en-US" sz="1300" dirty="0"/>
          </a:p>
        </p:txBody>
      </p:sp>
      <p:sp>
        <p:nvSpPr>
          <p:cNvPr id="24" name="Text 22"/>
          <p:cNvSpPr/>
          <p:nvPr/>
        </p:nvSpPr>
        <p:spPr>
          <a:xfrm>
            <a:off x="6327648" y="822960"/>
            <a:ext cx="868680" cy="91440"/>
          </a:xfrm>
          <a:prstGeom prst="rect">
            <a:avLst/>
          </a:prstGeom>
          <a:noFill/>
          <a:ln/>
        </p:spPr>
        <p:txBody>
          <a:bodyPr wrap="square" lIns="0" tIns="0" rIns="0" bIns="0" rtlCol="0" anchor="ctr"/>
          <a:lstStyle/>
          <a:p>
            <a:pPr marL="0" indent="0" algn="r">
              <a:buNone/>
            </a:pPr>
            <a:r>
              <a:rPr lang="en-US" sz="400" dirty="0">
                <a:solidFill>
                  <a:srgbClr val="9CA3AF"/>
                </a:solidFill>
                <a:latin typeface="Calibri" pitchFamily="34" charset="0"/>
                <a:ea typeface="Calibri" pitchFamily="34" charset="-122"/>
                <a:cs typeface="Calibri" pitchFamily="34" charset="-120"/>
              </a:rPr>
              <a:t>vs. prior 30 days</a:t>
            </a:r>
            <a:endParaRPr lang="en-US" sz="400" dirty="0"/>
          </a:p>
        </p:txBody>
      </p:sp>
      <p:sp>
        <p:nvSpPr>
          <p:cNvPr id="25" name="Shape 23"/>
          <p:cNvSpPr/>
          <p:nvPr/>
        </p:nvSpPr>
        <p:spPr>
          <a:xfrm>
            <a:off x="7333488" y="658368"/>
            <a:ext cx="1682496" cy="420624"/>
          </a:xfrm>
          <a:prstGeom prst="rect">
            <a:avLst/>
          </a:prstGeom>
          <a:solidFill>
            <a:srgbClr val="FFFFFF"/>
          </a:solidFill>
          <a:ln w="6350">
            <a:solidFill>
              <a:srgbClr val="E5E7EB"/>
            </a:solidFill>
            <a:prstDash val="solid"/>
          </a:ln>
        </p:spPr>
        <p:txBody>
          <a:bodyPr/>
          <a:lstStyle/>
          <a:p>
            <a:endParaRPr lang="en-US"/>
          </a:p>
        </p:txBody>
      </p:sp>
      <p:sp>
        <p:nvSpPr>
          <p:cNvPr id="26" name="Text 24"/>
          <p:cNvSpPr/>
          <p:nvPr/>
        </p:nvSpPr>
        <p:spPr>
          <a:xfrm>
            <a:off x="7388352" y="667512"/>
            <a:ext cx="1572768" cy="100584"/>
          </a:xfrm>
          <a:prstGeom prst="rect">
            <a:avLst/>
          </a:prstGeom>
          <a:noFill/>
          <a:ln/>
        </p:spPr>
        <p:txBody>
          <a:bodyPr wrap="square" lIns="0" tIns="0" rIns="0" bIns="0" rtlCol="0" anchor="ctr"/>
          <a:lstStyle/>
          <a:p>
            <a:pPr marL="0" indent="0">
              <a:buNone/>
            </a:pPr>
            <a:r>
              <a:rPr lang="en-US" sz="450" dirty="0">
                <a:solidFill>
                  <a:srgbClr val="6B7280"/>
                </a:solidFill>
                <a:latin typeface="Calibri" pitchFamily="34" charset="0"/>
                <a:ea typeface="Calibri" pitchFamily="34" charset="-122"/>
                <a:cs typeface="Calibri" pitchFamily="34" charset="-120"/>
              </a:rPr>
              <a:t>Total Orders (30d)</a:t>
            </a:r>
            <a:endParaRPr lang="en-US" sz="450" dirty="0"/>
          </a:p>
        </p:txBody>
      </p:sp>
      <p:sp>
        <p:nvSpPr>
          <p:cNvPr id="27" name="Text 25"/>
          <p:cNvSpPr/>
          <p:nvPr/>
        </p:nvSpPr>
        <p:spPr>
          <a:xfrm>
            <a:off x="7388352" y="768096"/>
            <a:ext cx="777240" cy="201168"/>
          </a:xfrm>
          <a:prstGeom prst="rect">
            <a:avLst/>
          </a:prstGeom>
          <a:noFill/>
          <a:ln/>
        </p:spPr>
        <p:txBody>
          <a:bodyPr wrap="square" lIns="0" tIns="0" rIns="0" bIns="0" rtlCol="0" anchor="ctr"/>
          <a:lstStyle/>
          <a:p>
            <a:pPr marL="0" indent="0">
              <a:buNone/>
            </a:pPr>
            <a:r>
              <a:rPr lang="en-US" sz="1300" b="1" dirty="0">
                <a:solidFill>
                  <a:srgbClr val="111827"/>
                </a:solidFill>
                <a:latin typeface="Trebuchet MS" pitchFamily="34" charset="0"/>
                <a:ea typeface="Trebuchet MS" pitchFamily="34" charset="-122"/>
                <a:cs typeface="Trebuchet MS" pitchFamily="34" charset="-120"/>
              </a:rPr>
              <a:t>1,842</a:t>
            </a:r>
            <a:endParaRPr lang="en-US" sz="1300" dirty="0"/>
          </a:p>
        </p:txBody>
      </p:sp>
      <p:sp>
        <p:nvSpPr>
          <p:cNvPr id="28" name="Text 26"/>
          <p:cNvSpPr/>
          <p:nvPr/>
        </p:nvSpPr>
        <p:spPr>
          <a:xfrm>
            <a:off x="8110728" y="822960"/>
            <a:ext cx="868680" cy="91440"/>
          </a:xfrm>
          <a:prstGeom prst="rect">
            <a:avLst/>
          </a:prstGeom>
          <a:noFill/>
          <a:ln/>
        </p:spPr>
        <p:txBody>
          <a:bodyPr wrap="square" lIns="0" tIns="0" rIns="0" bIns="0" rtlCol="0" anchor="ctr"/>
          <a:lstStyle/>
          <a:p>
            <a:pPr marL="0" indent="0" algn="r">
              <a:buNone/>
            </a:pPr>
            <a:r>
              <a:rPr lang="en-US" sz="400" dirty="0">
                <a:solidFill>
                  <a:srgbClr val="9CA3AF"/>
                </a:solidFill>
                <a:latin typeface="Calibri" pitchFamily="34" charset="0"/>
                <a:ea typeface="Calibri" pitchFamily="34" charset="-122"/>
                <a:cs typeface="Calibri" pitchFamily="34" charset="-120"/>
              </a:rPr>
              <a:t>all regions</a:t>
            </a:r>
            <a:endParaRPr lang="en-US" sz="400" dirty="0"/>
          </a:p>
        </p:txBody>
      </p:sp>
      <p:sp>
        <p:nvSpPr>
          <p:cNvPr id="29" name="Shape 27"/>
          <p:cNvSpPr/>
          <p:nvPr/>
        </p:nvSpPr>
        <p:spPr>
          <a:xfrm>
            <a:off x="201168" y="1170432"/>
            <a:ext cx="3154680" cy="1719072"/>
          </a:xfrm>
          <a:prstGeom prst="rect">
            <a:avLst/>
          </a:prstGeom>
          <a:solidFill>
            <a:srgbClr val="FFFFFF"/>
          </a:solidFill>
          <a:ln w="6350">
            <a:solidFill>
              <a:srgbClr val="E5E7EB"/>
            </a:solidFill>
            <a:prstDash val="solid"/>
          </a:ln>
        </p:spPr>
        <p:txBody>
          <a:bodyPr/>
          <a:lstStyle/>
          <a:p>
            <a:endParaRPr lang="en-US"/>
          </a:p>
        </p:txBody>
      </p:sp>
      <p:sp>
        <p:nvSpPr>
          <p:cNvPr id="30" name="Text 28"/>
          <p:cNvSpPr/>
          <p:nvPr/>
        </p:nvSpPr>
        <p:spPr>
          <a:xfrm>
            <a:off x="292608" y="1207008"/>
            <a:ext cx="2011680" cy="118872"/>
          </a:xfrm>
          <a:prstGeom prst="rect">
            <a:avLst/>
          </a:prstGeom>
          <a:noFill/>
          <a:ln/>
        </p:spPr>
        <p:txBody>
          <a:bodyPr wrap="square" lIns="0" tIns="0" rIns="0" bIns="0" rtlCol="0" anchor="ctr"/>
          <a:lstStyle/>
          <a:p>
            <a:pPr marL="0" indent="0">
              <a:buNone/>
            </a:pPr>
            <a:r>
              <a:rPr lang="en-US" sz="700" b="1" dirty="0">
                <a:solidFill>
                  <a:srgbClr val="111827"/>
                </a:solidFill>
                <a:latin typeface="Trebuchet MS" pitchFamily="34" charset="0"/>
                <a:ea typeface="Trebuchet MS" pitchFamily="34" charset="-122"/>
                <a:cs typeface="Trebuchet MS" pitchFamily="34" charset="-120"/>
              </a:rPr>
              <a:t>Contact Gap vs. Order Trend</a:t>
            </a:r>
            <a:endParaRPr lang="en-US" sz="700" dirty="0"/>
          </a:p>
        </p:txBody>
      </p:sp>
      <p:sp>
        <p:nvSpPr>
          <p:cNvPr id="31" name="Text 29"/>
          <p:cNvSpPr/>
          <p:nvPr/>
        </p:nvSpPr>
        <p:spPr>
          <a:xfrm>
            <a:off x="2304288" y="1207008"/>
            <a:ext cx="914400" cy="118872"/>
          </a:xfrm>
          <a:prstGeom prst="rect">
            <a:avLst/>
          </a:prstGeom>
          <a:noFill/>
          <a:ln/>
        </p:spPr>
        <p:txBody>
          <a:bodyPr wrap="square" lIns="0" tIns="0" rIns="0" bIns="0" rtlCol="0" anchor="ctr"/>
          <a:lstStyle/>
          <a:p>
            <a:pPr marL="0" indent="0" algn="r">
              <a:buNone/>
            </a:pPr>
            <a:r>
              <a:rPr lang="en-US" sz="450" dirty="0">
                <a:solidFill>
                  <a:srgbClr val="9CA3AF"/>
                </a:solidFill>
                <a:latin typeface="Calibri" pitchFamily="34" charset="0"/>
                <a:ea typeface="Calibri" pitchFamily="34" charset="-122"/>
                <a:cs typeface="Calibri" pitchFamily="34" charset="-120"/>
              </a:rPr>
              <a:t>bubble size = 30d order volume</a:t>
            </a:r>
            <a:endParaRPr lang="en-US" sz="450" dirty="0"/>
          </a:p>
        </p:txBody>
      </p:sp>
      <p:sp>
        <p:nvSpPr>
          <p:cNvPr id="32" name="Shape 30"/>
          <p:cNvSpPr/>
          <p:nvPr/>
        </p:nvSpPr>
        <p:spPr>
          <a:xfrm>
            <a:off x="658368" y="1389888"/>
            <a:ext cx="2468880" cy="0"/>
          </a:xfrm>
          <a:prstGeom prst="line">
            <a:avLst/>
          </a:prstGeom>
          <a:noFill/>
          <a:ln w="3175">
            <a:solidFill>
              <a:srgbClr val="F3F4F6"/>
            </a:solidFill>
            <a:prstDash val="solid"/>
          </a:ln>
        </p:spPr>
        <p:txBody>
          <a:bodyPr/>
          <a:lstStyle/>
          <a:p>
            <a:endParaRPr lang="en-US"/>
          </a:p>
        </p:txBody>
      </p:sp>
      <p:sp>
        <p:nvSpPr>
          <p:cNvPr id="33" name="Shape 31"/>
          <p:cNvSpPr/>
          <p:nvPr/>
        </p:nvSpPr>
        <p:spPr>
          <a:xfrm>
            <a:off x="658368" y="1682496"/>
            <a:ext cx="2468880" cy="0"/>
          </a:xfrm>
          <a:prstGeom prst="line">
            <a:avLst/>
          </a:prstGeom>
          <a:noFill/>
          <a:ln w="3175">
            <a:solidFill>
              <a:srgbClr val="F3F4F6"/>
            </a:solidFill>
            <a:prstDash val="solid"/>
          </a:ln>
        </p:spPr>
        <p:txBody>
          <a:bodyPr/>
          <a:lstStyle/>
          <a:p>
            <a:endParaRPr lang="en-US"/>
          </a:p>
        </p:txBody>
      </p:sp>
      <p:sp>
        <p:nvSpPr>
          <p:cNvPr id="34" name="Shape 32"/>
          <p:cNvSpPr/>
          <p:nvPr/>
        </p:nvSpPr>
        <p:spPr>
          <a:xfrm>
            <a:off x="658368" y="1975104"/>
            <a:ext cx="2468880" cy="0"/>
          </a:xfrm>
          <a:prstGeom prst="line">
            <a:avLst/>
          </a:prstGeom>
          <a:noFill/>
          <a:ln w="3175">
            <a:solidFill>
              <a:srgbClr val="F3F4F6"/>
            </a:solidFill>
            <a:prstDash val="solid"/>
          </a:ln>
        </p:spPr>
        <p:txBody>
          <a:bodyPr/>
          <a:lstStyle/>
          <a:p>
            <a:endParaRPr lang="en-US"/>
          </a:p>
        </p:txBody>
      </p:sp>
      <p:sp>
        <p:nvSpPr>
          <p:cNvPr id="35" name="Shape 33"/>
          <p:cNvSpPr/>
          <p:nvPr/>
        </p:nvSpPr>
        <p:spPr>
          <a:xfrm>
            <a:off x="658368" y="2267712"/>
            <a:ext cx="2468880" cy="0"/>
          </a:xfrm>
          <a:prstGeom prst="line">
            <a:avLst/>
          </a:prstGeom>
          <a:noFill/>
          <a:ln w="3175">
            <a:solidFill>
              <a:srgbClr val="F3F4F6"/>
            </a:solidFill>
            <a:prstDash val="solid"/>
          </a:ln>
        </p:spPr>
        <p:txBody>
          <a:bodyPr/>
          <a:lstStyle/>
          <a:p>
            <a:endParaRPr lang="en-US"/>
          </a:p>
        </p:txBody>
      </p:sp>
      <p:sp>
        <p:nvSpPr>
          <p:cNvPr id="36" name="Shape 34"/>
          <p:cNvSpPr/>
          <p:nvPr/>
        </p:nvSpPr>
        <p:spPr>
          <a:xfrm>
            <a:off x="658368" y="2560320"/>
            <a:ext cx="2468880" cy="0"/>
          </a:xfrm>
          <a:prstGeom prst="line">
            <a:avLst/>
          </a:prstGeom>
          <a:noFill/>
          <a:ln w="3175">
            <a:solidFill>
              <a:srgbClr val="F3F4F6"/>
            </a:solidFill>
            <a:prstDash val="solid"/>
          </a:ln>
        </p:spPr>
        <p:txBody>
          <a:bodyPr/>
          <a:lstStyle/>
          <a:p>
            <a:endParaRPr lang="en-US"/>
          </a:p>
        </p:txBody>
      </p:sp>
      <p:sp>
        <p:nvSpPr>
          <p:cNvPr id="37" name="Shape 35"/>
          <p:cNvSpPr/>
          <p:nvPr/>
        </p:nvSpPr>
        <p:spPr>
          <a:xfrm>
            <a:off x="658368" y="1389888"/>
            <a:ext cx="0" cy="1170432"/>
          </a:xfrm>
          <a:prstGeom prst="line">
            <a:avLst/>
          </a:prstGeom>
          <a:noFill/>
          <a:ln w="6350">
            <a:solidFill>
              <a:srgbClr val="D1D5DB"/>
            </a:solidFill>
            <a:prstDash val="solid"/>
          </a:ln>
        </p:spPr>
        <p:txBody>
          <a:bodyPr/>
          <a:lstStyle/>
          <a:p>
            <a:endParaRPr lang="en-US"/>
          </a:p>
        </p:txBody>
      </p:sp>
      <p:sp>
        <p:nvSpPr>
          <p:cNvPr id="38" name="Shape 36"/>
          <p:cNvSpPr/>
          <p:nvPr/>
        </p:nvSpPr>
        <p:spPr>
          <a:xfrm>
            <a:off x="658368" y="2560320"/>
            <a:ext cx="2468880" cy="0"/>
          </a:xfrm>
          <a:prstGeom prst="line">
            <a:avLst/>
          </a:prstGeom>
          <a:noFill/>
          <a:ln w="6350">
            <a:solidFill>
              <a:srgbClr val="D1D5DB"/>
            </a:solidFill>
            <a:prstDash val="solid"/>
          </a:ln>
        </p:spPr>
        <p:txBody>
          <a:bodyPr/>
          <a:lstStyle/>
          <a:p>
            <a:endParaRPr lang="en-US"/>
          </a:p>
        </p:txBody>
      </p:sp>
      <p:sp>
        <p:nvSpPr>
          <p:cNvPr id="39" name="Text 37"/>
          <p:cNvSpPr/>
          <p:nvPr/>
        </p:nvSpPr>
        <p:spPr>
          <a:xfrm>
            <a:off x="219456" y="1741018"/>
            <a:ext cx="411480" cy="274320"/>
          </a:xfrm>
          <a:prstGeom prst="rect">
            <a:avLst/>
          </a:prstGeom>
          <a:noFill/>
          <a:ln/>
        </p:spPr>
        <p:txBody>
          <a:bodyPr wrap="square" lIns="0" tIns="0" rIns="0" bIns="0" rtlCol="0" anchor="ctr"/>
          <a:lstStyle/>
          <a:p>
            <a:pPr marL="0" indent="0">
              <a:buNone/>
            </a:pPr>
            <a:r>
              <a:rPr lang="en-US" sz="450" dirty="0">
                <a:solidFill>
                  <a:srgbClr val="6B7280"/>
                </a:solidFill>
                <a:latin typeface="Calibri" pitchFamily="34" charset="0"/>
                <a:ea typeface="Calibri" pitchFamily="34" charset="-122"/>
                <a:cs typeface="Calibri" pitchFamily="34" charset="-120"/>
              </a:rPr>
              <a:t>MoM Order</a:t>
            </a:r>
            <a:endParaRPr lang="en-US" sz="450" dirty="0"/>
          </a:p>
          <a:p>
            <a:pPr marL="0" indent="0">
              <a:buNone/>
            </a:pPr>
            <a:r>
              <a:rPr lang="en-US" sz="450" dirty="0">
                <a:solidFill>
                  <a:srgbClr val="6B7280"/>
                </a:solidFill>
                <a:latin typeface="Calibri" pitchFamily="34" charset="0"/>
                <a:ea typeface="Calibri" pitchFamily="34" charset="-122"/>
                <a:cs typeface="Calibri" pitchFamily="34" charset="-120"/>
              </a:rPr>
              <a:t>Change ↑</a:t>
            </a:r>
            <a:endParaRPr lang="en-US" sz="450" dirty="0"/>
          </a:p>
        </p:txBody>
      </p:sp>
      <p:sp>
        <p:nvSpPr>
          <p:cNvPr id="40" name="Text 38"/>
          <p:cNvSpPr/>
          <p:nvPr/>
        </p:nvSpPr>
        <p:spPr>
          <a:xfrm>
            <a:off x="356616" y="1362456"/>
            <a:ext cx="274320" cy="73152"/>
          </a:xfrm>
          <a:prstGeom prst="rect">
            <a:avLst/>
          </a:prstGeom>
          <a:noFill/>
          <a:ln/>
        </p:spPr>
        <p:txBody>
          <a:bodyPr wrap="square" lIns="0" tIns="0" rIns="0" bIns="0" rtlCol="0" anchor="ctr"/>
          <a:lstStyle/>
          <a:p>
            <a:pPr marL="0" indent="0" algn="r">
              <a:buNone/>
            </a:pPr>
            <a:r>
              <a:rPr lang="en-US" sz="400" dirty="0">
                <a:solidFill>
                  <a:srgbClr val="9CA3AF"/>
                </a:solidFill>
                <a:latin typeface="Calibri" pitchFamily="34" charset="0"/>
                <a:ea typeface="Calibri" pitchFamily="34" charset="-122"/>
                <a:cs typeface="Calibri" pitchFamily="34" charset="-120"/>
              </a:rPr>
              <a:t>+20%</a:t>
            </a:r>
            <a:endParaRPr lang="en-US" sz="400" dirty="0"/>
          </a:p>
        </p:txBody>
      </p:sp>
      <p:sp>
        <p:nvSpPr>
          <p:cNvPr id="41" name="Text 39"/>
          <p:cNvSpPr/>
          <p:nvPr/>
        </p:nvSpPr>
        <p:spPr>
          <a:xfrm>
            <a:off x="356616" y="2523744"/>
            <a:ext cx="274320" cy="73152"/>
          </a:xfrm>
          <a:prstGeom prst="rect">
            <a:avLst/>
          </a:prstGeom>
          <a:noFill/>
          <a:ln/>
        </p:spPr>
        <p:txBody>
          <a:bodyPr wrap="square" lIns="0" tIns="0" rIns="0" bIns="0" rtlCol="0" anchor="ctr"/>
          <a:lstStyle/>
          <a:p>
            <a:pPr marL="0" indent="0" algn="r">
              <a:buNone/>
            </a:pPr>
            <a:r>
              <a:rPr lang="en-US" sz="400" dirty="0">
                <a:solidFill>
                  <a:srgbClr val="9CA3AF"/>
                </a:solidFill>
                <a:latin typeface="Calibri" pitchFamily="34" charset="0"/>
                <a:ea typeface="Calibri" pitchFamily="34" charset="-122"/>
                <a:cs typeface="Calibri" pitchFamily="34" charset="-120"/>
              </a:rPr>
              <a:t>-40%</a:t>
            </a:r>
            <a:endParaRPr lang="en-US" sz="400" dirty="0"/>
          </a:p>
        </p:txBody>
      </p:sp>
      <p:sp>
        <p:nvSpPr>
          <p:cNvPr id="42" name="Text 40"/>
          <p:cNvSpPr/>
          <p:nvPr/>
        </p:nvSpPr>
        <p:spPr>
          <a:xfrm>
            <a:off x="658368" y="2569464"/>
            <a:ext cx="2468880" cy="82296"/>
          </a:xfrm>
          <a:prstGeom prst="rect">
            <a:avLst/>
          </a:prstGeom>
          <a:noFill/>
          <a:ln/>
        </p:spPr>
        <p:txBody>
          <a:bodyPr wrap="square" lIns="0" tIns="0" rIns="0" bIns="0" rtlCol="0" anchor="ctr"/>
          <a:lstStyle/>
          <a:p>
            <a:pPr marL="0" indent="0" algn="ctr">
              <a:buNone/>
            </a:pPr>
            <a:r>
              <a:rPr lang="en-US" sz="450" dirty="0">
                <a:solidFill>
                  <a:srgbClr val="6B7280"/>
                </a:solidFill>
                <a:latin typeface="Calibri" pitchFamily="34" charset="0"/>
                <a:ea typeface="Calibri" pitchFamily="34" charset="-122"/>
                <a:cs typeface="Calibri" pitchFamily="34" charset="-120"/>
              </a:rPr>
              <a:t>Days Since CS Contact →</a:t>
            </a:r>
            <a:endParaRPr lang="en-US" sz="450" dirty="0"/>
          </a:p>
        </p:txBody>
      </p:sp>
      <p:sp>
        <p:nvSpPr>
          <p:cNvPr id="43" name="Text 41"/>
          <p:cNvSpPr/>
          <p:nvPr/>
        </p:nvSpPr>
        <p:spPr>
          <a:xfrm>
            <a:off x="658368" y="2569464"/>
            <a:ext cx="109728" cy="82296"/>
          </a:xfrm>
          <a:prstGeom prst="rect">
            <a:avLst/>
          </a:prstGeom>
          <a:noFill/>
          <a:ln/>
        </p:spPr>
        <p:txBody>
          <a:bodyPr wrap="square" lIns="0" tIns="0" rIns="0" bIns="0" rtlCol="0" anchor="ctr"/>
          <a:lstStyle/>
          <a:p>
            <a:pPr marL="0" indent="0">
              <a:buNone/>
            </a:pPr>
            <a:r>
              <a:rPr lang="en-US" sz="400" dirty="0">
                <a:solidFill>
                  <a:srgbClr val="9CA3AF"/>
                </a:solidFill>
                <a:latin typeface="Calibri" pitchFamily="34" charset="0"/>
                <a:ea typeface="Calibri" pitchFamily="34" charset="-122"/>
                <a:cs typeface="Calibri" pitchFamily="34" charset="-120"/>
              </a:rPr>
              <a:t>0</a:t>
            </a:r>
            <a:endParaRPr lang="en-US" sz="400" dirty="0"/>
          </a:p>
        </p:txBody>
      </p:sp>
      <p:sp>
        <p:nvSpPr>
          <p:cNvPr id="44" name="Text 42"/>
          <p:cNvSpPr/>
          <p:nvPr/>
        </p:nvSpPr>
        <p:spPr>
          <a:xfrm>
            <a:off x="2926080" y="2569464"/>
            <a:ext cx="228600" cy="82296"/>
          </a:xfrm>
          <a:prstGeom prst="rect">
            <a:avLst/>
          </a:prstGeom>
          <a:noFill/>
          <a:ln/>
        </p:spPr>
        <p:txBody>
          <a:bodyPr wrap="square" lIns="0" tIns="0" rIns="0" bIns="0" rtlCol="0" anchor="ctr"/>
          <a:lstStyle/>
          <a:p>
            <a:pPr marL="0" indent="0">
              <a:buNone/>
            </a:pPr>
            <a:r>
              <a:rPr lang="en-US" sz="400" dirty="0">
                <a:solidFill>
                  <a:srgbClr val="9CA3AF"/>
                </a:solidFill>
                <a:latin typeface="Calibri" pitchFamily="34" charset="0"/>
                <a:ea typeface="Calibri" pitchFamily="34" charset="-122"/>
                <a:cs typeface="Calibri" pitchFamily="34" charset="-120"/>
              </a:rPr>
              <a:t>120d</a:t>
            </a:r>
            <a:endParaRPr lang="en-US" sz="400" dirty="0"/>
          </a:p>
        </p:txBody>
      </p:sp>
      <p:sp>
        <p:nvSpPr>
          <p:cNvPr id="45" name="Shape 43"/>
          <p:cNvSpPr/>
          <p:nvPr/>
        </p:nvSpPr>
        <p:spPr>
          <a:xfrm>
            <a:off x="733349" y="1492301"/>
            <a:ext cx="146304" cy="146304"/>
          </a:xfrm>
          <a:prstGeom prst="ellipse">
            <a:avLst/>
          </a:prstGeom>
          <a:solidFill>
            <a:srgbClr val="0D7377">
              <a:alpha val="78000"/>
            </a:srgbClr>
          </a:solidFill>
          <a:ln/>
        </p:spPr>
        <p:txBody>
          <a:bodyPr/>
          <a:lstStyle/>
          <a:p>
            <a:endParaRPr lang="en-US"/>
          </a:p>
        </p:txBody>
      </p:sp>
      <p:sp>
        <p:nvSpPr>
          <p:cNvPr id="46" name="Shape 44"/>
          <p:cNvSpPr/>
          <p:nvPr/>
        </p:nvSpPr>
        <p:spPr>
          <a:xfrm>
            <a:off x="841248" y="1583375"/>
            <a:ext cx="128016" cy="128016"/>
          </a:xfrm>
          <a:prstGeom prst="ellipse">
            <a:avLst/>
          </a:prstGeom>
          <a:solidFill>
            <a:srgbClr val="0D7377">
              <a:alpha val="78000"/>
            </a:srgbClr>
          </a:solidFill>
          <a:ln/>
        </p:spPr>
        <p:txBody>
          <a:bodyPr/>
          <a:lstStyle/>
          <a:p>
            <a:endParaRPr lang="en-US"/>
          </a:p>
        </p:txBody>
      </p:sp>
      <p:sp>
        <p:nvSpPr>
          <p:cNvPr id="47" name="Shape 45"/>
          <p:cNvSpPr/>
          <p:nvPr/>
        </p:nvSpPr>
        <p:spPr>
          <a:xfrm>
            <a:off x="773582" y="1401227"/>
            <a:ext cx="164592" cy="164592"/>
          </a:xfrm>
          <a:prstGeom prst="ellipse">
            <a:avLst/>
          </a:prstGeom>
          <a:solidFill>
            <a:srgbClr val="0D7377">
              <a:alpha val="78000"/>
            </a:srgbClr>
          </a:solidFill>
          <a:ln/>
        </p:spPr>
        <p:txBody>
          <a:bodyPr/>
          <a:lstStyle/>
          <a:p>
            <a:endParaRPr lang="en-US"/>
          </a:p>
        </p:txBody>
      </p:sp>
      <p:sp>
        <p:nvSpPr>
          <p:cNvPr id="48" name="Shape 46"/>
          <p:cNvSpPr/>
          <p:nvPr/>
        </p:nvSpPr>
        <p:spPr>
          <a:xfrm>
            <a:off x="949147" y="1662745"/>
            <a:ext cx="109728" cy="109728"/>
          </a:xfrm>
          <a:prstGeom prst="ellipse">
            <a:avLst/>
          </a:prstGeom>
          <a:solidFill>
            <a:srgbClr val="0D7377">
              <a:alpha val="78000"/>
            </a:srgbClr>
          </a:solidFill>
          <a:ln/>
        </p:spPr>
        <p:txBody>
          <a:bodyPr/>
          <a:lstStyle/>
          <a:p>
            <a:endParaRPr lang="en-US"/>
          </a:p>
        </p:txBody>
      </p:sp>
      <p:sp>
        <p:nvSpPr>
          <p:cNvPr id="49" name="Shape 47"/>
          <p:cNvSpPr/>
          <p:nvPr/>
        </p:nvSpPr>
        <p:spPr>
          <a:xfrm>
            <a:off x="886054" y="1555394"/>
            <a:ext cx="137160" cy="137160"/>
          </a:xfrm>
          <a:prstGeom prst="ellipse">
            <a:avLst/>
          </a:prstGeom>
          <a:solidFill>
            <a:srgbClr val="0D7377">
              <a:alpha val="78000"/>
            </a:srgbClr>
          </a:solidFill>
          <a:ln/>
        </p:spPr>
        <p:txBody>
          <a:bodyPr/>
          <a:lstStyle/>
          <a:p>
            <a:endParaRPr lang="en-US"/>
          </a:p>
        </p:txBody>
      </p:sp>
      <p:sp>
        <p:nvSpPr>
          <p:cNvPr id="50" name="Shape 48"/>
          <p:cNvSpPr/>
          <p:nvPr/>
        </p:nvSpPr>
        <p:spPr>
          <a:xfrm>
            <a:off x="1057046" y="1718706"/>
            <a:ext cx="91440" cy="91440"/>
          </a:xfrm>
          <a:prstGeom prst="ellipse">
            <a:avLst/>
          </a:prstGeom>
          <a:solidFill>
            <a:srgbClr val="0D7377">
              <a:alpha val="78000"/>
            </a:srgbClr>
          </a:solidFill>
          <a:ln/>
        </p:spPr>
        <p:txBody>
          <a:bodyPr/>
          <a:lstStyle/>
          <a:p>
            <a:endParaRPr lang="en-US"/>
          </a:p>
        </p:txBody>
      </p:sp>
      <p:sp>
        <p:nvSpPr>
          <p:cNvPr id="51" name="Shape 49"/>
          <p:cNvSpPr/>
          <p:nvPr/>
        </p:nvSpPr>
        <p:spPr>
          <a:xfrm>
            <a:off x="704088" y="1452616"/>
            <a:ext cx="155448" cy="155448"/>
          </a:xfrm>
          <a:prstGeom prst="ellipse">
            <a:avLst/>
          </a:prstGeom>
          <a:solidFill>
            <a:srgbClr val="0D7377">
              <a:alpha val="78000"/>
            </a:srgbClr>
          </a:solidFill>
          <a:ln/>
        </p:spPr>
        <p:txBody>
          <a:bodyPr/>
          <a:lstStyle/>
          <a:p>
            <a:endParaRPr lang="en-US"/>
          </a:p>
        </p:txBody>
      </p:sp>
      <p:sp>
        <p:nvSpPr>
          <p:cNvPr id="52" name="Shape 50"/>
          <p:cNvSpPr/>
          <p:nvPr/>
        </p:nvSpPr>
        <p:spPr>
          <a:xfrm>
            <a:off x="1348740" y="1866290"/>
            <a:ext cx="100584" cy="100584"/>
          </a:xfrm>
          <a:prstGeom prst="ellipse">
            <a:avLst/>
          </a:prstGeom>
          <a:solidFill>
            <a:srgbClr val="5B8DEF">
              <a:alpha val="78000"/>
            </a:srgbClr>
          </a:solidFill>
          <a:ln/>
        </p:spPr>
        <p:txBody>
          <a:bodyPr/>
          <a:lstStyle/>
          <a:p>
            <a:endParaRPr lang="en-US"/>
          </a:p>
        </p:txBody>
      </p:sp>
      <p:sp>
        <p:nvSpPr>
          <p:cNvPr id="53" name="Shape 51"/>
          <p:cNvSpPr/>
          <p:nvPr/>
        </p:nvSpPr>
        <p:spPr>
          <a:xfrm>
            <a:off x="1481328" y="1933956"/>
            <a:ext cx="82296" cy="82296"/>
          </a:xfrm>
          <a:prstGeom prst="ellipse">
            <a:avLst/>
          </a:prstGeom>
          <a:solidFill>
            <a:srgbClr val="5B8DEF">
              <a:alpha val="78000"/>
            </a:srgbClr>
          </a:solidFill>
          <a:ln/>
        </p:spPr>
        <p:txBody>
          <a:bodyPr/>
          <a:lstStyle/>
          <a:p>
            <a:endParaRPr lang="en-US"/>
          </a:p>
        </p:txBody>
      </p:sp>
      <p:sp>
        <p:nvSpPr>
          <p:cNvPr id="54" name="Shape 52"/>
          <p:cNvSpPr/>
          <p:nvPr/>
        </p:nvSpPr>
        <p:spPr>
          <a:xfrm>
            <a:off x="1220724" y="1826605"/>
            <a:ext cx="109728" cy="109728"/>
          </a:xfrm>
          <a:prstGeom prst="ellipse">
            <a:avLst/>
          </a:prstGeom>
          <a:solidFill>
            <a:srgbClr val="5B8DEF">
              <a:alpha val="78000"/>
            </a:srgbClr>
          </a:solidFill>
          <a:ln/>
        </p:spPr>
        <p:txBody>
          <a:bodyPr/>
          <a:lstStyle/>
          <a:p>
            <a:endParaRPr lang="en-US"/>
          </a:p>
        </p:txBody>
      </p:sp>
      <p:sp>
        <p:nvSpPr>
          <p:cNvPr id="55" name="Shape 53"/>
          <p:cNvSpPr/>
          <p:nvPr/>
        </p:nvSpPr>
        <p:spPr>
          <a:xfrm>
            <a:off x="1559966" y="1961937"/>
            <a:ext cx="73152" cy="73152"/>
          </a:xfrm>
          <a:prstGeom prst="ellipse">
            <a:avLst/>
          </a:prstGeom>
          <a:solidFill>
            <a:srgbClr val="5B8DEF">
              <a:alpha val="78000"/>
            </a:srgbClr>
          </a:solidFill>
          <a:ln/>
        </p:spPr>
        <p:txBody>
          <a:bodyPr/>
          <a:lstStyle/>
          <a:p>
            <a:endParaRPr lang="en-US"/>
          </a:p>
        </p:txBody>
      </p:sp>
      <p:sp>
        <p:nvSpPr>
          <p:cNvPr id="56" name="Shape 54"/>
          <p:cNvSpPr/>
          <p:nvPr/>
        </p:nvSpPr>
        <p:spPr>
          <a:xfrm>
            <a:off x="1441094" y="1919691"/>
            <a:ext cx="64008" cy="64008"/>
          </a:xfrm>
          <a:prstGeom prst="ellipse">
            <a:avLst/>
          </a:prstGeom>
          <a:solidFill>
            <a:srgbClr val="5B8DEF">
              <a:alpha val="78000"/>
            </a:srgbClr>
          </a:solidFill>
          <a:ln/>
        </p:spPr>
        <p:txBody>
          <a:bodyPr/>
          <a:lstStyle/>
          <a:p>
            <a:endParaRPr lang="en-US"/>
          </a:p>
        </p:txBody>
      </p:sp>
      <p:sp>
        <p:nvSpPr>
          <p:cNvPr id="57" name="Shape 55"/>
          <p:cNvSpPr/>
          <p:nvPr/>
        </p:nvSpPr>
        <p:spPr>
          <a:xfrm>
            <a:off x="1975104" y="2109521"/>
            <a:ext cx="82296" cy="82296"/>
          </a:xfrm>
          <a:prstGeom prst="ellipse">
            <a:avLst/>
          </a:prstGeom>
          <a:solidFill>
            <a:srgbClr val="D4A843">
              <a:alpha val="78000"/>
            </a:srgbClr>
          </a:solidFill>
          <a:ln/>
        </p:spPr>
        <p:txBody>
          <a:bodyPr/>
          <a:lstStyle/>
          <a:p>
            <a:endParaRPr lang="en-US"/>
          </a:p>
        </p:txBody>
      </p:sp>
      <p:sp>
        <p:nvSpPr>
          <p:cNvPr id="58" name="Shape 56"/>
          <p:cNvSpPr/>
          <p:nvPr/>
        </p:nvSpPr>
        <p:spPr>
          <a:xfrm>
            <a:off x="2107692" y="2200595"/>
            <a:ext cx="64008" cy="64008"/>
          </a:xfrm>
          <a:prstGeom prst="ellipse">
            <a:avLst/>
          </a:prstGeom>
          <a:solidFill>
            <a:srgbClr val="D4A843">
              <a:alpha val="78000"/>
            </a:srgbClr>
          </a:solidFill>
          <a:ln/>
        </p:spPr>
        <p:txBody>
          <a:bodyPr/>
          <a:lstStyle/>
          <a:p>
            <a:endParaRPr lang="en-US"/>
          </a:p>
        </p:txBody>
      </p:sp>
      <p:sp>
        <p:nvSpPr>
          <p:cNvPr id="59" name="Shape 57"/>
          <p:cNvSpPr/>
          <p:nvPr/>
        </p:nvSpPr>
        <p:spPr>
          <a:xfrm>
            <a:off x="1896466" y="2046427"/>
            <a:ext cx="91440" cy="91440"/>
          </a:xfrm>
          <a:prstGeom prst="ellipse">
            <a:avLst/>
          </a:prstGeom>
          <a:solidFill>
            <a:srgbClr val="D4A843">
              <a:alpha val="78000"/>
            </a:srgbClr>
          </a:solidFill>
          <a:ln/>
        </p:spPr>
        <p:txBody>
          <a:bodyPr/>
          <a:lstStyle/>
          <a:p>
            <a:endParaRPr lang="en-US"/>
          </a:p>
        </p:txBody>
      </p:sp>
      <p:sp>
        <p:nvSpPr>
          <p:cNvPr id="60" name="Shape 58"/>
          <p:cNvSpPr/>
          <p:nvPr/>
        </p:nvSpPr>
        <p:spPr>
          <a:xfrm>
            <a:off x="2235708" y="2275393"/>
            <a:ext cx="54864" cy="54864"/>
          </a:xfrm>
          <a:prstGeom prst="ellipse">
            <a:avLst/>
          </a:prstGeom>
          <a:solidFill>
            <a:srgbClr val="D4A843">
              <a:alpha val="78000"/>
            </a:srgbClr>
          </a:solidFill>
          <a:ln/>
        </p:spPr>
        <p:txBody>
          <a:bodyPr/>
          <a:lstStyle/>
          <a:p>
            <a:endParaRPr lang="en-US"/>
          </a:p>
        </p:txBody>
      </p:sp>
      <p:sp>
        <p:nvSpPr>
          <p:cNvPr id="61" name="Shape 59"/>
          <p:cNvSpPr/>
          <p:nvPr/>
        </p:nvSpPr>
        <p:spPr>
          <a:xfrm>
            <a:off x="2040026" y="2135490"/>
            <a:ext cx="100584" cy="100584"/>
          </a:xfrm>
          <a:prstGeom prst="ellipse">
            <a:avLst/>
          </a:prstGeom>
          <a:solidFill>
            <a:srgbClr val="D4A843">
              <a:alpha val="78000"/>
            </a:srgbClr>
          </a:solidFill>
          <a:ln/>
        </p:spPr>
        <p:txBody>
          <a:bodyPr/>
          <a:lstStyle/>
          <a:p>
            <a:endParaRPr lang="en-US"/>
          </a:p>
        </p:txBody>
      </p:sp>
      <p:sp>
        <p:nvSpPr>
          <p:cNvPr id="62" name="Shape 60"/>
          <p:cNvSpPr/>
          <p:nvPr/>
        </p:nvSpPr>
        <p:spPr>
          <a:xfrm>
            <a:off x="2561234" y="2361895"/>
            <a:ext cx="45720" cy="45720"/>
          </a:xfrm>
          <a:prstGeom prst="ellipse">
            <a:avLst/>
          </a:prstGeom>
          <a:solidFill>
            <a:srgbClr val="E85D3A">
              <a:alpha val="78000"/>
            </a:srgbClr>
          </a:solidFill>
          <a:ln/>
        </p:spPr>
        <p:txBody>
          <a:bodyPr/>
          <a:lstStyle/>
          <a:p>
            <a:endParaRPr lang="en-US"/>
          </a:p>
        </p:txBody>
      </p:sp>
      <p:sp>
        <p:nvSpPr>
          <p:cNvPr id="63" name="Shape 61"/>
          <p:cNvSpPr/>
          <p:nvPr/>
        </p:nvSpPr>
        <p:spPr>
          <a:xfrm>
            <a:off x="2738628" y="2424989"/>
            <a:ext cx="36576" cy="36576"/>
          </a:xfrm>
          <a:prstGeom prst="ellipse">
            <a:avLst/>
          </a:prstGeom>
          <a:solidFill>
            <a:srgbClr val="E85D3A">
              <a:alpha val="78000"/>
            </a:srgbClr>
          </a:solidFill>
          <a:ln/>
        </p:spPr>
        <p:txBody>
          <a:bodyPr/>
          <a:lstStyle/>
          <a:p>
            <a:endParaRPr lang="en-US"/>
          </a:p>
        </p:txBody>
      </p:sp>
      <p:sp>
        <p:nvSpPr>
          <p:cNvPr id="64" name="Shape 62"/>
          <p:cNvSpPr/>
          <p:nvPr/>
        </p:nvSpPr>
        <p:spPr>
          <a:xfrm>
            <a:off x="2902306" y="2474366"/>
            <a:ext cx="54864" cy="54864"/>
          </a:xfrm>
          <a:prstGeom prst="ellipse">
            <a:avLst/>
          </a:prstGeom>
          <a:solidFill>
            <a:srgbClr val="E85D3A">
              <a:alpha val="78000"/>
            </a:srgbClr>
          </a:solidFill>
          <a:ln/>
        </p:spPr>
        <p:txBody>
          <a:bodyPr/>
          <a:lstStyle/>
          <a:p>
            <a:endParaRPr lang="en-US"/>
          </a:p>
        </p:txBody>
      </p:sp>
      <p:sp>
        <p:nvSpPr>
          <p:cNvPr id="65" name="Shape 63"/>
          <p:cNvSpPr/>
          <p:nvPr/>
        </p:nvSpPr>
        <p:spPr>
          <a:xfrm>
            <a:off x="2664562" y="2401580"/>
            <a:ext cx="36576" cy="36576"/>
          </a:xfrm>
          <a:prstGeom prst="ellipse">
            <a:avLst/>
          </a:prstGeom>
          <a:solidFill>
            <a:srgbClr val="E85D3A">
              <a:alpha val="78000"/>
            </a:srgbClr>
          </a:solidFill>
          <a:ln/>
        </p:spPr>
        <p:txBody>
          <a:bodyPr/>
          <a:lstStyle/>
          <a:p>
            <a:endParaRPr lang="en-US"/>
          </a:p>
        </p:txBody>
      </p:sp>
      <p:sp>
        <p:nvSpPr>
          <p:cNvPr id="66" name="Shape 64"/>
          <p:cNvSpPr/>
          <p:nvPr/>
        </p:nvSpPr>
        <p:spPr>
          <a:xfrm>
            <a:off x="2487168" y="2326782"/>
            <a:ext cx="45720" cy="45720"/>
          </a:xfrm>
          <a:prstGeom prst="ellipse">
            <a:avLst/>
          </a:prstGeom>
          <a:solidFill>
            <a:srgbClr val="E85D3A">
              <a:alpha val="78000"/>
            </a:srgbClr>
          </a:solidFill>
          <a:ln/>
        </p:spPr>
        <p:txBody>
          <a:bodyPr/>
          <a:lstStyle/>
          <a:p>
            <a:endParaRPr lang="en-US"/>
          </a:p>
        </p:txBody>
      </p:sp>
      <p:sp>
        <p:nvSpPr>
          <p:cNvPr id="67" name="Shape 65"/>
          <p:cNvSpPr/>
          <p:nvPr/>
        </p:nvSpPr>
        <p:spPr>
          <a:xfrm>
            <a:off x="2350008" y="1844893"/>
            <a:ext cx="73152" cy="73152"/>
          </a:xfrm>
          <a:prstGeom prst="ellipse">
            <a:avLst/>
          </a:prstGeom>
          <a:solidFill>
            <a:srgbClr val="D4A843">
              <a:alpha val="78000"/>
            </a:srgbClr>
          </a:solidFill>
          <a:ln/>
        </p:spPr>
        <p:txBody>
          <a:bodyPr/>
          <a:lstStyle/>
          <a:p>
            <a:endParaRPr lang="en-US"/>
          </a:p>
        </p:txBody>
      </p:sp>
      <p:sp>
        <p:nvSpPr>
          <p:cNvPr id="68" name="Shape 66"/>
          <p:cNvSpPr/>
          <p:nvPr/>
        </p:nvSpPr>
        <p:spPr>
          <a:xfrm>
            <a:off x="969264" y="2290206"/>
            <a:ext cx="118872" cy="118872"/>
          </a:xfrm>
          <a:prstGeom prst="ellipse">
            <a:avLst/>
          </a:prstGeom>
          <a:solidFill>
            <a:srgbClr val="E85D3A">
              <a:alpha val="78000"/>
            </a:srgbClr>
          </a:solidFill>
          <a:ln/>
        </p:spPr>
        <p:txBody>
          <a:bodyPr/>
          <a:lstStyle/>
          <a:p>
            <a:endParaRPr lang="en-US"/>
          </a:p>
        </p:txBody>
      </p:sp>
      <p:sp>
        <p:nvSpPr>
          <p:cNvPr id="69" name="Shape 67"/>
          <p:cNvSpPr/>
          <p:nvPr/>
        </p:nvSpPr>
        <p:spPr>
          <a:xfrm>
            <a:off x="1667866" y="1713586"/>
            <a:ext cx="54864" cy="54864"/>
          </a:xfrm>
          <a:prstGeom prst="ellipse">
            <a:avLst/>
          </a:prstGeom>
          <a:solidFill>
            <a:srgbClr val="5B8DEF">
              <a:alpha val="78000"/>
            </a:srgbClr>
          </a:solidFill>
          <a:ln/>
        </p:spPr>
        <p:txBody>
          <a:bodyPr/>
          <a:lstStyle/>
          <a:p>
            <a:endParaRPr lang="en-US"/>
          </a:p>
        </p:txBody>
      </p:sp>
      <p:sp>
        <p:nvSpPr>
          <p:cNvPr id="70" name="Shape 68"/>
          <p:cNvSpPr/>
          <p:nvPr/>
        </p:nvSpPr>
        <p:spPr>
          <a:xfrm>
            <a:off x="310896" y="2761488"/>
            <a:ext cx="64008" cy="64008"/>
          </a:xfrm>
          <a:prstGeom prst="ellipse">
            <a:avLst/>
          </a:prstGeom>
          <a:solidFill>
            <a:srgbClr val="E85D3A"/>
          </a:solidFill>
          <a:ln/>
        </p:spPr>
        <p:txBody>
          <a:bodyPr/>
          <a:lstStyle/>
          <a:p>
            <a:endParaRPr lang="en-US"/>
          </a:p>
        </p:txBody>
      </p:sp>
      <p:sp>
        <p:nvSpPr>
          <p:cNvPr id="71" name="Text 69"/>
          <p:cNvSpPr/>
          <p:nvPr/>
        </p:nvSpPr>
        <p:spPr>
          <a:xfrm>
            <a:off x="393192" y="2743200"/>
            <a:ext cx="411480" cy="91440"/>
          </a:xfrm>
          <a:prstGeom prst="rect">
            <a:avLst/>
          </a:prstGeom>
          <a:noFill/>
          <a:ln/>
        </p:spPr>
        <p:txBody>
          <a:bodyPr wrap="square" lIns="0" tIns="0" rIns="0" bIns="0" rtlCol="0" anchor="ctr"/>
          <a:lstStyle/>
          <a:p>
            <a:pPr marL="0" indent="0">
              <a:buNone/>
            </a:pPr>
            <a:r>
              <a:rPr lang="en-US" sz="400" dirty="0">
                <a:solidFill>
                  <a:srgbClr val="6B7280"/>
                </a:solidFill>
                <a:latin typeface="Calibri" pitchFamily="34" charset="0"/>
                <a:ea typeface="Calibri" pitchFamily="34" charset="-122"/>
                <a:cs typeface="Calibri" pitchFamily="34" charset="-120"/>
              </a:rPr>
              <a:t>Critical</a:t>
            </a:r>
            <a:endParaRPr lang="en-US" sz="400" dirty="0"/>
          </a:p>
        </p:txBody>
      </p:sp>
      <p:sp>
        <p:nvSpPr>
          <p:cNvPr id="72" name="Shape 70"/>
          <p:cNvSpPr/>
          <p:nvPr/>
        </p:nvSpPr>
        <p:spPr>
          <a:xfrm>
            <a:off x="841248" y="2761488"/>
            <a:ext cx="64008" cy="64008"/>
          </a:xfrm>
          <a:prstGeom prst="ellipse">
            <a:avLst/>
          </a:prstGeom>
          <a:solidFill>
            <a:srgbClr val="D4A843"/>
          </a:solidFill>
          <a:ln/>
        </p:spPr>
        <p:txBody>
          <a:bodyPr/>
          <a:lstStyle/>
          <a:p>
            <a:endParaRPr lang="en-US"/>
          </a:p>
        </p:txBody>
      </p:sp>
      <p:sp>
        <p:nvSpPr>
          <p:cNvPr id="73" name="Text 71"/>
          <p:cNvSpPr/>
          <p:nvPr/>
        </p:nvSpPr>
        <p:spPr>
          <a:xfrm>
            <a:off x="923544" y="2743200"/>
            <a:ext cx="411480" cy="91440"/>
          </a:xfrm>
          <a:prstGeom prst="rect">
            <a:avLst/>
          </a:prstGeom>
          <a:noFill/>
          <a:ln/>
        </p:spPr>
        <p:txBody>
          <a:bodyPr wrap="square" lIns="0" tIns="0" rIns="0" bIns="0" rtlCol="0" anchor="ctr"/>
          <a:lstStyle/>
          <a:p>
            <a:pPr marL="0" indent="0">
              <a:buNone/>
            </a:pPr>
            <a:r>
              <a:rPr lang="en-US" sz="400" dirty="0">
                <a:solidFill>
                  <a:srgbClr val="6B7280"/>
                </a:solidFill>
                <a:latin typeface="Calibri" pitchFamily="34" charset="0"/>
                <a:ea typeface="Calibri" pitchFamily="34" charset="-122"/>
                <a:cs typeface="Calibri" pitchFamily="34" charset="-120"/>
              </a:rPr>
              <a:t>At Risk</a:t>
            </a:r>
            <a:endParaRPr lang="en-US" sz="400" dirty="0"/>
          </a:p>
        </p:txBody>
      </p:sp>
      <p:sp>
        <p:nvSpPr>
          <p:cNvPr id="74" name="Shape 72"/>
          <p:cNvSpPr/>
          <p:nvPr/>
        </p:nvSpPr>
        <p:spPr>
          <a:xfrm>
            <a:off x="1371600" y="2761488"/>
            <a:ext cx="64008" cy="64008"/>
          </a:xfrm>
          <a:prstGeom prst="ellipse">
            <a:avLst/>
          </a:prstGeom>
          <a:solidFill>
            <a:srgbClr val="5B8DEF"/>
          </a:solidFill>
          <a:ln/>
        </p:spPr>
        <p:txBody>
          <a:bodyPr/>
          <a:lstStyle/>
          <a:p>
            <a:endParaRPr lang="en-US"/>
          </a:p>
        </p:txBody>
      </p:sp>
      <p:sp>
        <p:nvSpPr>
          <p:cNvPr id="75" name="Text 73"/>
          <p:cNvSpPr/>
          <p:nvPr/>
        </p:nvSpPr>
        <p:spPr>
          <a:xfrm>
            <a:off x="1453896" y="2743200"/>
            <a:ext cx="411480" cy="91440"/>
          </a:xfrm>
          <a:prstGeom prst="rect">
            <a:avLst/>
          </a:prstGeom>
          <a:noFill/>
          <a:ln/>
        </p:spPr>
        <p:txBody>
          <a:bodyPr wrap="square" lIns="0" tIns="0" rIns="0" bIns="0" rtlCol="0" anchor="ctr"/>
          <a:lstStyle/>
          <a:p>
            <a:pPr marL="0" indent="0">
              <a:buNone/>
            </a:pPr>
            <a:r>
              <a:rPr lang="en-US" sz="400" dirty="0">
                <a:solidFill>
                  <a:srgbClr val="6B7280"/>
                </a:solidFill>
                <a:latin typeface="Calibri" pitchFamily="34" charset="0"/>
                <a:ea typeface="Calibri" pitchFamily="34" charset="-122"/>
                <a:cs typeface="Calibri" pitchFamily="34" charset="-120"/>
              </a:rPr>
              <a:t>Watch</a:t>
            </a:r>
            <a:endParaRPr lang="en-US" sz="400" dirty="0"/>
          </a:p>
        </p:txBody>
      </p:sp>
      <p:sp>
        <p:nvSpPr>
          <p:cNvPr id="76" name="Shape 74"/>
          <p:cNvSpPr/>
          <p:nvPr/>
        </p:nvSpPr>
        <p:spPr>
          <a:xfrm>
            <a:off x="1901952" y="2761488"/>
            <a:ext cx="64008" cy="64008"/>
          </a:xfrm>
          <a:prstGeom prst="ellipse">
            <a:avLst/>
          </a:prstGeom>
          <a:solidFill>
            <a:srgbClr val="0D7377"/>
          </a:solidFill>
          <a:ln/>
        </p:spPr>
        <p:txBody>
          <a:bodyPr/>
          <a:lstStyle/>
          <a:p>
            <a:endParaRPr lang="en-US"/>
          </a:p>
        </p:txBody>
      </p:sp>
      <p:sp>
        <p:nvSpPr>
          <p:cNvPr id="77" name="Text 75"/>
          <p:cNvSpPr/>
          <p:nvPr/>
        </p:nvSpPr>
        <p:spPr>
          <a:xfrm>
            <a:off x="1984248" y="2743200"/>
            <a:ext cx="411480" cy="91440"/>
          </a:xfrm>
          <a:prstGeom prst="rect">
            <a:avLst/>
          </a:prstGeom>
          <a:noFill/>
          <a:ln/>
        </p:spPr>
        <p:txBody>
          <a:bodyPr wrap="square" lIns="0" tIns="0" rIns="0" bIns="0" rtlCol="0" anchor="ctr"/>
          <a:lstStyle/>
          <a:p>
            <a:pPr marL="0" indent="0">
              <a:buNone/>
            </a:pPr>
            <a:r>
              <a:rPr lang="en-US" sz="400" dirty="0">
                <a:solidFill>
                  <a:srgbClr val="6B7280"/>
                </a:solidFill>
                <a:latin typeface="Calibri" pitchFamily="34" charset="0"/>
                <a:ea typeface="Calibri" pitchFamily="34" charset="-122"/>
                <a:cs typeface="Calibri" pitchFamily="34" charset="-120"/>
              </a:rPr>
              <a:t>Healthy</a:t>
            </a:r>
            <a:endParaRPr lang="en-US" sz="400" dirty="0"/>
          </a:p>
        </p:txBody>
      </p:sp>
      <p:sp>
        <p:nvSpPr>
          <p:cNvPr id="78" name="Shape 76"/>
          <p:cNvSpPr/>
          <p:nvPr/>
        </p:nvSpPr>
        <p:spPr>
          <a:xfrm>
            <a:off x="3447288" y="1170432"/>
            <a:ext cx="2834640" cy="1719072"/>
          </a:xfrm>
          <a:prstGeom prst="rect">
            <a:avLst/>
          </a:prstGeom>
          <a:solidFill>
            <a:srgbClr val="FFFFFF"/>
          </a:solidFill>
          <a:ln w="6350">
            <a:solidFill>
              <a:srgbClr val="E5E7EB"/>
            </a:solidFill>
            <a:prstDash val="solid"/>
          </a:ln>
        </p:spPr>
        <p:txBody>
          <a:bodyPr/>
          <a:lstStyle/>
          <a:p>
            <a:endParaRPr lang="en-US"/>
          </a:p>
        </p:txBody>
      </p:sp>
      <p:sp>
        <p:nvSpPr>
          <p:cNvPr id="79" name="Text 77"/>
          <p:cNvSpPr/>
          <p:nvPr/>
        </p:nvSpPr>
        <p:spPr>
          <a:xfrm>
            <a:off x="3538728" y="1207008"/>
            <a:ext cx="2651760" cy="118872"/>
          </a:xfrm>
          <a:prstGeom prst="rect">
            <a:avLst/>
          </a:prstGeom>
          <a:noFill/>
          <a:ln/>
        </p:spPr>
        <p:txBody>
          <a:bodyPr wrap="square" lIns="0" tIns="0" rIns="0" bIns="0" rtlCol="0" anchor="ctr"/>
          <a:lstStyle/>
          <a:p>
            <a:pPr marL="0" indent="0">
              <a:buNone/>
            </a:pPr>
            <a:r>
              <a:rPr lang="en-US" sz="700" b="1" dirty="0">
                <a:solidFill>
                  <a:srgbClr val="111827"/>
                </a:solidFill>
                <a:latin typeface="Trebuchet MS" pitchFamily="34" charset="0"/>
                <a:ea typeface="Trebuchet MS" pitchFamily="34" charset="-122"/>
                <a:cs typeface="Trebuchet MS" pitchFamily="34" charset="-120"/>
              </a:rPr>
              <a:t>Total Order Trend (12 Months)</a:t>
            </a:r>
            <a:endParaRPr lang="en-US" sz="700" dirty="0"/>
          </a:p>
        </p:txBody>
      </p:sp>
      <p:sp>
        <p:nvSpPr>
          <p:cNvPr id="80" name="Shape 78"/>
          <p:cNvSpPr/>
          <p:nvPr/>
        </p:nvSpPr>
        <p:spPr>
          <a:xfrm>
            <a:off x="3630168" y="2651760"/>
            <a:ext cx="2107692" cy="0"/>
          </a:xfrm>
          <a:prstGeom prst="line">
            <a:avLst/>
          </a:prstGeom>
          <a:noFill/>
          <a:ln w="3175">
            <a:solidFill>
              <a:srgbClr val="F3F4F6"/>
            </a:solidFill>
            <a:prstDash val="solid"/>
          </a:ln>
        </p:spPr>
        <p:txBody>
          <a:bodyPr/>
          <a:lstStyle/>
          <a:p>
            <a:endParaRPr lang="en-US"/>
          </a:p>
        </p:txBody>
      </p:sp>
      <p:sp>
        <p:nvSpPr>
          <p:cNvPr id="81" name="Shape 79"/>
          <p:cNvSpPr/>
          <p:nvPr/>
        </p:nvSpPr>
        <p:spPr>
          <a:xfrm>
            <a:off x="3630168" y="2292096"/>
            <a:ext cx="2107692" cy="0"/>
          </a:xfrm>
          <a:prstGeom prst="line">
            <a:avLst/>
          </a:prstGeom>
          <a:noFill/>
          <a:ln w="3175">
            <a:solidFill>
              <a:srgbClr val="F3F4F6"/>
            </a:solidFill>
            <a:prstDash val="solid"/>
          </a:ln>
        </p:spPr>
        <p:txBody>
          <a:bodyPr/>
          <a:lstStyle/>
          <a:p>
            <a:endParaRPr lang="en-US"/>
          </a:p>
        </p:txBody>
      </p:sp>
      <p:sp>
        <p:nvSpPr>
          <p:cNvPr id="82" name="Shape 80"/>
          <p:cNvSpPr/>
          <p:nvPr/>
        </p:nvSpPr>
        <p:spPr>
          <a:xfrm>
            <a:off x="3630168" y="1932432"/>
            <a:ext cx="2107692" cy="0"/>
          </a:xfrm>
          <a:prstGeom prst="line">
            <a:avLst/>
          </a:prstGeom>
          <a:noFill/>
          <a:ln w="3175">
            <a:solidFill>
              <a:srgbClr val="F3F4F6"/>
            </a:solidFill>
            <a:prstDash val="solid"/>
          </a:ln>
        </p:spPr>
        <p:txBody>
          <a:bodyPr/>
          <a:lstStyle/>
          <a:p>
            <a:endParaRPr lang="en-US"/>
          </a:p>
        </p:txBody>
      </p:sp>
      <p:sp>
        <p:nvSpPr>
          <p:cNvPr id="83" name="Shape 81"/>
          <p:cNvSpPr/>
          <p:nvPr/>
        </p:nvSpPr>
        <p:spPr>
          <a:xfrm>
            <a:off x="3630168" y="1572768"/>
            <a:ext cx="2107692" cy="0"/>
          </a:xfrm>
          <a:prstGeom prst="line">
            <a:avLst/>
          </a:prstGeom>
          <a:noFill/>
          <a:ln w="3175">
            <a:solidFill>
              <a:srgbClr val="F3F4F6"/>
            </a:solidFill>
            <a:prstDash val="solid"/>
          </a:ln>
        </p:spPr>
        <p:txBody>
          <a:bodyPr/>
          <a:lstStyle/>
          <a:p>
            <a:endParaRPr lang="en-US"/>
          </a:p>
        </p:txBody>
      </p:sp>
      <p:sp>
        <p:nvSpPr>
          <p:cNvPr id="84" name="Shape 82"/>
          <p:cNvSpPr/>
          <p:nvPr/>
        </p:nvSpPr>
        <p:spPr>
          <a:xfrm>
            <a:off x="3630168" y="2066021"/>
            <a:ext cx="146304" cy="585739"/>
          </a:xfrm>
          <a:prstGeom prst="rect">
            <a:avLst/>
          </a:prstGeom>
          <a:solidFill>
            <a:srgbClr val="10B981"/>
          </a:solidFill>
          <a:ln/>
        </p:spPr>
        <p:txBody>
          <a:bodyPr/>
          <a:lstStyle/>
          <a:p>
            <a:endParaRPr lang="en-US"/>
          </a:p>
        </p:txBody>
      </p:sp>
      <p:sp>
        <p:nvSpPr>
          <p:cNvPr id="85" name="Text 83"/>
          <p:cNvSpPr/>
          <p:nvPr/>
        </p:nvSpPr>
        <p:spPr>
          <a:xfrm>
            <a:off x="3602736" y="1983725"/>
            <a:ext cx="201168" cy="73152"/>
          </a:xfrm>
          <a:prstGeom prst="rect">
            <a:avLst/>
          </a:prstGeom>
          <a:noFill/>
          <a:ln/>
        </p:spPr>
        <p:txBody>
          <a:bodyPr wrap="square" lIns="0" tIns="0" rIns="0" bIns="0" rtlCol="0" anchor="ctr"/>
          <a:lstStyle/>
          <a:p>
            <a:pPr marL="0" indent="0" algn="ctr">
              <a:buNone/>
            </a:pPr>
            <a:r>
              <a:rPr lang="en-US" sz="400" dirty="0">
                <a:solidFill>
                  <a:srgbClr val="374151"/>
                </a:solidFill>
                <a:latin typeface="Calibri" pitchFamily="34" charset="0"/>
                <a:ea typeface="Calibri" pitchFamily="34" charset="-122"/>
                <a:cs typeface="Calibri" pitchFamily="34" charset="-120"/>
              </a:rPr>
              <a:t>168</a:t>
            </a:r>
            <a:endParaRPr lang="en-US" sz="400" dirty="0"/>
          </a:p>
        </p:txBody>
      </p:sp>
      <p:sp>
        <p:nvSpPr>
          <p:cNvPr id="86" name="Text 84"/>
          <p:cNvSpPr/>
          <p:nvPr/>
        </p:nvSpPr>
        <p:spPr>
          <a:xfrm>
            <a:off x="3593592" y="2660904"/>
            <a:ext cx="219456" cy="73152"/>
          </a:xfrm>
          <a:prstGeom prst="rect">
            <a:avLst/>
          </a:prstGeom>
          <a:noFill/>
          <a:ln/>
        </p:spPr>
        <p:txBody>
          <a:bodyPr wrap="square" lIns="0" tIns="0" rIns="0" bIns="0" rtlCol="0" anchor="ctr"/>
          <a:lstStyle/>
          <a:p>
            <a:pPr marL="0" indent="0" algn="ctr">
              <a:buNone/>
            </a:pPr>
            <a:r>
              <a:rPr lang="en-US" sz="350" dirty="0">
                <a:solidFill>
                  <a:srgbClr val="9CA3AF"/>
                </a:solidFill>
                <a:latin typeface="Calibri" pitchFamily="34" charset="0"/>
                <a:ea typeface="Calibri" pitchFamily="34" charset="-122"/>
                <a:cs typeface="Calibri" pitchFamily="34" charset="-120"/>
              </a:rPr>
              <a:t>Apr</a:t>
            </a:r>
            <a:endParaRPr lang="en-US" sz="350" dirty="0"/>
          </a:p>
        </p:txBody>
      </p:sp>
      <p:sp>
        <p:nvSpPr>
          <p:cNvPr id="87" name="Shape 85"/>
          <p:cNvSpPr/>
          <p:nvPr/>
        </p:nvSpPr>
        <p:spPr>
          <a:xfrm>
            <a:off x="3808476" y="1958122"/>
            <a:ext cx="146304" cy="693638"/>
          </a:xfrm>
          <a:prstGeom prst="rect">
            <a:avLst/>
          </a:prstGeom>
          <a:solidFill>
            <a:srgbClr val="10B981"/>
          </a:solidFill>
          <a:ln/>
        </p:spPr>
        <p:txBody>
          <a:bodyPr/>
          <a:lstStyle/>
          <a:p>
            <a:endParaRPr lang="en-US"/>
          </a:p>
        </p:txBody>
      </p:sp>
      <p:sp>
        <p:nvSpPr>
          <p:cNvPr id="88" name="Text 86"/>
          <p:cNvSpPr/>
          <p:nvPr/>
        </p:nvSpPr>
        <p:spPr>
          <a:xfrm>
            <a:off x="3771900" y="2660904"/>
            <a:ext cx="219456" cy="73152"/>
          </a:xfrm>
          <a:prstGeom prst="rect">
            <a:avLst/>
          </a:prstGeom>
          <a:noFill/>
          <a:ln/>
        </p:spPr>
        <p:txBody>
          <a:bodyPr wrap="square" lIns="0" tIns="0" rIns="0" bIns="0" rtlCol="0" anchor="ctr"/>
          <a:lstStyle/>
          <a:p>
            <a:pPr marL="0" indent="0" algn="ctr">
              <a:buNone/>
            </a:pPr>
            <a:r>
              <a:rPr lang="en-US" sz="350" dirty="0">
                <a:solidFill>
                  <a:srgbClr val="9CA3AF"/>
                </a:solidFill>
                <a:latin typeface="Calibri" pitchFamily="34" charset="0"/>
                <a:ea typeface="Calibri" pitchFamily="34" charset="-122"/>
                <a:cs typeface="Calibri" pitchFamily="34" charset="-120"/>
              </a:rPr>
              <a:t>May</a:t>
            </a:r>
            <a:endParaRPr lang="en-US" sz="350" dirty="0"/>
          </a:p>
        </p:txBody>
      </p:sp>
      <p:sp>
        <p:nvSpPr>
          <p:cNvPr id="89" name="Shape 87"/>
          <p:cNvSpPr/>
          <p:nvPr/>
        </p:nvSpPr>
        <p:spPr>
          <a:xfrm>
            <a:off x="3986784" y="1850223"/>
            <a:ext cx="146304" cy="801537"/>
          </a:xfrm>
          <a:prstGeom prst="rect">
            <a:avLst/>
          </a:prstGeom>
          <a:solidFill>
            <a:srgbClr val="10B981"/>
          </a:solidFill>
          <a:ln/>
        </p:spPr>
        <p:txBody>
          <a:bodyPr/>
          <a:lstStyle/>
          <a:p>
            <a:endParaRPr lang="en-US"/>
          </a:p>
        </p:txBody>
      </p:sp>
      <p:sp>
        <p:nvSpPr>
          <p:cNvPr id="90" name="Text 88"/>
          <p:cNvSpPr/>
          <p:nvPr/>
        </p:nvSpPr>
        <p:spPr>
          <a:xfrm>
            <a:off x="3950208" y="2660904"/>
            <a:ext cx="219456" cy="73152"/>
          </a:xfrm>
          <a:prstGeom prst="rect">
            <a:avLst/>
          </a:prstGeom>
          <a:noFill/>
          <a:ln/>
        </p:spPr>
        <p:txBody>
          <a:bodyPr wrap="square" lIns="0" tIns="0" rIns="0" bIns="0" rtlCol="0" anchor="ctr"/>
          <a:lstStyle/>
          <a:p>
            <a:pPr marL="0" indent="0" algn="ctr">
              <a:buNone/>
            </a:pPr>
            <a:r>
              <a:rPr lang="en-US" sz="350" dirty="0">
                <a:solidFill>
                  <a:srgbClr val="9CA3AF"/>
                </a:solidFill>
                <a:latin typeface="Calibri" pitchFamily="34" charset="0"/>
                <a:ea typeface="Calibri" pitchFamily="34" charset="-122"/>
                <a:cs typeface="Calibri" pitchFamily="34" charset="-120"/>
              </a:rPr>
              <a:t>Jun</a:t>
            </a:r>
            <a:endParaRPr lang="en-US" sz="350" dirty="0"/>
          </a:p>
        </p:txBody>
      </p:sp>
      <p:sp>
        <p:nvSpPr>
          <p:cNvPr id="91" name="Shape 89"/>
          <p:cNvSpPr/>
          <p:nvPr/>
        </p:nvSpPr>
        <p:spPr>
          <a:xfrm>
            <a:off x="4165092" y="1911880"/>
            <a:ext cx="146304" cy="739880"/>
          </a:xfrm>
          <a:prstGeom prst="rect">
            <a:avLst/>
          </a:prstGeom>
          <a:solidFill>
            <a:srgbClr val="3B82F6"/>
          </a:solidFill>
          <a:ln/>
        </p:spPr>
        <p:txBody>
          <a:bodyPr/>
          <a:lstStyle/>
          <a:p>
            <a:endParaRPr lang="en-US"/>
          </a:p>
        </p:txBody>
      </p:sp>
      <p:sp>
        <p:nvSpPr>
          <p:cNvPr id="92" name="Text 90"/>
          <p:cNvSpPr/>
          <p:nvPr/>
        </p:nvSpPr>
        <p:spPr>
          <a:xfrm>
            <a:off x="4137660" y="1829584"/>
            <a:ext cx="201168" cy="73152"/>
          </a:xfrm>
          <a:prstGeom prst="rect">
            <a:avLst/>
          </a:prstGeom>
          <a:noFill/>
          <a:ln/>
        </p:spPr>
        <p:txBody>
          <a:bodyPr wrap="square" lIns="0" tIns="0" rIns="0" bIns="0" rtlCol="0" anchor="ctr"/>
          <a:lstStyle/>
          <a:p>
            <a:pPr marL="0" indent="0" algn="ctr">
              <a:buNone/>
            </a:pPr>
            <a:r>
              <a:rPr lang="en-US" sz="400" dirty="0">
                <a:solidFill>
                  <a:srgbClr val="374151"/>
                </a:solidFill>
                <a:latin typeface="Calibri" pitchFamily="34" charset="0"/>
                <a:ea typeface="Calibri" pitchFamily="34" charset="-122"/>
                <a:cs typeface="Calibri" pitchFamily="34" charset="-120"/>
              </a:rPr>
              <a:t>178</a:t>
            </a:r>
            <a:endParaRPr lang="en-US" sz="400" dirty="0"/>
          </a:p>
        </p:txBody>
      </p:sp>
      <p:sp>
        <p:nvSpPr>
          <p:cNvPr id="93" name="Text 91"/>
          <p:cNvSpPr/>
          <p:nvPr/>
        </p:nvSpPr>
        <p:spPr>
          <a:xfrm>
            <a:off x="4128516" y="2660904"/>
            <a:ext cx="219456" cy="73152"/>
          </a:xfrm>
          <a:prstGeom prst="rect">
            <a:avLst/>
          </a:prstGeom>
          <a:noFill/>
          <a:ln/>
        </p:spPr>
        <p:txBody>
          <a:bodyPr wrap="square" lIns="0" tIns="0" rIns="0" bIns="0" rtlCol="0" anchor="ctr"/>
          <a:lstStyle/>
          <a:p>
            <a:pPr marL="0" indent="0" algn="ctr">
              <a:buNone/>
            </a:pPr>
            <a:r>
              <a:rPr lang="en-US" sz="350" dirty="0">
                <a:solidFill>
                  <a:srgbClr val="9CA3AF"/>
                </a:solidFill>
                <a:latin typeface="Calibri" pitchFamily="34" charset="0"/>
                <a:ea typeface="Calibri" pitchFamily="34" charset="-122"/>
                <a:cs typeface="Calibri" pitchFamily="34" charset="-120"/>
              </a:rPr>
              <a:t>Jul</a:t>
            </a:r>
            <a:endParaRPr lang="en-US" sz="350" dirty="0"/>
          </a:p>
        </p:txBody>
      </p:sp>
      <p:sp>
        <p:nvSpPr>
          <p:cNvPr id="94" name="Shape 92"/>
          <p:cNvSpPr/>
          <p:nvPr/>
        </p:nvSpPr>
        <p:spPr>
          <a:xfrm>
            <a:off x="4343400" y="1726910"/>
            <a:ext cx="146304" cy="924850"/>
          </a:xfrm>
          <a:prstGeom prst="rect">
            <a:avLst/>
          </a:prstGeom>
          <a:solidFill>
            <a:srgbClr val="3B82F6"/>
          </a:solidFill>
          <a:ln/>
        </p:spPr>
        <p:txBody>
          <a:bodyPr/>
          <a:lstStyle/>
          <a:p>
            <a:endParaRPr lang="en-US"/>
          </a:p>
        </p:txBody>
      </p:sp>
      <p:sp>
        <p:nvSpPr>
          <p:cNvPr id="95" name="Text 93"/>
          <p:cNvSpPr/>
          <p:nvPr/>
        </p:nvSpPr>
        <p:spPr>
          <a:xfrm>
            <a:off x="4306824" y="2660904"/>
            <a:ext cx="219456" cy="73152"/>
          </a:xfrm>
          <a:prstGeom prst="rect">
            <a:avLst/>
          </a:prstGeom>
          <a:noFill/>
          <a:ln/>
        </p:spPr>
        <p:txBody>
          <a:bodyPr wrap="square" lIns="0" tIns="0" rIns="0" bIns="0" rtlCol="0" anchor="ctr"/>
          <a:lstStyle/>
          <a:p>
            <a:pPr marL="0" indent="0" algn="ctr">
              <a:buNone/>
            </a:pPr>
            <a:r>
              <a:rPr lang="en-US" sz="350" dirty="0">
                <a:solidFill>
                  <a:srgbClr val="9CA3AF"/>
                </a:solidFill>
                <a:latin typeface="Calibri" pitchFamily="34" charset="0"/>
                <a:ea typeface="Calibri" pitchFamily="34" charset="-122"/>
                <a:cs typeface="Calibri" pitchFamily="34" charset="-120"/>
              </a:rPr>
              <a:t>Aug</a:t>
            </a:r>
            <a:endParaRPr lang="en-US" sz="350" dirty="0"/>
          </a:p>
        </p:txBody>
      </p:sp>
      <p:sp>
        <p:nvSpPr>
          <p:cNvPr id="96" name="Shape 94"/>
          <p:cNvSpPr/>
          <p:nvPr/>
        </p:nvSpPr>
        <p:spPr>
          <a:xfrm>
            <a:off x="4521708" y="1649839"/>
            <a:ext cx="146304" cy="1001921"/>
          </a:xfrm>
          <a:prstGeom prst="rect">
            <a:avLst/>
          </a:prstGeom>
          <a:solidFill>
            <a:srgbClr val="3B82F6"/>
          </a:solidFill>
          <a:ln/>
        </p:spPr>
        <p:txBody>
          <a:bodyPr/>
          <a:lstStyle/>
          <a:p>
            <a:endParaRPr lang="en-US"/>
          </a:p>
        </p:txBody>
      </p:sp>
      <p:sp>
        <p:nvSpPr>
          <p:cNvPr id="97" name="Text 95"/>
          <p:cNvSpPr/>
          <p:nvPr/>
        </p:nvSpPr>
        <p:spPr>
          <a:xfrm>
            <a:off x="4485132" y="2660904"/>
            <a:ext cx="219456" cy="73152"/>
          </a:xfrm>
          <a:prstGeom prst="rect">
            <a:avLst/>
          </a:prstGeom>
          <a:noFill/>
          <a:ln/>
        </p:spPr>
        <p:txBody>
          <a:bodyPr wrap="square" lIns="0" tIns="0" rIns="0" bIns="0" rtlCol="0" anchor="ctr"/>
          <a:lstStyle/>
          <a:p>
            <a:pPr marL="0" indent="0" algn="ctr">
              <a:buNone/>
            </a:pPr>
            <a:r>
              <a:rPr lang="en-US" sz="350" dirty="0">
                <a:solidFill>
                  <a:srgbClr val="9CA3AF"/>
                </a:solidFill>
                <a:latin typeface="Calibri" pitchFamily="34" charset="0"/>
                <a:ea typeface="Calibri" pitchFamily="34" charset="-122"/>
                <a:cs typeface="Calibri" pitchFamily="34" charset="-120"/>
              </a:rPr>
              <a:t>Sep</a:t>
            </a:r>
            <a:endParaRPr lang="en-US" sz="350" dirty="0"/>
          </a:p>
        </p:txBody>
      </p:sp>
      <p:sp>
        <p:nvSpPr>
          <p:cNvPr id="98" name="Shape 96"/>
          <p:cNvSpPr/>
          <p:nvPr/>
        </p:nvSpPr>
        <p:spPr>
          <a:xfrm>
            <a:off x="4700016" y="1757738"/>
            <a:ext cx="146304" cy="894022"/>
          </a:xfrm>
          <a:prstGeom prst="rect">
            <a:avLst/>
          </a:prstGeom>
          <a:solidFill>
            <a:srgbClr val="F59E0B"/>
          </a:solidFill>
          <a:ln/>
        </p:spPr>
        <p:txBody>
          <a:bodyPr/>
          <a:lstStyle/>
          <a:p>
            <a:endParaRPr lang="en-US"/>
          </a:p>
        </p:txBody>
      </p:sp>
      <p:sp>
        <p:nvSpPr>
          <p:cNvPr id="99" name="Text 97"/>
          <p:cNvSpPr/>
          <p:nvPr/>
        </p:nvSpPr>
        <p:spPr>
          <a:xfrm>
            <a:off x="4672584" y="1675442"/>
            <a:ext cx="201168" cy="73152"/>
          </a:xfrm>
          <a:prstGeom prst="rect">
            <a:avLst/>
          </a:prstGeom>
          <a:noFill/>
          <a:ln/>
        </p:spPr>
        <p:txBody>
          <a:bodyPr wrap="square" lIns="0" tIns="0" rIns="0" bIns="0" rtlCol="0" anchor="ctr"/>
          <a:lstStyle/>
          <a:p>
            <a:pPr marL="0" indent="0" algn="ctr">
              <a:buNone/>
            </a:pPr>
            <a:r>
              <a:rPr lang="en-US" sz="400" dirty="0">
                <a:solidFill>
                  <a:srgbClr val="374151"/>
                </a:solidFill>
                <a:latin typeface="Calibri" pitchFamily="34" charset="0"/>
                <a:ea typeface="Calibri" pitchFamily="34" charset="-122"/>
                <a:cs typeface="Calibri" pitchFamily="34" charset="-120"/>
              </a:rPr>
              <a:t>188</a:t>
            </a:r>
            <a:endParaRPr lang="en-US" sz="400" dirty="0"/>
          </a:p>
        </p:txBody>
      </p:sp>
      <p:sp>
        <p:nvSpPr>
          <p:cNvPr id="100" name="Text 98"/>
          <p:cNvSpPr/>
          <p:nvPr/>
        </p:nvSpPr>
        <p:spPr>
          <a:xfrm>
            <a:off x="4663440" y="2660904"/>
            <a:ext cx="219456" cy="73152"/>
          </a:xfrm>
          <a:prstGeom prst="rect">
            <a:avLst/>
          </a:prstGeom>
          <a:noFill/>
          <a:ln/>
        </p:spPr>
        <p:txBody>
          <a:bodyPr wrap="square" lIns="0" tIns="0" rIns="0" bIns="0" rtlCol="0" anchor="ctr"/>
          <a:lstStyle/>
          <a:p>
            <a:pPr marL="0" indent="0" algn="ctr">
              <a:buNone/>
            </a:pPr>
            <a:r>
              <a:rPr lang="en-US" sz="350" dirty="0">
                <a:solidFill>
                  <a:srgbClr val="9CA3AF"/>
                </a:solidFill>
                <a:latin typeface="Calibri" pitchFamily="34" charset="0"/>
                <a:ea typeface="Calibri" pitchFamily="34" charset="-122"/>
                <a:cs typeface="Calibri" pitchFamily="34" charset="-120"/>
              </a:rPr>
              <a:t>Oct</a:t>
            </a:r>
            <a:endParaRPr lang="en-US" sz="350" dirty="0"/>
          </a:p>
        </p:txBody>
      </p:sp>
      <p:sp>
        <p:nvSpPr>
          <p:cNvPr id="101" name="Shape 99"/>
          <p:cNvSpPr/>
          <p:nvPr/>
        </p:nvSpPr>
        <p:spPr>
          <a:xfrm>
            <a:off x="4878324" y="1881051"/>
            <a:ext cx="146304" cy="770709"/>
          </a:xfrm>
          <a:prstGeom prst="rect">
            <a:avLst/>
          </a:prstGeom>
          <a:solidFill>
            <a:srgbClr val="F59E0B"/>
          </a:solidFill>
          <a:ln/>
        </p:spPr>
        <p:txBody>
          <a:bodyPr/>
          <a:lstStyle/>
          <a:p>
            <a:endParaRPr lang="en-US"/>
          </a:p>
        </p:txBody>
      </p:sp>
      <p:sp>
        <p:nvSpPr>
          <p:cNvPr id="102" name="Text 100"/>
          <p:cNvSpPr/>
          <p:nvPr/>
        </p:nvSpPr>
        <p:spPr>
          <a:xfrm>
            <a:off x="4841748" y="2660904"/>
            <a:ext cx="219456" cy="73152"/>
          </a:xfrm>
          <a:prstGeom prst="rect">
            <a:avLst/>
          </a:prstGeom>
          <a:noFill/>
          <a:ln/>
        </p:spPr>
        <p:txBody>
          <a:bodyPr wrap="square" lIns="0" tIns="0" rIns="0" bIns="0" rtlCol="0" anchor="ctr"/>
          <a:lstStyle/>
          <a:p>
            <a:pPr marL="0" indent="0" algn="ctr">
              <a:buNone/>
            </a:pPr>
            <a:r>
              <a:rPr lang="en-US" sz="350" dirty="0">
                <a:solidFill>
                  <a:srgbClr val="9CA3AF"/>
                </a:solidFill>
                <a:latin typeface="Calibri" pitchFamily="34" charset="0"/>
                <a:ea typeface="Calibri" pitchFamily="34" charset="-122"/>
                <a:cs typeface="Calibri" pitchFamily="34" charset="-120"/>
              </a:rPr>
              <a:t>Nov</a:t>
            </a:r>
            <a:endParaRPr lang="en-US" sz="350" dirty="0"/>
          </a:p>
        </p:txBody>
      </p:sp>
      <p:sp>
        <p:nvSpPr>
          <p:cNvPr id="103" name="Shape 101"/>
          <p:cNvSpPr/>
          <p:nvPr/>
        </p:nvSpPr>
        <p:spPr>
          <a:xfrm>
            <a:off x="5056632" y="2004365"/>
            <a:ext cx="146304" cy="647395"/>
          </a:xfrm>
          <a:prstGeom prst="rect">
            <a:avLst/>
          </a:prstGeom>
          <a:solidFill>
            <a:srgbClr val="F59E0B"/>
          </a:solidFill>
          <a:ln/>
        </p:spPr>
        <p:txBody>
          <a:bodyPr/>
          <a:lstStyle/>
          <a:p>
            <a:endParaRPr lang="en-US"/>
          </a:p>
        </p:txBody>
      </p:sp>
      <p:sp>
        <p:nvSpPr>
          <p:cNvPr id="104" name="Text 102"/>
          <p:cNvSpPr/>
          <p:nvPr/>
        </p:nvSpPr>
        <p:spPr>
          <a:xfrm>
            <a:off x="5020056" y="2660904"/>
            <a:ext cx="219456" cy="73152"/>
          </a:xfrm>
          <a:prstGeom prst="rect">
            <a:avLst/>
          </a:prstGeom>
          <a:noFill/>
          <a:ln/>
        </p:spPr>
        <p:txBody>
          <a:bodyPr wrap="square" lIns="0" tIns="0" rIns="0" bIns="0" rtlCol="0" anchor="ctr"/>
          <a:lstStyle/>
          <a:p>
            <a:pPr marL="0" indent="0" algn="ctr">
              <a:buNone/>
            </a:pPr>
            <a:r>
              <a:rPr lang="en-US" sz="350" dirty="0">
                <a:solidFill>
                  <a:srgbClr val="9CA3AF"/>
                </a:solidFill>
                <a:latin typeface="Calibri" pitchFamily="34" charset="0"/>
                <a:ea typeface="Calibri" pitchFamily="34" charset="-122"/>
                <a:cs typeface="Calibri" pitchFamily="34" charset="-120"/>
              </a:rPr>
              <a:t>Dec</a:t>
            </a:r>
            <a:endParaRPr lang="en-US" sz="350" dirty="0"/>
          </a:p>
        </p:txBody>
      </p:sp>
      <p:sp>
        <p:nvSpPr>
          <p:cNvPr id="105" name="Shape 103"/>
          <p:cNvSpPr/>
          <p:nvPr/>
        </p:nvSpPr>
        <p:spPr>
          <a:xfrm>
            <a:off x="5234940" y="2112264"/>
            <a:ext cx="146304" cy="539496"/>
          </a:xfrm>
          <a:prstGeom prst="rect">
            <a:avLst/>
          </a:prstGeom>
          <a:solidFill>
            <a:srgbClr val="EF4444"/>
          </a:solidFill>
          <a:ln/>
        </p:spPr>
        <p:txBody>
          <a:bodyPr/>
          <a:lstStyle/>
          <a:p>
            <a:endParaRPr lang="en-US"/>
          </a:p>
        </p:txBody>
      </p:sp>
      <p:sp>
        <p:nvSpPr>
          <p:cNvPr id="106" name="Text 104"/>
          <p:cNvSpPr/>
          <p:nvPr/>
        </p:nvSpPr>
        <p:spPr>
          <a:xfrm>
            <a:off x="5207508" y="2029968"/>
            <a:ext cx="201168" cy="73152"/>
          </a:xfrm>
          <a:prstGeom prst="rect">
            <a:avLst/>
          </a:prstGeom>
          <a:noFill/>
          <a:ln/>
        </p:spPr>
        <p:txBody>
          <a:bodyPr wrap="square" lIns="0" tIns="0" rIns="0" bIns="0" rtlCol="0" anchor="ctr"/>
          <a:lstStyle/>
          <a:p>
            <a:pPr marL="0" indent="0" algn="ctr">
              <a:buNone/>
            </a:pPr>
            <a:r>
              <a:rPr lang="en-US" sz="400" dirty="0">
                <a:solidFill>
                  <a:srgbClr val="374151"/>
                </a:solidFill>
                <a:latin typeface="Calibri" pitchFamily="34" charset="0"/>
                <a:ea typeface="Calibri" pitchFamily="34" charset="-122"/>
                <a:cs typeface="Calibri" pitchFamily="34" charset="-120"/>
              </a:rPr>
              <a:t>165</a:t>
            </a:r>
            <a:endParaRPr lang="en-US" sz="400" dirty="0"/>
          </a:p>
        </p:txBody>
      </p:sp>
      <p:sp>
        <p:nvSpPr>
          <p:cNvPr id="107" name="Text 105"/>
          <p:cNvSpPr/>
          <p:nvPr/>
        </p:nvSpPr>
        <p:spPr>
          <a:xfrm>
            <a:off x="5198364" y="2660904"/>
            <a:ext cx="219456" cy="73152"/>
          </a:xfrm>
          <a:prstGeom prst="rect">
            <a:avLst/>
          </a:prstGeom>
          <a:noFill/>
          <a:ln/>
        </p:spPr>
        <p:txBody>
          <a:bodyPr wrap="square" lIns="0" tIns="0" rIns="0" bIns="0" rtlCol="0" anchor="ctr"/>
          <a:lstStyle/>
          <a:p>
            <a:pPr marL="0" indent="0" algn="ctr">
              <a:buNone/>
            </a:pPr>
            <a:r>
              <a:rPr lang="en-US" sz="350" dirty="0">
                <a:solidFill>
                  <a:srgbClr val="9CA3AF"/>
                </a:solidFill>
                <a:latin typeface="Calibri" pitchFamily="34" charset="0"/>
                <a:ea typeface="Calibri" pitchFamily="34" charset="-122"/>
                <a:cs typeface="Calibri" pitchFamily="34" charset="-120"/>
              </a:rPr>
              <a:t>Jan</a:t>
            </a:r>
            <a:endParaRPr lang="en-US" sz="350" dirty="0"/>
          </a:p>
        </p:txBody>
      </p:sp>
      <p:sp>
        <p:nvSpPr>
          <p:cNvPr id="108" name="Shape 106"/>
          <p:cNvSpPr/>
          <p:nvPr/>
        </p:nvSpPr>
        <p:spPr>
          <a:xfrm>
            <a:off x="5413248" y="2266406"/>
            <a:ext cx="146304" cy="385354"/>
          </a:xfrm>
          <a:prstGeom prst="rect">
            <a:avLst/>
          </a:prstGeom>
          <a:solidFill>
            <a:srgbClr val="EF4444"/>
          </a:solidFill>
          <a:ln/>
        </p:spPr>
        <p:txBody>
          <a:bodyPr/>
          <a:lstStyle/>
          <a:p>
            <a:endParaRPr lang="en-US"/>
          </a:p>
        </p:txBody>
      </p:sp>
      <p:sp>
        <p:nvSpPr>
          <p:cNvPr id="109" name="Text 107"/>
          <p:cNvSpPr/>
          <p:nvPr/>
        </p:nvSpPr>
        <p:spPr>
          <a:xfrm>
            <a:off x="5376672" y="2660904"/>
            <a:ext cx="219456" cy="73152"/>
          </a:xfrm>
          <a:prstGeom prst="rect">
            <a:avLst/>
          </a:prstGeom>
          <a:noFill/>
          <a:ln/>
        </p:spPr>
        <p:txBody>
          <a:bodyPr wrap="square" lIns="0" tIns="0" rIns="0" bIns="0" rtlCol="0" anchor="ctr"/>
          <a:lstStyle/>
          <a:p>
            <a:pPr marL="0" indent="0" algn="ctr">
              <a:buNone/>
            </a:pPr>
            <a:r>
              <a:rPr lang="en-US" sz="350" dirty="0">
                <a:solidFill>
                  <a:srgbClr val="9CA3AF"/>
                </a:solidFill>
                <a:latin typeface="Calibri" pitchFamily="34" charset="0"/>
                <a:ea typeface="Calibri" pitchFamily="34" charset="-122"/>
                <a:cs typeface="Calibri" pitchFamily="34" charset="-120"/>
              </a:rPr>
              <a:t>Feb</a:t>
            </a:r>
            <a:endParaRPr lang="en-US" sz="350" dirty="0"/>
          </a:p>
        </p:txBody>
      </p:sp>
      <p:sp>
        <p:nvSpPr>
          <p:cNvPr id="110" name="Shape 108"/>
          <p:cNvSpPr/>
          <p:nvPr/>
        </p:nvSpPr>
        <p:spPr>
          <a:xfrm>
            <a:off x="5591556" y="2374305"/>
            <a:ext cx="146304" cy="277455"/>
          </a:xfrm>
          <a:prstGeom prst="rect">
            <a:avLst/>
          </a:prstGeom>
          <a:solidFill>
            <a:srgbClr val="EF4444"/>
          </a:solidFill>
          <a:ln/>
        </p:spPr>
        <p:txBody>
          <a:bodyPr/>
          <a:lstStyle/>
          <a:p>
            <a:endParaRPr lang="en-US"/>
          </a:p>
        </p:txBody>
      </p:sp>
      <p:sp>
        <p:nvSpPr>
          <p:cNvPr id="111" name="Text 109"/>
          <p:cNvSpPr/>
          <p:nvPr/>
        </p:nvSpPr>
        <p:spPr>
          <a:xfrm>
            <a:off x="5564124" y="2292009"/>
            <a:ext cx="201168" cy="73152"/>
          </a:xfrm>
          <a:prstGeom prst="rect">
            <a:avLst/>
          </a:prstGeom>
          <a:noFill/>
          <a:ln/>
        </p:spPr>
        <p:txBody>
          <a:bodyPr wrap="square" lIns="0" tIns="0" rIns="0" bIns="0" rtlCol="0" anchor="ctr"/>
          <a:lstStyle/>
          <a:p>
            <a:pPr marL="0" indent="0" algn="ctr">
              <a:buNone/>
            </a:pPr>
            <a:r>
              <a:rPr lang="en-US" sz="400" dirty="0">
                <a:solidFill>
                  <a:srgbClr val="374151"/>
                </a:solidFill>
                <a:latin typeface="Calibri" pitchFamily="34" charset="0"/>
                <a:ea typeface="Calibri" pitchFamily="34" charset="-122"/>
                <a:cs typeface="Calibri" pitchFamily="34" charset="-120"/>
              </a:rPr>
              <a:t>148</a:t>
            </a:r>
            <a:endParaRPr lang="en-US" sz="400" dirty="0"/>
          </a:p>
        </p:txBody>
      </p:sp>
      <p:sp>
        <p:nvSpPr>
          <p:cNvPr id="112" name="Text 110"/>
          <p:cNvSpPr/>
          <p:nvPr/>
        </p:nvSpPr>
        <p:spPr>
          <a:xfrm>
            <a:off x="5554980" y="2660904"/>
            <a:ext cx="219456" cy="73152"/>
          </a:xfrm>
          <a:prstGeom prst="rect">
            <a:avLst/>
          </a:prstGeom>
          <a:noFill/>
          <a:ln/>
        </p:spPr>
        <p:txBody>
          <a:bodyPr wrap="square" lIns="0" tIns="0" rIns="0" bIns="0" rtlCol="0" anchor="ctr"/>
          <a:lstStyle/>
          <a:p>
            <a:pPr marL="0" indent="0" algn="ctr">
              <a:buNone/>
            </a:pPr>
            <a:r>
              <a:rPr lang="en-US" sz="350" dirty="0">
                <a:solidFill>
                  <a:srgbClr val="9CA3AF"/>
                </a:solidFill>
                <a:latin typeface="Calibri" pitchFamily="34" charset="0"/>
                <a:ea typeface="Calibri" pitchFamily="34" charset="-122"/>
                <a:cs typeface="Calibri" pitchFamily="34" charset="-120"/>
              </a:rPr>
              <a:t>Mar</a:t>
            </a:r>
            <a:endParaRPr lang="en-US" sz="350" dirty="0"/>
          </a:p>
        </p:txBody>
      </p:sp>
      <p:sp>
        <p:nvSpPr>
          <p:cNvPr id="113" name="Shape 111"/>
          <p:cNvSpPr/>
          <p:nvPr/>
        </p:nvSpPr>
        <p:spPr>
          <a:xfrm>
            <a:off x="3557016" y="2761488"/>
            <a:ext cx="91440" cy="54864"/>
          </a:xfrm>
          <a:prstGeom prst="rect">
            <a:avLst/>
          </a:prstGeom>
          <a:solidFill>
            <a:srgbClr val="EF4444"/>
          </a:solidFill>
          <a:ln/>
        </p:spPr>
        <p:txBody>
          <a:bodyPr/>
          <a:lstStyle/>
          <a:p>
            <a:endParaRPr lang="en-US"/>
          </a:p>
        </p:txBody>
      </p:sp>
      <p:sp>
        <p:nvSpPr>
          <p:cNvPr id="114" name="Text 112"/>
          <p:cNvSpPr/>
          <p:nvPr/>
        </p:nvSpPr>
        <p:spPr>
          <a:xfrm>
            <a:off x="3666744" y="2743200"/>
            <a:ext cx="274320" cy="91440"/>
          </a:xfrm>
          <a:prstGeom prst="rect">
            <a:avLst/>
          </a:prstGeom>
          <a:noFill/>
          <a:ln/>
        </p:spPr>
        <p:txBody>
          <a:bodyPr wrap="square" lIns="0" tIns="0" rIns="0" bIns="0" rtlCol="0" anchor="ctr"/>
          <a:lstStyle/>
          <a:p>
            <a:pPr marL="0" indent="0">
              <a:buNone/>
            </a:pPr>
            <a:r>
              <a:rPr lang="en-US" sz="400" dirty="0">
                <a:solidFill>
                  <a:srgbClr val="6B7280"/>
                </a:solidFill>
                <a:latin typeface="Calibri" pitchFamily="34" charset="0"/>
                <a:ea typeface="Calibri" pitchFamily="34" charset="-122"/>
                <a:cs typeface="Calibri" pitchFamily="34" charset="-120"/>
              </a:rPr>
              <a:t>Q1</a:t>
            </a:r>
            <a:endParaRPr lang="en-US" sz="400" dirty="0"/>
          </a:p>
        </p:txBody>
      </p:sp>
      <p:sp>
        <p:nvSpPr>
          <p:cNvPr id="115" name="Shape 113"/>
          <p:cNvSpPr/>
          <p:nvPr/>
        </p:nvSpPr>
        <p:spPr>
          <a:xfrm>
            <a:off x="3968496" y="2761488"/>
            <a:ext cx="91440" cy="54864"/>
          </a:xfrm>
          <a:prstGeom prst="rect">
            <a:avLst/>
          </a:prstGeom>
          <a:solidFill>
            <a:srgbClr val="10B981"/>
          </a:solidFill>
          <a:ln/>
        </p:spPr>
        <p:txBody>
          <a:bodyPr/>
          <a:lstStyle/>
          <a:p>
            <a:endParaRPr lang="en-US"/>
          </a:p>
        </p:txBody>
      </p:sp>
      <p:sp>
        <p:nvSpPr>
          <p:cNvPr id="116" name="Text 114"/>
          <p:cNvSpPr/>
          <p:nvPr/>
        </p:nvSpPr>
        <p:spPr>
          <a:xfrm>
            <a:off x="4078224" y="2743200"/>
            <a:ext cx="274320" cy="91440"/>
          </a:xfrm>
          <a:prstGeom prst="rect">
            <a:avLst/>
          </a:prstGeom>
          <a:noFill/>
          <a:ln/>
        </p:spPr>
        <p:txBody>
          <a:bodyPr wrap="square" lIns="0" tIns="0" rIns="0" bIns="0" rtlCol="0" anchor="ctr"/>
          <a:lstStyle/>
          <a:p>
            <a:pPr marL="0" indent="0">
              <a:buNone/>
            </a:pPr>
            <a:r>
              <a:rPr lang="en-US" sz="400" dirty="0">
                <a:solidFill>
                  <a:srgbClr val="6B7280"/>
                </a:solidFill>
                <a:latin typeface="Calibri" pitchFamily="34" charset="0"/>
                <a:ea typeface="Calibri" pitchFamily="34" charset="-122"/>
                <a:cs typeface="Calibri" pitchFamily="34" charset="-120"/>
              </a:rPr>
              <a:t>Q2</a:t>
            </a:r>
            <a:endParaRPr lang="en-US" sz="400" dirty="0"/>
          </a:p>
        </p:txBody>
      </p:sp>
      <p:sp>
        <p:nvSpPr>
          <p:cNvPr id="117" name="Shape 115"/>
          <p:cNvSpPr/>
          <p:nvPr/>
        </p:nvSpPr>
        <p:spPr>
          <a:xfrm>
            <a:off x="4379976" y="2761488"/>
            <a:ext cx="91440" cy="54864"/>
          </a:xfrm>
          <a:prstGeom prst="rect">
            <a:avLst/>
          </a:prstGeom>
          <a:solidFill>
            <a:srgbClr val="3B82F6"/>
          </a:solidFill>
          <a:ln/>
        </p:spPr>
        <p:txBody>
          <a:bodyPr/>
          <a:lstStyle/>
          <a:p>
            <a:endParaRPr lang="en-US"/>
          </a:p>
        </p:txBody>
      </p:sp>
      <p:sp>
        <p:nvSpPr>
          <p:cNvPr id="118" name="Text 116"/>
          <p:cNvSpPr/>
          <p:nvPr/>
        </p:nvSpPr>
        <p:spPr>
          <a:xfrm>
            <a:off x="4489704" y="2743200"/>
            <a:ext cx="274320" cy="91440"/>
          </a:xfrm>
          <a:prstGeom prst="rect">
            <a:avLst/>
          </a:prstGeom>
          <a:noFill/>
          <a:ln/>
        </p:spPr>
        <p:txBody>
          <a:bodyPr wrap="square" lIns="0" tIns="0" rIns="0" bIns="0" rtlCol="0" anchor="ctr"/>
          <a:lstStyle/>
          <a:p>
            <a:pPr marL="0" indent="0">
              <a:buNone/>
            </a:pPr>
            <a:r>
              <a:rPr lang="en-US" sz="400" dirty="0">
                <a:solidFill>
                  <a:srgbClr val="6B7280"/>
                </a:solidFill>
                <a:latin typeface="Calibri" pitchFamily="34" charset="0"/>
                <a:ea typeface="Calibri" pitchFamily="34" charset="-122"/>
                <a:cs typeface="Calibri" pitchFamily="34" charset="-120"/>
              </a:rPr>
              <a:t>Q3</a:t>
            </a:r>
            <a:endParaRPr lang="en-US" sz="400" dirty="0"/>
          </a:p>
        </p:txBody>
      </p:sp>
      <p:sp>
        <p:nvSpPr>
          <p:cNvPr id="119" name="Shape 117"/>
          <p:cNvSpPr/>
          <p:nvPr/>
        </p:nvSpPr>
        <p:spPr>
          <a:xfrm>
            <a:off x="4791456" y="2761488"/>
            <a:ext cx="91440" cy="54864"/>
          </a:xfrm>
          <a:prstGeom prst="rect">
            <a:avLst/>
          </a:prstGeom>
          <a:solidFill>
            <a:srgbClr val="F59E0B"/>
          </a:solidFill>
          <a:ln/>
        </p:spPr>
        <p:txBody>
          <a:bodyPr/>
          <a:lstStyle/>
          <a:p>
            <a:endParaRPr lang="en-US"/>
          </a:p>
        </p:txBody>
      </p:sp>
      <p:sp>
        <p:nvSpPr>
          <p:cNvPr id="120" name="Text 118"/>
          <p:cNvSpPr/>
          <p:nvPr/>
        </p:nvSpPr>
        <p:spPr>
          <a:xfrm>
            <a:off x="4901184" y="2743200"/>
            <a:ext cx="274320" cy="91440"/>
          </a:xfrm>
          <a:prstGeom prst="rect">
            <a:avLst/>
          </a:prstGeom>
          <a:noFill/>
          <a:ln/>
        </p:spPr>
        <p:txBody>
          <a:bodyPr wrap="square" lIns="0" tIns="0" rIns="0" bIns="0" rtlCol="0" anchor="ctr"/>
          <a:lstStyle/>
          <a:p>
            <a:pPr marL="0" indent="0">
              <a:buNone/>
            </a:pPr>
            <a:r>
              <a:rPr lang="en-US" sz="400" dirty="0">
                <a:solidFill>
                  <a:srgbClr val="6B7280"/>
                </a:solidFill>
                <a:latin typeface="Calibri" pitchFamily="34" charset="0"/>
                <a:ea typeface="Calibri" pitchFamily="34" charset="-122"/>
                <a:cs typeface="Calibri" pitchFamily="34" charset="-120"/>
              </a:rPr>
              <a:t>Q4</a:t>
            </a:r>
            <a:endParaRPr lang="en-US" sz="400" dirty="0"/>
          </a:p>
        </p:txBody>
      </p:sp>
      <p:sp>
        <p:nvSpPr>
          <p:cNvPr id="121" name="Text 119"/>
          <p:cNvSpPr/>
          <p:nvPr/>
        </p:nvSpPr>
        <p:spPr>
          <a:xfrm>
            <a:off x="5367528" y="2743200"/>
            <a:ext cx="868680" cy="91440"/>
          </a:xfrm>
          <a:prstGeom prst="rect">
            <a:avLst/>
          </a:prstGeom>
          <a:noFill/>
          <a:ln/>
        </p:spPr>
        <p:txBody>
          <a:bodyPr wrap="square" lIns="0" tIns="0" rIns="0" bIns="0" rtlCol="0" anchor="ctr"/>
          <a:lstStyle/>
          <a:p>
            <a:pPr marL="0" indent="0" algn="r">
              <a:buNone/>
            </a:pPr>
            <a:r>
              <a:rPr lang="en-US" sz="450" dirty="0">
                <a:solidFill>
                  <a:srgbClr val="EF4444"/>
                </a:solidFill>
                <a:latin typeface="Calibri" pitchFamily="34" charset="0"/>
                <a:ea typeface="Calibri" pitchFamily="34" charset="-122"/>
                <a:cs typeface="Calibri" pitchFamily="34" charset="-120"/>
              </a:rPr>
              <a:t>▼ 5-mo decline</a:t>
            </a:r>
            <a:endParaRPr lang="en-US" sz="450" dirty="0"/>
          </a:p>
        </p:txBody>
      </p:sp>
      <p:sp>
        <p:nvSpPr>
          <p:cNvPr id="122" name="Shape 120"/>
          <p:cNvSpPr/>
          <p:nvPr/>
        </p:nvSpPr>
        <p:spPr>
          <a:xfrm>
            <a:off x="6373368" y="1170432"/>
            <a:ext cx="2743200" cy="1719072"/>
          </a:xfrm>
          <a:prstGeom prst="rect">
            <a:avLst/>
          </a:prstGeom>
          <a:solidFill>
            <a:srgbClr val="FFFFFF"/>
          </a:solidFill>
          <a:ln w="6350">
            <a:solidFill>
              <a:srgbClr val="E5E7EB"/>
            </a:solidFill>
            <a:prstDash val="solid"/>
          </a:ln>
        </p:spPr>
        <p:txBody>
          <a:bodyPr/>
          <a:lstStyle/>
          <a:p>
            <a:endParaRPr lang="en-US"/>
          </a:p>
        </p:txBody>
      </p:sp>
      <p:sp>
        <p:nvSpPr>
          <p:cNvPr id="123" name="Text 121"/>
          <p:cNvSpPr/>
          <p:nvPr/>
        </p:nvSpPr>
        <p:spPr>
          <a:xfrm>
            <a:off x="6446520" y="1207008"/>
            <a:ext cx="2596896" cy="118872"/>
          </a:xfrm>
          <a:prstGeom prst="rect">
            <a:avLst/>
          </a:prstGeom>
          <a:noFill/>
          <a:ln/>
        </p:spPr>
        <p:txBody>
          <a:bodyPr wrap="square" lIns="0" tIns="0" rIns="0" bIns="0" rtlCol="0" anchor="ctr"/>
          <a:lstStyle/>
          <a:p>
            <a:pPr marL="0" indent="0">
              <a:buNone/>
            </a:pPr>
            <a:r>
              <a:rPr lang="en-US" sz="700" b="1" dirty="0">
                <a:solidFill>
                  <a:srgbClr val="111827"/>
                </a:solidFill>
                <a:latin typeface="Trebuchet MS" pitchFamily="34" charset="0"/>
                <a:ea typeface="Trebuchet MS" pitchFamily="34" charset="-122"/>
                <a:cs typeface="Trebuchet MS" pitchFamily="34" charset="-120"/>
              </a:rPr>
              <a:t>Physicians by Last Contact</a:t>
            </a:r>
            <a:endParaRPr lang="en-US" sz="700" dirty="0"/>
          </a:p>
        </p:txBody>
      </p:sp>
      <p:sp>
        <p:nvSpPr>
          <p:cNvPr id="124" name="Text 122"/>
          <p:cNvSpPr/>
          <p:nvPr/>
        </p:nvSpPr>
        <p:spPr>
          <a:xfrm>
            <a:off x="6446520" y="1316736"/>
            <a:ext cx="2596896" cy="73152"/>
          </a:xfrm>
          <a:prstGeom prst="rect">
            <a:avLst/>
          </a:prstGeom>
          <a:noFill/>
          <a:ln/>
        </p:spPr>
        <p:txBody>
          <a:bodyPr wrap="square" lIns="0" tIns="0" rIns="0" bIns="0" rtlCol="0" anchor="ctr"/>
          <a:lstStyle/>
          <a:p>
            <a:pPr marL="0" indent="0">
              <a:buNone/>
            </a:pPr>
            <a:r>
              <a:rPr lang="en-US" sz="400" dirty="0">
                <a:solidFill>
                  <a:srgbClr val="9CA3AF"/>
                </a:solidFill>
                <a:latin typeface="Calibri" pitchFamily="34" charset="0"/>
                <a:ea typeface="Calibri" pitchFamily="34" charset="-122"/>
                <a:cs typeface="Calibri" pitchFamily="34" charset="-120"/>
              </a:rPr>
              <a:t># physicians per region</a:t>
            </a:r>
            <a:endParaRPr lang="en-US" sz="400" dirty="0"/>
          </a:p>
        </p:txBody>
      </p:sp>
      <p:sp>
        <p:nvSpPr>
          <p:cNvPr id="125" name="Text 123"/>
          <p:cNvSpPr/>
          <p:nvPr/>
        </p:nvSpPr>
        <p:spPr>
          <a:xfrm>
            <a:off x="6922008" y="1444752"/>
            <a:ext cx="457200" cy="109728"/>
          </a:xfrm>
          <a:prstGeom prst="rect">
            <a:avLst/>
          </a:prstGeom>
          <a:noFill/>
          <a:ln/>
        </p:spPr>
        <p:txBody>
          <a:bodyPr wrap="square" lIns="0" tIns="0" rIns="0" bIns="0" rtlCol="0" anchor="ctr"/>
          <a:lstStyle/>
          <a:p>
            <a:pPr marL="0" indent="0" algn="ctr">
              <a:buNone/>
            </a:pPr>
            <a:r>
              <a:rPr lang="en-US" sz="450" dirty="0">
                <a:solidFill>
                  <a:srgbClr val="6B7280"/>
                </a:solidFill>
                <a:latin typeface="Trebuchet MS" pitchFamily="34" charset="0"/>
                <a:ea typeface="Trebuchet MS" pitchFamily="34" charset="-122"/>
                <a:cs typeface="Trebuchet MS" pitchFamily="34" charset="-120"/>
              </a:rPr>
              <a:t>0-30d</a:t>
            </a:r>
            <a:endParaRPr lang="en-US" sz="450" dirty="0"/>
          </a:p>
        </p:txBody>
      </p:sp>
      <p:sp>
        <p:nvSpPr>
          <p:cNvPr id="126" name="Text 124"/>
          <p:cNvSpPr/>
          <p:nvPr/>
        </p:nvSpPr>
        <p:spPr>
          <a:xfrm>
            <a:off x="7379208" y="1444752"/>
            <a:ext cx="457200" cy="109728"/>
          </a:xfrm>
          <a:prstGeom prst="rect">
            <a:avLst/>
          </a:prstGeom>
          <a:noFill/>
          <a:ln/>
        </p:spPr>
        <p:txBody>
          <a:bodyPr wrap="square" lIns="0" tIns="0" rIns="0" bIns="0" rtlCol="0" anchor="ctr"/>
          <a:lstStyle/>
          <a:p>
            <a:pPr marL="0" indent="0" algn="ctr">
              <a:buNone/>
            </a:pPr>
            <a:r>
              <a:rPr lang="en-US" sz="450" dirty="0">
                <a:solidFill>
                  <a:srgbClr val="6B7280"/>
                </a:solidFill>
                <a:latin typeface="Trebuchet MS" pitchFamily="34" charset="0"/>
                <a:ea typeface="Trebuchet MS" pitchFamily="34" charset="-122"/>
                <a:cs typeface="Trebuchet MS" pitchFamily="34" charset="-120"/>
              </a:rPr>
              <a:t>31-60d</a:t>
            </a:r>
            <a:endParaRPr lang="en-US" sz="450" dirty="0"/>
          </a:p>
        </p:txBody>
      </p:sp>
      <p:sp>
        <p:nvSpPr>
          <p:cNvPr id="127" name="Text 125"/>
          <p:cNvSpPr/>
          <p:nvPr/>
        </p:nvSpPr>
        <p:spPr>
          <a:xfrm>
            <a:off x="7836408" y="1444752"/>
            <a:ext cx="457200" cy="109728"/>
          </a:xfrm>
          <a:prstGeom prst="rect">
            <a:avLst/>
          </a:prstGeom>
          <a:noFill/>
          <a:ln/>
        </p:spPr>
        <p:txBody>
          <a:bodyPr wrap="square" lIns="0" tIns="0" rIns="0" bIns="0" rtlCol="0" anchor="ctr"/>
          <a:lstStyle/>
          <a:p>
            <a:pPr marL="0" indent="0" algn="ctr">
              <a:buNone/>
            </a:pPr>
            <a:r>
              <a:rPr lang="en-US" sz="450" dirty="0">
                <a:solidFill>
                  <a:srgbClr val="6B7280"/>
                </a:solidFill>
                <a:latin typeface="Trebuchet MS" pitchFamily="34" charset="0"/>
                <a:ea typeface="Trebuchet MS" pitchFamily="34" charset="-122"/>
                <a:cs typeface="Trebuchet MS" pitchFamily="34" charset="-120"/>
              </a:rPr>
              <a:t>61-90d</a:t>
            </a:r>
            <a:endParaRPr lang="en-US" sz="450" dirty="0"/>
          </a:p>
        </p:txBody>
      </p:sp>
      <p:sp>
        <p:nvSpPr>
          <p:cNvPr id="128" name="Text 126"/>
          <p:cNvSpPr/>
          <p:nvPr/>
        </p:nvSpPr>
        <p:spPr>
          <a:xfrm>
            <a:off x="8293608" y="1444752"/>
            <a:ext cx="457200" cy="109728"/>
          </a:xfrm>
          <a:prstGeom prst="rect">
            <a:avLst/>
          </a:prstGeom>
          <a:noFill/>
          <a:ln/>
        </p:spPr>
        <p:txBody>
          <a:bodyPr wrap="square" lIns="0" tIns="0" rIns="0" bIns="0" rtlCol="0" anchor="ctr"/>
          <a:lstStyle/>
          <a:p>
            <a:pPr marL="0" indent="0" algn="ctr">
              <a:buNone/>
            </a:pPr>
            <a:r>
              <a:rPr lang="en-US" sz="450" dirty="0">
                <a:solidFill>
                  <a:srgbClr val="6B7280"/>
                </a:solidFill>
                <a:latin typeface="Trebuchet MS" pitchFamily="34" charset="0"/>
                <a:ea typeface="Trebuchet MS" pitchFamily="34" charset="-122"/>
                <a:cs typeface="Trebuchet MS" pitchFamily="34" charset="-120"/>
              </a:rPr>
              <a:t>90d+</a:t>
            </a:r>
            <a:endParaRPr lang="en-US" sz="450" dirty="0"/>
          </a:p>
        </p:txBody>
      </p:sp>
      <p:sp>
        <p:nvSpPr>
          <p:cNvPr id="129" name="Text 127"/>
          <p:cNvSpPr/>
          <p:nvPr/>
        </p:nvSpPr>
        <p:spPr>
          <a:xfrm>
            <a:off x="6428232" y="1572768"/>
            <a:ext cx="475488" cy="201168"/>
          </a:xfrm>
          <a:prstGeom prst="rect">
            <a:avLst/>
          </a:prstGeom>
          <a:noFill/>
          <a:ln/>
        </p:spPr>
        <p:txBody>
          <a:bodyPr wrap="square" lIns="0" tIns="0" rIns="0" bIns="0" rtlCol="0" anchor="ctr"/>
          <a:lstStyle/>
          <a:p>
            <a:pPr marL="0" indent="0">
              <a:buNone/>
            </a:pPr>
            <a:r>
              <a:rPr lang="en-US" sz="500" b="1" dirty="0">
                <a:solidFill>
                  <a:srgbClr val="374151"/>
                </a:solidFill>
                <a:latin typeface="Calibri" pitchFamily="34" charset="0"/>
                <a:ea typeface="Calibri" pitchFamily="34" charset="-122"/>
                <a:cs typeface="Calibri" pitchFamily="34" charset="-120"/>
              </a:rPr>
              <a:t>North</a:t>
            </a:r>
            <a:endParaRPr lang="en-US" sz="500" dirty="0"/>
          </a:p>
        </p:txBody>
      </p:sp>
      <p:sp>
        <p:nvSpPr>
          <p:cNvPr id="130" name="Shape 128"/>
          <p:cNvSpPr/>
          <p:nvPr/>
        </p:nvSpPr>
        <p:spPr>
          <a:xfrm>
            <a:off x="6922008" y="1572768"/>
            <a:ext cx="457200" cy="201168"/>
          </a:xfrm>
          <a:prstGeom prst="rect">
            <a:avLst/>
          </a:prstGeom>
          <a:solidFill>
            <a:srgbClr val="D1FAE5"/>
          </a:solidFill>
          <a:ln w="3175">
            <a:solidFill>
              <a:srgbClr val="E5E7EB"/>
            </a:solidFill>
            <a:prstDash val="solid"/>
          </a:ln>
        </p:spPr>
        <p:txBody>
          <a:bodyPr/>
          <a:lstStyle/>
          <a:p>
            <a:endParaRPr lang="en-US"/>
          </a:p>
        </p:txBody>
      </p:sp>
      <p:sp>
        <p:nvSpPr>
          <p:cNvPr id="131" name="Text 129"/>
          <p:cNvSpPr/>
          <p:nvPr/>
        </p:nvSpPr>
        <p:spPr>
          <a:xfrm>
            <a:off x="6922008" y="1572768"/>
            <a:ext cx="457200" cy="201168"/>
          </a:xfrm>
          <a:prstGeom prst="rect">
            <a:avLst/>
          </a:prstGeom>
          <a:noFill/>
          <a:ln/>
        </p:spPr>
        <p:txBody>
          <a:bodyPr wrap="square" lIns="0" tIns="0" rIns="0" bIns="0" rtlCol="0" anchor="ctr"/>
          <a:lstStyle/>
          <a:p>
            <a:pPr marL="0" indent="0" algn="ctr">
              <a:buNone/>
            </a:pPr>
            <a:r>
              <a:rPr lang="en-US" sz="600" b="1" dirty="0">
                <a:solidFill>
                  <a:srgbClr val="374151"/>
                </a:solidFill>
                <a:latin typeface="Trebuchet MS" pitchFamily="34" charset="0"/>
                <a:ea typeface="Trebuchet MS" pitchFamily="34" charset="-122"/>
                <a:cs typeface="Trebuchet MS" pitchFamily="34" charset="-120"/>
              </a:rPr>
              <a:t>10</a:t>
            </a:r>
            <a:endParaRPr lang="en-US" sz="600" dirty="0"/>
          </a:p>
        </p:txBody>
      </p:sp>
      <p:sp>
        <p:nvSpPr>
          <p:cNvPr id="132" name="Shape 130"/>
          <p:cNvSpPr/>
          <p:nvPr/>
        </p:nvSpPr>
        <p:spPr>
          <a:xfrm>
            <a:off x="7379208" y="1572768"/>
            <a:ext cx="457200" cy="201168"/>
          </a:xfrm>
          <a:prstGeom prst="rect">
            <a:avLst/>
          </a:prstGeom>
          <a:solidFill>
            <a:srgbClr val="FEF3C7"/>
          </a:solidFill>
          <a:ln w="3175">
            <a:solidFill>
              <a:srgbClr val="E5E7EB"/>
            </a:solidFill>
            <a:prstDash val="solid"/>
          </a:ln>
        </p:spPr>
        <p:txBody>
          <a:bodyPr/>
          <a:lstStyle/>
          <a:p>
            <a:endParaRPr lang="en-US"/>
          </a:p>
        </p:txBody>
      </p:sp>
      <p:sp>
        <p:nvSpPr>
          <p:cNvPr id="133" name="Text 131"/>
          <p:cNvSpPr/>
          <p:nvPr/>
        </p:nvSpPr>
        <p:spPr>
          <a:xfrm>
            <a:off x="7379208" y="1572768"/>
            <a:ext cx="457200" cy="201168"/>
          </a:xfrm>
          <a:prstGeom prst="rect">
            <a:avLst/>
          </a:prstGeom>
          <a:noFill/>
          <a:ln/>
        </p:spPr>
        <p:txBody>
          <a:bodyPr wrap="square" lIns="0" tIns="0" rIns="0" bIns="0" rtlCol="0" anchor="ctr"/>
          <a:lstStyle/>
          <a:p>
            <a:pPr marL="0" indent="0" algn="ctr">
              <a:buNone/>
            </a:pPr>
            <a:r>
              <a:rPr lang="en-US" sz="600" b="1" dirty="0">
                <a:solidFill>
                  <a:srgbClr val="374151"/>
                </a:solidFill>
                <a:latin typeface="Trebuchet MS" pitchFamily="34" charset="0"/>
                <a:ea typeface="Trebuchet MS" pitchFamily="34" charset="-122"/>
                <a:cs typeface="Trebuchet MS" pitchFamily="34" charset="-120"/>
              </a:rPr>
              <a:t>5</a:t>
            </a:r>
            <a:endParaRPr lang="en-US" sz="600" dirty="0"/>
          </a:p>
        </p:txBody>
      </p:sp>
      <p:sp>
        <p:nvSpPr>
          <p:cNvPr id="134" name="Shape 132"/>
          <p:cNvSpPr/>
          <p:nvPr/>
        </p:nvSpPr>
        <p:spPr>
          <a:xfrm>
            <a:off x="7836408" y="1572768"/>
            <a:ext cx="457200" cy="201168"/>
          </a:xfrm>
          <a:prstGeom prst="rect">
            <a:avLst/>
          </a:prstGeom>
          <a:solidFill>
            <a:srgbClr val="FED7AA"/>
          </a:solidFill>
          <a:ln w="3175">
            <a:solidFill>
              <a:srgbClr val="E5E7EB"/>
            </a:solidFill>
            <a:prstDash val="solid"/>
          </a:ln>
        </p:spPr>
        <p:txBody>
          <a:bodyPr/>
          <a:lstStyle/>
          <a:p>
            <a:endParaRPr lang="en-US"/>
          </a:p>
        </p:txBody>
      </p:sp>
      <p:sp>
        <p:nvSpPr>
          <p:cNvPr id="135" name="Text 133"/>
          <p:cNvSpPr/>
          <p:nvPr/>
        </p:nvSpPr>
        <p:spPr>
          <a:xfrm>
            <a:off x="7836408" y="1572768"/>
            <a:ext cx="457200" cy="201168"/>
          </a:xfrm>
          <a:prstGeom prst="rect">
            <a:avLst/>
          </a:prstGeom>
          <a:noFill/>
          <a:ln/>
        </p:spPr>
        <p:txBody>
          <a:bodyPr wrap="square" lIns="0" tIns="0" rIns="0" bIns="0" rtlCol="0" anchor="ctr"/>
          <a:lstStyle/>
          <a:p>
            <a:pPr marL="0" indent="0" algn="ctr">
              <a:buNone/>
            </a:pPr>
            <a:r>
              <a:rPr lang="en-US" sz="600" b="1" dirty="0">
                <a:solidFill>
                  <a:srgbClr val="374151"/>
                </a:solidFill>
                <a:latin typeface="Trebuchet MS" pitchFamily="34" charset="0"/>
                <a:ea typeface="Trebuchet MS" pitchFamily="34" charset="-122"/>
                <a:cs typeface="Trebuchet MS" pitchFamily="34" charset="-120"/>
              </a:rPr>
              <a:t>4</a:t>
            </a:r>
            <a:endParaRPr lang="en-US" sz="600" dirty="0"/>
          </a:p>
        </p:txBody>
      </p:sp>
      <p:sp>
        <p:nvSpPr>
          <p:cNvPr id="136" name="Shape 134"/>
          <p:cNvSpPr/>
          <p:nvPr/>
        </p:nvSpPr>
        <p:spPr>
          <a:xfrm>
            <a:off x="8293608" y="1572768"/>
            <a:ext cx="457200" cy="201168"/>
          </a:xfrm>
          <a:prstGeom prst="rect">
            <a:avLst/>
          </a:prstGeom>
          <a:solidFill>
            <a:srgbClr val="B91C1C"/>
          </a:solidFill>
          <a:ln w="3175">
            <a:solidFill>
              <a:srgbClr val="E5E7EB"/>
            </a:solidFill>
            <a:prstDash val="solid"/>
          </a:ln>
        </p:spPr>
        <p:txBody>
          <a:bodyPr/>
          <a:lstStyle/>
          <a:p>
            <a:endParaRPr lang="en-US"/>
          </a:p>
        </p:txBody>
      </p:sp>
      <p:sp>
        <p:nvSpPr>
          <p:cNvPr id="137" name="Text 135"/>
          <p:cNvSpPr/>
          <p:nvPr/>
        </p:nvSpPr>
        <p:spPr>
          <a:xfrm>
            <a:off x="8293608" y="1572768"/>
            <a:ext cx="457200" cy="201168"/>
          </a:xfrm>
          <a:prstGeom prst="rect">
            <a:avLst/>
          </a:prstGeom>
          <a:noFill/>
          <a:ln/>
        </p:spPr>
        <p:txBody>
          <a:bodyPr wrap="square" lIns="0" tIns="0" rIns="0" bIns="0" rtlCol="0" anchor="ctr"/>
          <a:lstStyle/>
          <a:p>
            <a:pPr marL="0" indent="0" algn="ctr">
              <a:buNone/>
            </a:pPr>
            <a:r>
              <a:rPr lang="en-US" sz="600" b="1" dirty="0">
                <a:solidFill>
                  <a:srgbClr val="FFFFFF"/>
                </a:solidFill>
                <a:latin typeface="Trebuchet MS" pitchFamily="34" charset="0"/>
                <a:ea typeface="Trebuchet MS" pitchFamily="34" charset="-122"/>
                <a:cs typeface="Trebuchet MS" pitchFamily="34" charset="-120"/>
              </a:rPr>
              <a:t>6</a:t>
            </a:r>
            <a:endParaRPr lang="en-US" sz="600" dirty="0"/>
          </a:p>
        </p:txBody>
      </p:sp>
      <p:sp>
        <p:nvSpPr>
          <p:cNvPr id="138" name="Text 136"/>
          <p:cNvSpPr/>
          <p:nvPr/>
        </p:nvSpPr>
        <p:spPr>
          <a:xfrm>
            <a:off x="6428232" y="1773936"/>
            <a:ext cx="475488" cy="201168"/>
          </a:xfrm>
          <a:prstGeom prst="rect">
            <a:avLst/>
          </a:prstGeom>
          <a:noFill/>
          <a:ln/>
        </p:spPr>
        <p:txBody>
          <a:bodyPr wrap="square" lIns="0" tIns="0" rIns="0" bIns="0" rtlCol="0" anchor="ctr"/>
          <a:lstStyle/>
          <a:p>
            <a:pPr marL="0" indent="0">
              <a:buNone/>
            </a:pPr>
            <a:r>
              <a:rPr lang="en-US" sz="500" b="1" dirty="0">
                <a:solidFill>
                  <a:srgbClr val="374151"/>
                </a:solidFill>
                <a:latin typeface="Calibri" pitchFamily="34" charset="0"/>
                <a:ea typeface="Calibri" pitchFamily="34" charset="-122"/>
                <a:cs typeface="Calibri" pitchFamily="34" charset="-120"/>
              </a:rPr>
              <a:t>South</a:t>
            </a:r>
            <a:endParaRPr lang="en-US" sz="500" dirty="0"/>
          </a:p>
        </p:txBody>
      </p:sp>
      <p:sp>
        <p:nvSpPr>
          <p:cNvPr id="139" name="Shape 137"/>
          <p:cNvSpPr/>
          <p:nvPr/>
        </p:nvSpPr>
        <p:spPr>
          <a:xfrm>
            <a:off x="6922008" y="1773936"/>
            <a:ext cx="457200" cy="201168"/>
          </a:xfrm>
          <a:prstGeom prst="rect">
            <a:avLst/>
          </a:prstGeom>
          <a:solidFill>
            <a:srgbClr val="BBF7D0"/>
          </a:solidFill>
          <a:ln w="3175">
            <a:solidFill>
              <a:srgbClr val="E5E7EB"/>
            </a:solidFill>
            <a:prstDash val="solid"/>
          </a:ln>
        </p:spPr>
        <p:txBody>
          <a:bodyPr/>
          <a:lstStyle/>
          <a:p>
            <a:endParaRPr lang="en-US"/>
          </a:p>
        </p:txBody>
      </p:sp>
      <p:sp>
        <p:nvSpPr>
          <p:cNvPr id="140" name="Text 138"/>
          <p:cNvSpPr/>
          <p:nvPr/>
        </p:nvSpPr>
        <p:spPr>
          <a:xfrm>
            <a:off x="6922008" y="1773936"/>
            <a:ext cx="457200" cy="201168"/>
          </a:xfrm>
          <a:prstGeom prst="rect">
            <a:avLst/>
          </a:prstGeom>
          <a:noFill/>
          <a:ln/>
        </p:spPr>
        <p:txBody>
          <a:bodyPr wrap="square" lIns="0" tIns="0" rIns="0" bIns="0" rtlCol="0" anchor="ctr"/>
          <a:lstStyle/>
          <a:p>
            <a:pPr marL="0" indent="0" algn="ctr">
              <a:buNone/>
            </a:pPr>
            <a:r>
              <a:rPr lang="en-US" sz="600" b="1" dirty="0">
                <a:solidFill>
                  <a:srgbClr val="374151"/>
                </a:solidFill>
                <a:latin typeface="Trebuchet MS" pitchFamily="34" charset="0"/>
                <a:ea typeface="Trebuchet MS" pitchFamily="34" charset="-122"/>
                <a:cs typeface="Trebuchet MS" pitchFamily="34" charset="-120"/>
              </a:rPr>
              <a:t>18</a:t>
            </a:r>
            <a:endParaRPr lang="en-US" sz="600" dirty="0"/>
          </a:p>
        </p:txBody>
      </p:sp>
      <p:sp>
        <p:nvSpPr>
          <p:cNvPr id="141" name="Shape 139"/>
          <p:cNvSpPr/>
          <p:nvPr/>
        </p:nvSpPr>
        <p:spPr>
          <a:xfrm>
            <a:off x="7379208" y="1773936"/>
            <a:ext cx="457200" cy="201168"/>
          </a:xfrm>
          <a:prstGeom prst="rect">
            <a:avLst/>
          </a:prstGeom>
          <a:solidFill>
            <a:srgbClr val="FEF9C3"/>
          </a:solidFill>
          <a:ln w="3175">
            <a:solidFill>
              <a:srgbClr val="E5E7EB"/>
            </a:solidFill>
            <a:prstDash val="solid"/>
          </a:ln>
        </p:spPr>
        <p:txBody>
          <a:bodyPr/>
          <a:lstStyle/>
          <a:p>
            <a:endParaRPr lang="en-US"/>
          </a:p>
        </p:txBody>
      </p:sp>
      <p:sp>
        <p:nvSpPr>
          <p:cNvPr id="142" name="Text 140"/>
          <p:cNvSpPr/>
          <p:nvPr/>
        </p:nvSpPr>
        <p:spPr>
          <a:xfrm>
            <a:off x="7379208" y="1773936"/>
            <a:ext cx="457200" cy="201168"/>
          </a:xfrm>
          <a:prstGeom prst="rect">
            <a:avLst/>
          </a:prstGeom>
          <a:noFill/>
          <a:ln/>
        </p:spPr>
        <p:txBody>
          <a:bodyPr wrap="square" lIns="0" tIns="0" rIns="0" bIns="0" rtlCol="0" anchor="ctr"/>
          <a:lstStyle/>
          <a:p>
            <a:pPr marL="0" indent="0" algn="ctr">
              <a:buNone/>
            </a:pPr>
            <a:r>
              <a:rPr lang="en-US" sz="600" b="1" dirty="0">
                <a:solidFill>
                  <a:srgbClr val="374151"/>
                </a:solidFill>
                <a:latin typeface="Trebuchet MS" pitchFamily="34" charset="0"/>
                <a:ea typeface="Trebuchet MS" pitchFamily="34" charset="-122"/>
                <a:cs typeface="Trebuchet MS" pitchFamily="34" charset="-120"/>
              </a:rPr>
              <a:t>6</a:t>
            </a:r>
            <a:endParaRPr lang="en-US" sz="600" dirty="0"/>
          </a:p>
        </p:txBody>
      </p:sp>
      <p:sp>
        <p:nvSpPr>
          <p:cNvPr id="143" name="Shape 141"/>
          <p:cNvSpPr/>
          <p:nvPr/>
        </p:nvSpPr>
        <p:spPr>
          <a:xfrm>
            <a:off x="7836408" y="1773936"/>
            <a:ext cx="457200" cy="201168"/>
          </a:xfrm>
          <a:prstGeom prst="rect">
            <a:avLst/>
          </a:prstGeom>
          <a:solidFill>
            <a:srgbClr val="FED7AA"/>
          </a:solidFill>
          <a:ln w="3175">
            <a:solidFill>
              <a:srgbClr val="E5E7EB"/>
            </a:solidFill>
            <a:prstDash val="solid"/>
          </a:ln>
        </p:spPr>
        <p:txBody>
          <a:bodyPr/>
          <a:lstStyle/>
          <a:p>
            <a:endParaRPr lang="en-US"/>
          </a:p>
        </p:txBody>
      </p:sp>
      <p:sp>
        <p:nvSpPr>
          <p:cNvPr id="144" name="Text 142"/>
          <p:cNvSpPr/>
          <p:nvPr/>
        </p:nvSpPr>
        <p:spPr>
          <a:xfrm>
            <a:off x="7836408" y="1773936"/>
            <a:ext cx="457200" cy="201168"/>
          </a:xfrm>
          <a:prstGeom prst="rect">
            <a:avLst/>
          </a:prstGeom>
          <a:noFill/>
          <a:ln/>
        </p:spPr>
        <p:txBody>
          <a:bodyPr wrap="square" lIns="0" tIns="0" rIns="0" bIns="0" rtlCol="0" anchor="ctr"/>
          <a:lstStyle/>
          <a:p>
            <a:pPr marL="0" indent="0" algn="ctr">
              <a:buNone/>
            </a:pPr>
            <a:r>
              <a:rPr lang="en-US" sz="600" b="1" dirty="0">
                <a:solidFill>
                  <a:srgbClr val="374151"/>
                </a:solidFill>
                <a:latin typeface="Trebuchet MS" pitchFamily="34" charset="0"/>
                <a:ea typeface="Trebuchet MS" pitchFamily="34" charset="-122"/>
                <a:cs typeface="Trebuchet MS" pitchFamily="34" charset="-120"/>
              </a:rPr>
              <a:t>4</a:t>
            </a:r>
            <a:endParaRPr lang="en-US" sz="600" dirty="0"/>
          </a:p>
        </p:txBody>
      </p:sp>
      <p:sp>
        <p:nvSpPr>
          <p:cNvPr id="145" name="Shape 143"/>
          <p:cNvSpPr/>
          <p:nvPr/>
        </p:nvSpPr>
        <p:spPr>
          <a:xfrm>
            <a:off x="8293608" y="1773936"/>
            <a:ext cx="457200" cy="201168"/>
          </a:xfrm>
          <a:prstGeom prst="rect">
            <a:avLst/>
          </a:prstGeom>
          <a:solidFill>
            <a:srgbClr val="FECACA"/>
          </a:solidFill>
          <a:ln w="3175">
            <a:solidFill>
              <a:srgbClr val="E5E7EB"/>
            </a:solidFill>
            <a:prstDash val="solid"/>
          </a:ln>
        </p:spPr>
        <p:txBody>
          <a:bodyPr/>
          <a:lstStyle/>
          <a:p>
            <a:endParaRPr lang="en-US"/>
          </a:p>
        </p:txBody>
      </p:sp>
      <p:sp>
        <p:nvSpPr>
          <p:cNvPr id="146" name="Text 144"/>
          <p:cNvSpPr/>
          <p:nvPr/>
        </p:nvSpPr>
        <p:spPr>
          <a:xfrm>
            <a:off x="8293608" y="1773936"/>
            <a:ext cx="457200" cy="201168"/>
          </a:xfrm>
          <a:prstGeom prst="rect">
            <a:avLst/>
          </a:prstGeom>
          <a:noFill/>
          <a:ln/>
        </p:spPr>
        <p:txBody>
          <a:bodyPr wrap="square" lIns="0" tIns="0" rIns="0" bIns="0" rtlCol="0" anchor="ctr"/>
          <a:lstStyle/>
          <a:p>
            <a:pPr marL="0" indent="0" algn="ctr">
              <a:buNone/>
            </a:pPr>
            <a:r>
              <a:rPr lang="en-US" sz="600" b="1" dirty="0">
                <a:solidFill>
                  <a:srgbClr val="374151"/>
                </a:solidFill>
                <a:latin typeface="Trebuchet MS" pitchFamily="34" charset="0"/>
                <a:ea typeface="Trebuchet MS" pitchFamily="34" charset="-122"/>
                <a:cs typeface="Trebuchet MS" pitchFamily="34" charset="-120"/>
              </a:rPr>
              <a:t>2</a:t>
            </a:r>
            <a:endParaRPr lang="en-US" sz="600" dirty="0"/>
          </a:p>
        </p:txBody>
      </p:sp>
      <p:sp>
        <p:nvSpPr>
          <p:cNvPr id="147" name="Text 145"/>
          <p:cNvSpPr/>
          <p:nvPr/>
        </p:nvSpPr>
        <p:spPr>
          <a:xfrm>
            <a:off x="6428232" y="1975104"/>
            <a:ext cx="475488" cy="201168"/>
          </a:xfrm>
          <a:prstGeom prst="rect">
            <a:avLst/>
          </a:prstGeom>
          <a:noFill/>
          <a:ln/>
        </p:spPr>
        <p:txBody>
          <a:bodyPr wrap="square" lIns="0" tIns="0" rIns="0" bIns="0" rtlCol="0" anchor="ctr"/>
          <a:lstStyle/>
          <a:p>
            <a:pPr marL="0" indent="0">
              <a:buNone/>
            </a:pPr>
            <a:r>
              <a:rPr lang="en-US" sz="500" b="1" dirty="0">
                <a:solidFill>
                  <a:srgbClr val="374151"/>
                </a:solidFill>
                <a:latin typeface="Calibri" pitchFamily="34" charset="0"/>
                <a:ea typeface="Calibri" pitchFamily="34" charset="-122"/>
                <a:cs typeface="Calibri" pitchFamily="34" charset="-120"/>
              </a:rPr>
              <a:t>East</a:t>
            </a:r>
            <a:endParaRPr lang="en-US" sz="500" dirty="0"/>
          </a:p>
        </p:txBody>
      </p:sp>
      <p:sp>
        <p:nvSpPr>
          <p:cNvPr id="148" name="Shape 146"/>
          <p:cNvSpPr/>
          <p:nvPr/>
        </p:nvSpPr>
        <p:spPr>
          <a:xfrm>
            <a:off x="6922008" y="1975104"/>
            <a:ext cx="457200" cy="201168"/>
          </a:xfrm>
          <a:prstGeom prst="rect">
            <a:avLst/>
          </a:prstGeom>
          <a:solidFill>
            <a:srgbClr val="FEF9C3"/>
          </a:solidFill>
          <a:ln w="3175">
            <a:solidFill>
              <a:srgbClr val="E5E7EB"/>
            </a:solidFill>
            <a:prstDash val="solid"/>
          </a:ln>
        </p:spPr>
        <p:txBody>
          <a:bodyPr/>
          <a:lstStyle/>
          <a:p>
            <a:endParaRPr lang="en-US"/>
          </a:p>
        </p:txBody>
      </p:sp>
      <p:sp>
        <p:nvSpPr>
          <p:cNvPr id="149" name="Text 147"/>
          <p:cNvSpPr/>
          <p:nvPr/>
        </p:nvSpPr>
        <p:spPr>
          <a:xfrm>
            <a:off x="6922008" y="1975104"/>
            <a:ext cx="457200" cy="201168"/>
          </a:xfrm>
          <a:prstGeom prst="rect">
            <a:avLst/>
          </a:prstGeom>
          <a:noFill/>
          <a:ln/>
        </p:spPr>
        <p:txBody>
          <a:bodyPr wrap="square" lIns="0" tIns="0" rIns="0" bIns="0" rtlCol="0" anchor="ctr"/>
          <a:lstStyle/>
          <a:p>
            <a:pPr marL="0" indent="0" algn="ctr">
              <a:buNone/>
            </a:pPr>
            <a:r>
              <a:rPr lang="en-US" sz="600" b="1" dirty="0">
                <a:solidFill>
                  <a:srgbClr val="374151"/>
                </a:solidFill>
                <a:latin typeface="Trebuchet MS" pitchFamily="34" charset="0"/>
                <a:ea typeface="Trebuchet MS" pitchFamily="34" charset="-122"/>
                <a:cs typeface="Trebuchet MS" pitchFamily="34" charset="-120"/>
              </a:rPr>
              <a:t>6</a:t>
            </a:r>
            <a:endParaRPr lang="en-US" sz="600" dirty="0"/>
          </a:p>
        </p:txBody>
      </p:sp>
      <p:sp>
        <p:nvSpPr>
          <p:cNvPr id="150" name="Shape 148"/>
          <p:cNvSpPr/>
          <p:nvPr/>
        </p:nvSpPr>
        <p:spPr>
          <a:xfrm>
            <a:off x="7379208" y="1975104"/>
            <a:ext cx="457200" cy="201168"/>
          </a:xfrm>
          <a:prstGeom prst="rect">
            <a:avLst/>
          </a:prstGeom>
          <a:solidFill>
            <a:srgbClr val="FEF3C7"/>
          </a:solidFill>
          <a:ln w="3175">
            <a:solidFill>
              <a:srgbClr val="E5E7EB"/>
            </a:solidFill>
            <a:prstDash val="solid"/>
          </a:ln>
        </p:spPr>
        <p:txBody>
          <a:bodyPr/>
          <a:lstStyle/>
          <a:p>
            <a:endParaRPr lang="en-US"/>
          </a:p>
        </p:txBody>
      </p:sp>
      <p:sp>
        <p:nvSpPr>
          <p:cNvPr id="151" name="Text 149"/>
          <p:cNvSpPr/>
          <p:nvPr/>
        </p:nvSpPr>
        <p:spPr>
          <a:xfrm>
            <a:off x="7379208" y="1975104"/>
            <a:ext cx="457200" cy="201168"/>
          </a:xfrm>
          <a:prstGeom prst="rect">
            <a:avLst/>
          </a:prstGeom>
          <a:noFill/>
          <a:ln/>
        </p:spPr>
        <p:txBody>
          <a:bodyPr wrap="square" lIns="0" tIns="0" rIns="0" bIns="0" rtlCol="0" anchor="ctr"/>
          <a:lstStyle/>
          <a:p>
            <a:pPr marL="0" indent="0" algn="ctr">
              <a:buNone/>
            </a:pPr>
            <a:r>
              <a:rPr lang="en-US" sz="600" b="1" dirty="0">
                <a:solidFill>
                  <a:srgbClr val="374151"/>
                </a:solidFill>
                <a:latin typeface="Trebuchet MS" pitchFamily="34" charset="0"/>
                <a:ea typeface="Trebuchet MS" pitchFamily="34" charset="-122"/>
                <a:cs typeface="Trebuchet MS" pitchFamily="34" charset="-120"/>
              </a:rPr>
              <a:t>5</a:t>
            </a:r>
            <a:endParaRPr lang="en-US" sz="600" dirty="0"/>
          </a:p>
        </p:txBody>
      </p:sp>
      <p:sp>
        <p:nvSpPr>
          <p:cNvPr id="152" name="Shape 150"/>
          <p:cNvSpPr/>
          <p:nvPr/>
        </p:nvSpPr>
        <p:spPr>
          <a:xfrm>
            <a:off x="7836408" y="1975104"/>
            <a:ext cx="457200" cy="201168"/>
          </a:xfrm>
          <a:prstGeom prst="rect">
            <a:avLst/>
          </a:prstGeom>
          <a:solidFill>
            <a:srgbClr val="FECACA"/>
          </a:solidFill>
          <a:ln w="3175">
            <a:solidFill>
              <a:srgbClr val="E5E7EB"/>
            </a:solidFill>
            <a:prstDash val="solid"/>
          </a:ln>
        </p:spPr>
        <p:txBody>
          <a:bodyPr/>
          <a:lstStyle/>
          <a:p>
            <a:endParaRPr lang="en-US"/>
          </a:p>
        </p:txBody>
      </p:sp>
      <p:sp>
        <p:nvSpPr>
          <p:cNvPr id="153" name="Text 151"/>
          <p:cNvSpPr/>
          <p:nvPr/>
        </p:nvSpPr>
        <p:spPr>
          <a:xfrm>
            <a:off x="7836408" y="1975104"/>
            <a:ext cx="457200" cy="201168"/>
          </a:xfrm>
          <a:prstGeom prst="rect">
            <a:avLst/>
          </a:prstGeom>
          <a:noFill/>
          <a:ln/>
        </p:spPr>
        <p:txBody>
          <a:bodyPr wrap="square" lIns="0" tIns="0" rIns="0" bIns="0" rtlCol="0" anchor="ctr"/>
          <a:lstStyle/>
          <a:p>
            <a:pPr marL="0" indent="0" algn="ctr">
              <a:buNone/>
            </a:pPr>
            <a:r>
              <a:rPr lang="en-US" sz="600" b="1" dirty="0">
                <a:solidFill>
                  <a:srgbClr val="374151"/>
                </a:solidFill>
                <a:latin typeface="Trebuchet MS" pitchFamily="34" charset="0"/>
                <a:ea typeface="Trebuchet MS" pitchFamily="34" charset="-122"/>
                <a:cs typeface="Trebuchet MS" pitchFamily="34" charset="-120"/>
              </a:rPr>
              <a:t>6</a:t>
            </a:r>
            <a:endParaRPr lang="en-US" sz="600" dirty="0"/>
          </a:p>
        </p:txBody>
      </p:sp>
      <p:sp>
        <p:nvSpPr>
          <p:cNvPr id="154" name="Shape 152"/>
          <p:cNvSpPr/>
          <p:nvPr/>
        </p:nvSpPr>
        <p:spPr>
          <a:xfrm>
            <a:off x="8293608" y="1975104"/>
            <a:ext cx="457200" cy="201168"/>
          </a:xfrm>
          <a:prstGeom prst="rect">
            <a:avLst/>
          </a:prstGeom>
          <a:solidFill>
            <a:srgbClr val="DC2626"/>
          </a:solidFill>
          <a:ln w="3175">
            <a:solidFill>
              <a:srgbClr val="E5E7EB"/>
            </a:solidFill>
            <a:prstDash val="solid"/>
          </a:ln>
        </p:spPr>
        <p:txBody>
          <a:bodyPr/>
          <a:lstStyle/>
          <a:p>
            <a:endParaRPr lang="en-US"/>
          </a:p>
        </p:txBody>
      </p:sp>
      <p:sp>
        <p:nvSpPr>
          <p:cNvPr id="155" name="Text 153"/>
          <p:cNvSpPr/>
          <p:nvPr/>
        </p:nvSpPr>
        <p:spPr>
          <a:xfrm>
            <a:off x="8293608" y="1975104"/>
            <a:ext cx="457200" cy="201168"/>
          </a:xfrm>
          <a:prstGeom prst="rect">
            <a:avLst/>
          </a:prstGeom>
          <a:noFill/>
          <a:ln/>
        </p:spPr>
        <p:txBody>
          <a:bodyPr wrap="square" lIns="0" tIns="0" rIns="0" bIns="0" rtlCol="0" anchor="ctr"/>
          <a:lstStyle/>
          <a:p>
            <a:pPr marL="0" indent="0" algn="ctr">
              <a:buNone/>
            </a:pPr>
            <a:r>
              <a:rPr lang="en-US" sz="600" b="1" dirty="0">
                <a:solidFill>
                  <a:srgbClr val="FFFFFF"/>
                </a:solidFill>
                <a:latin typeface="Trebuchet MS" pitchFamily="34" charset="0"/>
                <a:ea typeface="Trebuchet MS" pitchFamily="34" charset="-122"/>
                <a:cs typeface="Trebuchet MS" pitchFamily="34" charset="-120"/>
              </a:rPr>
              <a:t>5</a:t>
            </a:r>
            <a:endParaRPr lang="en-US" sz="600" dirty="0"/>
          </a:p>
        </p:txBody>
      </p:sp>
      <p:sp>
        <p:nvSpPr>
          <p:cNvPr id="156" name="Text 154"/>
          <p:cNvSpPr/>
          <p:nvPr/>
        </p:nvSpPr>
        <p:spPr>
          <a:xfrm>
            <a:off x="6428232" y="2176272"/>
            <a:ext cx="475488" cy="201168"/>
          </a:xfrm>
          <a:prstGeom prst="rect">
            <a:avLst/>
          </a:prstGeom>
          <a:noFill/>
          <a:ln/>
        </p:spPr>
        <p:txBody>
          <a:bodyPr wrap="square" lIns="0" tIns="0" rIns="0" bIns="0" rtlCol="0" anchor="ctr"/>
          <a:lstStyle/>
          <a:p>
            <a:pPr marL="0" indent="0">
              <a:buNone/>
            </a:pPr>
            <a:r>
              <a:rPr lang="en-US" sz="500" b="1" dirty="0">
                <a:solidFill>
                  <a:srgbClr val="374151"/>
                </a:solidFill>
                <a:latin typeface="Calibri" pitchFamily="34" charset="0"/>
                <a:ea typeface="Calibri" pitchFamily="34" charset="-122"/>
                <a:cs typeface="Calibri" pitchFamily="34" charset="-120"/>
              </a:rPr>
              <a:t>West</a:t>
            </a:r>
            <a:endParaRPr lang="en-US" sz="500" dirty="0"/>
          </a:p>
        </p:txBody>
      </p:sp>
      <p:sp>
        <p:nvSpPr>
          <p:cNvPr id="157" name="Shape 155"/>
          <p:cNvSpPr/>
          <p:nvPr/>
        </p:nvSpPr>
        <p:spPr>
          <a:xfrm>
            <a:off x="6922008" y="2176272"/>
            <a:ext cx="457200" cy="201168"/>
          </a:xfrm>
          <a:prstGeom prst="rect">
            <a:avLst/>
          </a:prstGeom>
          <a:solidFill>
            <a:srgbClr val="BBF7D0"/>
          </a:solidFill>
          <a:ln w="3175">
            <a:solidFill>
              <a:srgbClr val="E5E7EB"/>
            </a:solidFill>
            <a:prstDash val="solid"/>
          </a:ln>
        </p:spPr>
        <p:txBody>
          <a:bodyPr/>
          <a:lstStyle/>
          <a:p>
            <a:endParaRPr lang="en-US"/>
          </a:p>
        </p:txBody>
      </p:sp>
      <p:sp>
        <p:nvSpPr>
          <p:cNvPr id="158" name="Text 156"/>
          <p:cNvSpPr/>
          <p:nvPr/>
        </p:nvSpPr>
        <p:spPr>
          <a:xfrm>
            <a:off x="6922008" y="2176272"/>
            <a:ext cx="457200" cy="201168"/>
          </a:xfrm>
          <a:prstGeom prst="rect">
            <a:avLst/>
          </a:prstGeom>
          <a:noFill/>
          <a:ln/>
        </p:spPr>
        <p:txBody>
          <a:bodyPr wrap="square" lIns="0" tIns="0" rIns="0" bIns="0" rtlCol="0" anchor="ctr"/>
          <a:lstStyle/>
          <a:p>
            <a:pPr marL="0" indent="0" algn="ctr">
              <a:buNone/>
            </a:pPr>
            <a:r>
              <a:rPr lang="en-US" sz="600" b="1" dirty="0">
                <a:solidFill>
                  <a:srgbClr val="374151"/>
                </a:solidFill>
                <a:latin typeface="Trebuchet MS" pitchFamily="34" charset="0"/>
                <a:ea typeface="Trebuchet MS" pitchFamily="34" charset="-122"/>
                <a:cs typeface="Trebuchet MS" pitchFamily="34" charset="-120"/>
              </a:rPr>
              <a:t>14</a:t>
            </a:r>
            <a:endParaRPr lang="en-US" sz="600" dirty="0"/>
          </a:p>
        </p:txBody>
      </p:sp>
      <p:sp>
        <p:nvSpPr>
          <p:cNvPr id="159" name="Shape 157"/>
          <p:cNvSpPr/>
          <p:nvPr/>
        </p:nvSpPr>
        <p:spPr>
          <a:xfrm>
            <a:off x="7379208" y="2176272"/>
            <a:ext cx="457200" cy="201168"/>
          </a:xfrm>
          <a:prstGeom prst="rect">
            <a:avLst/>
          </a:prstGeom>
          <a:solidFill>
            <a:srgbClr val="FEF9C3"/>
          </a:solidFill>
          <a:ln w="3175">
            <a:solidFill>
              <a:srgbClr val="E5E7EB"/>
            </a:solidFill>
            <a:prstDash val="solid"/>
          </a:ln>
        </p:spPr>
        <p:txBody>
          <a:bodyPr/>
          <a:lstStyle/>
          <a:p>
            <a:endParaRPr lang="en-US"/>
          </a:p>
        </p:txBody>
      </p:sp>
      <p:sp>
        <p:nvSpPr>
          <p:cNvPr id="160" name="Text 158"/>
          <p:cNvSpPr/>
          <p:nvPr/>
        </p:nvSpPr>
        <p:spPr>
          <a:xfrm>
            <a:off x="7379208" y="2176272"/>
            <a:ext cx="457200" cy="201168"/>
          </a:xfrm>
          <a:prstGeom prst="rect">
            <a:avLst/>
          </a:prstGeom>
          <a:noFill/>
          <a:ln/>
        </p:spPr>
        <p:txBody>
          <a:bodyPr wrap="square" lIns="0" tIns="0" rIns="0" bIns="0" rtlCol="0" anchor="ctr"/>
          <a:lstStyle/>
          <a:p>
            <a:pPr marL="0" indent="0" algn="ctr">
              <a:buNone/>
            </a:pPr>
            <a:r>
              <a:rPr lang="en-US" sz="600" b="1" dirty="0">
                <a:solidFill>
                  <a:srgbClr val="374151"/>
                </a:solidFill>
                <a:latin typeface="Trebuchet MS" pitchFamily="34" charset="0"/>
                <a:ea typeface="Trebuchet MS" pitchFamily="34" charset="-122"/>
                <a:cs typeface="Trebuchet MS" pitchFamily="34" charset="-120"/>
              </a:rPr>
              <a:t>7</a:t>
            </a:r>
            <a:endParaRPr lang="en-US" sz="600" dirty="0"/>
          </a:p>
        </p:txBody>
      </p:sp>
      <p:sp>
        <p:nvSpPr>
          <p:cNvPr id="161" name="Shape 159"/>
          <p:cNvSpPr/>
          <p:nvPr/>
        </p:nvSpPr>
        <p:spPr>
          <a:xfrm>
            <a:off x="7836408" y="2176272"/>
            <a:ext cx="457200" cy="201168"/>
          </a:xfrm>
          <a:prstGeom prst="rect">
            <a:avLst/>
          </a:prstGeom>
          <a:solidFill>
            <a:srgbClr val="FED7AA"/>
          </a:solidFill>
          <a:ln w="3175">
            <a:solidFill>
              <a:srgbClr val="E5E7EB"/>
            </a:solidFill>
            <a:prstDash val="solid"/>
          </a:ln>
        </p:spPr>
        <p:txBody>
          <a:bodyPr/>
          <a:lstStyle/>
          <a:p>
            <a:endParaRPr lang="en-US"/>
          </a:p>
        </p:txBody>
      </p:sp>
      <p:sp>
        <p:nvSpPr>
          <p:cNvPr id="162" name="Text 160"/>
          <p:cNvSpPr/>
          <p:nvPr/>
        </p:nvSpPr>
        <p:spPr>
          <a:xfrm>
            <a:off x="7836408" y="2176272"/>
            <a:ext cx="457200" cy="201168"/>
          </a:xfrm>
          <a:prstGeom prst="rect">
            <a:avLst/>
          </a:prstGeom>
          <a:noFill/>
          <a:ln/>
        </p:spPr>
        <p:txBody>
          <a:bodyPr wrap="square" lIns="0" tIns="0" rIns="0" bIns="0" rtlCol="0" anchor="ctr"/>
          <a:lstStyle/>
          <a:p>
            <a:pPr marL="0" indent="0" algn="ctr">
              <a:buNone/>
            </a:pPr>
            <a:r>
              <a:rPr lang="en-US" sz="600" b="1" dirty="0">
                <a:solidFill>
                  <a:srgbClr val="374151"/>
                </a:solidFill>
                <a:latin typeface="Trebuchet MS" pitchFamily="34" charset="0"/>
                <a:ea typeface="Trebuchet MS" pitchFamily="34" charset="-122"/>
                <a:cs typeface="Trebuchet MS" pitchFamily="34" charset="-120"/>
              </a:rPr>
              <a:t>4</a:t>
            </a:r>
            <a:endParaRPr lang="en-US" sz="600" dirty="0"/>
          </a:p>
        </p:txBody>
      </p:sp>
      <p:sp>
        <p:nvSpPr>
          <p:cNvPr id="163" name="Shape 161"/>
          <p:cNvSpPr/>
          <p:nvPr/>
        </p:nvSpPr>
        <p:spPr>
          <a:xfrm>
            <a:off x="8293608" y="2176272"/>
            <a:ext cx="457200" cy="201168"/>
          </a:xfrm>
          <a:prstGeom prst="rect">
            <a:avLst/>
          </a:prstGeom>
          <a:solidFill>
            <a:srgbClr val="EF4444"/>
          </a:solidFill>
          <a:ln w="3175">
            <a:solidFill>
              <a:srgbClr val="E5E7EB"/>
            </a:solidFill>
            <a:prstDash val="solid"/>
          </a:ln>
        </p:spPr>
        <p:txBody>
          <a:bodyPr/>
          <a:lstStyle/>
          <a:p>
            <a:endParaRPr lang="en-US"/>
          </a:p>
        </p:txBody>
      </p:sp>
      <p:sp>
        <p:nvSpPr>
          <p:cNvPr id="164" name="Text 162"/>
          <p:cNvSpPr/>
          <p:nvPr/>
        </p:nvSpPr>
        <p:spPr>
          <a:xfrm>
            <a:off x="8293608" y="2176272"/>
            <a:ext cx="457200" cy="201168"/>
          </a:xfrm>
          <a:prstGeom prst="rect">
            <a:avLst/>
          </a:prstGeom>
          <a:noFill/>
          <a:ln/>
        </p:spPr>
        <p:txBody>
          <a:bodyPr wrap="square" lIns="0" tIns="0" rIns="0" bIns="0" rtlCol="0" anchor="ctr"/>
          <a:lstStyle/>
          <a:p>
            <a:pPr marL="0" indent="0" algn="ctr">
              <a:buNone/>
            </a:pPr>
            <a:r>
              <a:rPr lang="en-US" sz="600" b="1" dirty="0">
                <a:solidFill>
                  <a:srgbClr val="374151"/>
                </a:solidFill>
                <a:latin typeface="Trebuchet MS" pitchFamily="34" charset="0"/>
                <a:ea typeface="Trebuchet MS" pitchFamily="34" charset="-122"/>
                <a:cs typeface="Trebuchet MS" pitchFamily="34" charset="-120"/>
              </a:rPr>
              <a:t>3</a:t>
            </a:r>
            <a:endParaRPr lang="en-US" sz="600" dirty="0"/>
          </a:p>
        </p:txBody>
      </p:sp>
      <p:sp>
        <p:nvSpPr>
          <p:cNvPr id="165" name="Text 163"/>
          <p:cNvSpPr/>
          <p:nvPr/>
        </p:nvSpPr>
        <p:spPr>
          <a:xfrm>
            <a:off x="6428232" y="2377440"/>
            <a:ext cx="475488" cy="201168"/>
          </a:xfrm>
          <a:prstGeom prst="rect">
            <a:avLst/>
          </a:prstGeom>
          <a:noFill/>
          <a:ln/>
        </p:spPr>
        <p:txBody>
          <a:bodyPr wrap="square" lIns="0" tIns="0" rIns="0" bIns="0" rtlCol="0" anchor="ctr"/>
          <a:lstStyle/>
          <a:p>
            <a:pPr marL="0" indent="0">
              <a:buNone/>
            </a:pPr>
            <a:r>
              <a:rPr lang="en-US" sz="500" b="1" dirty="0">
                <a:solidFill>
                  <a:srgbClr val="374151"/>
                </a:solidFill>
                <a:latin typeface="Calibri" pitchFamily="34" charset="0"/>
                <a:ea typeface="Calibri" pitchFamily="34" charset="-122"/>
                <a:cs typeface="Calibri" pitchFamily="34" charset="-120"/>
              </a:rPr>
              <a:t>Central</a:t>
            </a:r>
            <a:endParaRPr lang="en-US" sz="500" dirty="0"/>
          </a:p>
        </p:txBody>
      </p:sp>
      <p:sp>
        <p:nvSpPr>
          <p:cNvPr id="166" name="Shape 164"/>
          <p:cNvSpPr/>
          <p:nvPr/>
        </p:nvSpPr>
        <p:spPr>
          <a:xfrm>
            <a:off x="6922008" y="2377440"/>
            <a:ext cx="457200" cy="201168"/>
          </a:xfrm>
          <a:prstGeom prst="rect">
            <a:avLst/>
          </a:prstGeom>
          <a:solidFill>
            <a:srgbClr val="FEF9C3"/>
          </a:solidFill>
          <a:ln w="3175">
            <a:solidFill>
              <a:srgbClr val="E5E7EB"/>
            </a:solidFill>
            <a:prstDash val="solid"/>
          </a:ln>
        </p:spPr>
        <p:txBody>
          <a:bodyPr/>
          <a:lstStyle/>
          <a:p>
            <a:endParaRPr lang="en-US"/>
          </a:p>
        </p:txBody>
      </p:sp>
      <p:sp>
        <p:nvSpPr>
          <p:cNvPr id="167" name="Text 165"/>
          <p:cNvSpPr/>
          <p:nvPr/>
        </p:nvSpPr>
        <p:spPr>
          <a:xfrm>
            <a:off x="6922008" y="2377440"/>
            <a:ext cx="457200" cy="201168"/>
          </a:xfrm>
          <a:prstGeom prst="rect">
            <a:avLst/>
          </a:prstGeom>
          <a:noFill/>
          <a:ln/>
        </p:spPr>
        <p:txBody>
          <a:bodyPr wrap="square" lIns="0" tIns="0" rIns="0" bIns="0" rtlCol="0" anchor="ctr"/>
          <a:lstStyle/>
          <a:p>
            <a:pPr marL="0" indent="0" algn="ctr">
              <a:buNone/>
            </a:pPr>
            <a:r>
              <a:rPr lang="en-US" sz="600" b="1" dirty="0">
                <a:solidFill>
                  <a:srgbClr val="374151"/>
                </a:solidFill>
                <a:latin typeface="Trebuchet MS" pitchFamily="34" charset="0"/>
                <a:ea typeface="Trebuchet MS" pitchFamily="34" charset="-122"/>
                <a:cs typeface="Trebuchet MS" pitchFamily="34" charset="-120"/>
              </a:rPr>
              <a:t>5</a:t>
            </a:r>
            <a:endParaRPr lang="en-US" sz="600" dirty="0"/>
          </a:p>
        </p:txBody>
      </p:sp>
      <p:sp>
        <p:nvSpPr>
          <p:cNvPr id="168" name="Shape 166"/>
          <p:cNvSpPr/>
          <p:nvPr/>
        </p:nvSpPr>
        <p:spPr>
          <a:xfrm>
            <a:off x="7379208" y="2377440"/>
            <a:ext cx="457200" cy="201168"/>
          </a:xfrm>
          <a:prstGeom prst="rect">
            <a:avLst/>
          </a:prstGeom>
          <a:solidFill>
            <a:srgbClr val="FEF3C7"/>
          </a:solidFill>
          <a:ln w="3175">
            <a:solidFill>
              <a:srgbClr val="E5E7EB"/>
            </a:solidFill>
            <a:prstDash val="solid"/>
          </a:ln>
        </p:spPr>
        <p:txBody>
          <a:bodyPr/>
          <a:lstStyle/>
          <a:p>
            <a:endParaRPr lang="en-US"/>
          </a:p>
        </p:txBody>
      </p:sp>
      <p:sp>
        <p:nvSpPr>
          <p:cNvPr id="169" name="Text 167"/>
          <p:cNvSpPr/>
          <p:nvPr/>
        </p:nvSpPr>
        <p:spPr>
          <a:xfrm>
            <a:off x="7379208" y="2377440"/>
            <a:ext cx="457200" cy="201168"/>
          </a:xfrm>
          <a:prstGeom prst="rect">
            <a:avLst/>
          </a:prstGeom>
          <a:noFill/>
          <a:ln/>
        </p:spPr>
        <p:txBody>
          <a:bodyPr wrap="square" lIns="0" tIns="0" rIns="0" bIns="0" rtlCol="0" anchor="ctr"/>
          <a:lstStyle/>
          <a:p>
            <a:pPr marL="0" indent="0" algn="ctr">
              <a:buNone/>
            </a:pPr>
            <a:r>
              <a:rPr lang="en-US" sz="600" b="1" dirty="0">
                <a:solidFill>
                  <a:srgbClr val="374151"/>
                </a:solidFill>
                <a:latin typeface="Trebuchet MS" pitchFamily="34" charset="0"/>
                <a:ea typeface="Trebuchet MS" pitchFamily="34" charset="-122"/>
                <a:cs typeface="Trebuchet MS" pitchFamily="34" charset="-120"/>
              </a:rPr>
              <a:t>4</a:t>
            </a:r>
            <a:endParaRPr lang="en-US" sz="600" dirty="0"/>
          </a:p>
        </p:txBody>
      </p:sp>
      <p:sp>
        <p:nvSpPr>
          <p:cNvPr id="170" name="Shape 168"/>
          <p:cNvSpPr/>
          <p:nvPr/>
        </p:nvSpPr>
        <p:spPr>
          <a:xfrm>
            <a:off x="7836408" y="2377440"/>
            <a:ext cx="457200" cy="201168"/>
          </a:xfrm>
          <a:prstGeom prst="rect">
            <a:avLst/>
          </a:prstGeom>
          <a:solidFill>
            <a:srgbClr val="FECACA"/>
          </a:solidFill>
          <a:ln w="3175">
            <a:solidFill>
              <a:srgbClr val="E5E7EB"/>
            </a:solidFill>
            <a:prstDash val="solid"/>
          </a:ln>
        </p:spPr>
        <p:txBody>
          <a:bodyPr/>
          <a:lstStyle/>
          <a:p>
            <a:endParaRPr lang="en-US"/>
          </a:p>
        </p:txBody>
      </p:sp>
      <p:sp>
        <p:nvSpPr>
          <p:cNvPr id="171" name="Text 169"/>
          <p:cNvSpPr/>
          <p:nvPr/>
        </p:nvSpPr>
        <p:spPr>
          <a:xfrm>
            <a:off x="7836408" y="2377440"/>
            <a:ext cx="457200" cy="201168"/>
          </a:xfrm>
          <a:prstGeom prst="rect">
            <a:avLst/>
          </a:prstGeom>
          <a:noFill/>
          <a:ln/>
        </p:spPr>
        <p:txBody>
          <a:bodyPr wrap="square" lIns="0" tIns="0" rIns="0" bIns="0" rtlCol="0" anchor="ctr"/>
          <a:lstStyle/>
          <a:p>
            <a:pPr marL="0" indent="0" algn="ctr">
              <a:buNone/>
            </a:pPr>
            <a:r>
              <a:rPr lang="en-US" sz="600" b="1" dirty="0">
                <a:solidFill>
                  <a:srgbClr val="374151"/>
                </a:solidFill>
                <a:latin typeface="Trebuchet MS" pitchFamily="34" charset="0"/>
                <a:ea typeface="Trebuchet MS" pitchFamily="34" charset="-122"/>
                <a:cs typeface="Trebuchet MS" pitchFamily="34" charset="-120"/>
              </a:rPr>
              <a:t>6</a:t>
            </a:r>
            <a:endParaRPr lang="en-US" sz="600" dirty="0"/>
          </a:p>
        </p:txBody>
      </p:sp>
      <p:sp>
        <p:nvSpPr>
          <p:cNvPr id="172" name="Shape 170"/>
          <p:cNvSpPr/>
          <p:nvPr/>
        </p:nvSpPr>
        <p:spPr>
          <a:xfrm>
            <a:off x="8293608" y="2377440"/>
            <a:ext cx="457200" cy="201168"/>
          </a:xfrm>
          <a:prstGeom prst="rect">
            <a:avLst/>
          </a:prstGeom>
          <a:solidFill>
            <a:srgbClr val="B91C1C"/>
          </a:solidFill>
          <a:ln w="3175">
            <a:solidFill>
              <a:srgbClr val="E5E7EB"/>
            </a:solidFill>
            <a:prstDash val="solid"/>
          </a:ln>
        </p:spPr>
        <p:txBody>
          <a:bodyPr/>
          <a:lstStyle/>
          <a:p>
            <a:endParaRPr lang="en-US"/>
          </a:p>
        </p:txBody>
      </p:sp>
      <p:sp>
        <p:nvSpPr>
          <p:cNvPr id="173" name="Text 171"/>
          <p:cNvSpPr/>
          <p:nvPr/>
        </p:nvSpPr>
        <p:spPr>
          <a:xfrm>
            <a:off x="8293608" y="2377440"/>
            <a:ext cx="457200" cy="201168"/>
          </a:xfrm>
          <a:prstGeom prst="rect">
            <a:avLst/>
          </a:prstGeom>
          <a:noFill/>
          <a:ln/>
        </p:spPr>
        <p:txBody>
          <a:bodyPr wrap="square" lIns="0" tIns="0" rIns="0" bIns="0" rtlCol="0" anchor="ctr"/>
          <a:lstStyle/>
          <a:p>
            <a:pPr marL="0" indent="0" algn="ctr">
              <a:buNone/>
            </a:pPr>
            <a:r>
              <a:rPr lang="en-US" sz="600" b="1" dirty="0">
                <a:solidFill>
                  <a:srgbClr val="FFFFFF"/>
                </a:solidFill>
                <a:latin typeface="Trebuchet MS" pitchFamily="34" charset="0"/>
                <a:ea typeface="Trebuchet MS" pitchFamily="34" charset="-122"/>
                <a:cs typeface="Trebuchet MS" pitchFamily="34" charset="-120"/>
              </a:rPr>
              <a:t>7</a:t>
            </a:r>
            <a:endParaRPr lang="en-US" sz="600" dirty="0"/>
          </a:p>
        </p:txBody>
      </p:sp>
      <p:sp>
        <p:nvSpPr>
          <p:cNvPr id="174" name="Shape 172"/>
          <p:cNvSpPr/>
          <p:nvPr/>
        </p:nvSpPr>
        <p:spPr>
          <a:xfrm>
            <a:off x="6601968" y="2633472"/>
            <a:ext cx="137160" cy="64008"/>
          </a:xfrm>
          <a:prstGeom prst="rect">
            <a:avLst/>
          </a:prstGeom>
          <a:solidFill>
            <a:srgbClr val="D1FAE5"/>
          </a:solidFill>
          <a:ln/>
        </p:spPr>
        <p:txBody>
          <a:bodyPr/>
          <a:lstStyle/>
          <a:p>
            <a:endParaRPr lang="en-US"/>
          </a:p>
        </p:txBody>
      </p:sp>
      <p:sp>
        <p:nvSpPr>
          <p:cNvPr id="175" name="Text 173"/>
          <p:cNvSpPr/>
          <p:nvPr/>
        </p:nvSpPr>
        <p:spPr>
          <a:xfrm>
            <a:off x="6766560" y="2615184"/>
            <a:ext cx="804672" cy="91440"/>
          </a:xfrm>
          <a:prstGeom prst="rect">
            <a:avLst/>
          </a:prstGeom>
          <a:noFill/>
          <a:ln/>
        </p:spPr>
        <p:txBody>
          <a:bodyPr wrap="square" lIns="0" tIns="0" rIns="0" bIns="0" rtlCol="0" anchor="ctr"/>
          <a:lstStyle/>
          <a:p>
            <a:pPr marL="0" indent="0">
              <a:buNone/>
            </a:pPr>
            <a:r>
              <a:rPr lang="en-US" sz="400" dirty="0">
                <a:solidFill>
                  <a:srgbClr val="6B7280"/>
                </a:solidFill>
                <a:latin typeface="Calibri" pitchFamily="34" charset="0"/>
                <a:ea typeface="Calibri" pitchFamily="34" charset="-122"/>
                <a:cs typeface="Calibri" pitchFamily="34" charset="-120"/>
              </a:rPr>
              <a:t>Recently contacted</a:t>
            </a:r>
            <a:endParaRPr lang="en-US" sz="400" dirty="0"/>
          </a:p>
        </p:txBody>
      </p:sp>
      <p:sp>
        <p:nvSpPr>
          <p:cNvPr id="176" name="Shape 174"/>
          <p:cNvSpPr/>
          <p:nvPr/>
        </p:nvSpPr>
        <p:spPr>
          <a:xfrm>
            <a:off x="7653528" y="2633472"/>
            <a:ext cx="137160" cy="64008"/>
          </a:xfrm>
          <a:prstGeom prst="rect">
            <a:avLst/>
          </a:prstGeom>
          <a:solidFill>
            <a:srgbClr val="DC2626"/>
          </a:solidFill>
          <a:ln/>
        </p:spPr>
        <p:txBody>
          <a:bodyPr/>
          <a:lstStyle/>
          <a:p>
            <a:endParaRPr lang="en-US"/>
          </a:p>
        </p:txBody>
      </p:sp>
      <p:sp>
        <p:nvSpPr>
          <p:cNvPr id="177" name="Text 175"/>
          <p:cNvSpPr/>
          <p:nvPr/>
        </p:nvSpPr>
        <p:spPr>
          <a:xfrm>
            <a:off x="7818120" y="2615184"/>
            <a:ext cx="502920" cy="91440"/>
          </a:xfrm>
          <a:prstGeom prst="rect">
            <a:avLst/>
          </a:prstGeom>
          <a:noFill/>
          <a:ln/>
        </p:spPr>
        <p:txBody>
          <a:bodyPr wrap="square" lIns="0" tIns="0" rIns="0" bIns="0" rtlCol="0" anchor="ctr"/>
          <a:lstStyle/>
          <a:p>
            <a:pPr marL="0" indent="0">
              <a:buNone/>
            </a:pPr>
            <a:r>
              <a:rPr lang="en-US" sz="400" dirty="0">
                <a:solidFill>
                  <a:srgbClr val="6B7280"/>
                </a:solidFill>
                <a:latin typeface="Calibri" pitchFamily="34" charset="0"/>
                <a:ea typeface="Calibri" pitchFamily="34" charset="-122"/>
                <a:cs typeface="Calibri" pitchFamily="34" charset="-120"/>
              </a:rPr>
              <a:t>Overdue</a:t>
            </a:r>
            <a:endParaRPr lang="en-US" sz="400" dirty="0"/>
          </a:p>
        </p:txBody>
      </p:sp>
      <p:sp>
        <p:nvSpPr>
          <p:cNvPr id="178" name="Shape 176"/>
          <p:cNvSpPr/>
          <p:nvPr/>
        </p:nvSpPr>
        <p:spPr>
          <a:xfrm>
            <a:off x="201168" y="3017520"/>
            <a:ext cx="8741664" cy="2029968"/>
          </a:xfrm>
          <a:prstGeom prst="rect">
            <a:avLst/>
          </a:prstGeom>
          <a:solidFill>
            <a:srgbClr val="FFFFFF"/>
          </a:solidFill>
          <a:ln w="6350">
            <a:solidFill>
              <a:srgbClr val="E5E7EB"/>
            </a:solidFill>
            <a:prstDash val="solid"/>
          </a:ln>
        </p:spPr>
        <p:txBody>
          <a:bodyPr/>
          <a:lstStyle/>
          <a:p>
            <a:endParaRPr lang="en-US"/>
          </a:p>
        </p:txBody>
      </p:sp>
      <p:sp>
        <p:nvSpPr>
          <p:cNvPr id="179" name="Text 177"/>
          <p:cNvSpPr/>
          <p:nvPr/>
        </p:nvSpPr>
        <p:spPr>
          <a:xfrm>
            <a:off x="292608" y="3035808"/>
            <a:ext cx="1828800" cy="118872"/>
          </a:xfrm>
          <a:prstGeom prst="rect">
            <a:avLst/>
          </a:prstGeom>
          <a:noFill/>
          <a:ln/>
        </p:spPr>
        <p:txBody>
          <a:bodyPr wrap="square" lIns="0" tIns="0" rIns="0" bIns="0" rtlCol="0" anchor="ctr"/>
          <a:lstStyle/>
          <a:p>
            <a:pPr marL="0" indent="0">
              <a:buNone/>
            </a:pPr>
            <a:r>
              <a:rPr lang="en-US" sz="700" b="1" dirty="0">
                <a:solidFill>
                  <a:srgbClr val="111827"/>
                </a:solidFill>
                <a:latin typeface="Trebuchet MS" pitchFamily="34" charset="0"/>
                <a:ea typeface="Trebuchet MS" pitchFamily="34" charset="-122"/>
                <a:cs typeface="Trebuchet MS" pitchFamily="34" charset="-120"/>
              </a:rPr>
              <a:t>Priority Action Table</a:t>
            </a:r>
            <a:endParaRPr lang="en-US" sz="700" dirty="0"/>
          </a:p>
        </p:txBody>
      </p:sp>
      <p:sp>
        <p:nvSpPr>
          <p:cNvPr id="180" name="Text 178"/>
          <p:cNvSpPr/>
          <p:nvPr/>
        </p:nvSpPr>
        <p:spPr>
          <a:xfrm>
            <a:off x="2103120" y="3035808"/>
            <a:ext cx="1371600" cy="118872"/>
          </a:xfrm>
          <a:prstGeom prst="rect">
            <a:avLst/>
          </a:prstGeom>
          <a:noFill/>
          <a:ln/>
        </p:spPr>
        <p:txBody>
          <a:bodyPr wrap="square" lIns="0" tIns="0" rIns="0" bIns="0" rtlCol="0" anchor="ctr"/>
          <a:lstStyle/>
          <a:p>
            <a:pPr marL="0" indent="0">
              <a:buNone/>
            </a:pPr>
            <a:r>
              <a:rPr lang="en-US" sz="500" dirty="0">
                <a:solidFill>
                  <a:srgbClr val="9CA3AF"/>
                </a:solidFill>
                <a:latin typeface="Calibri" pitchFamily="34" charset="0"/>
                <a:ea typeface="Calibri" pitchFamily="34" charset="-122"/>
                <a:cs typeface="Calibri" pitchFamily="34" charset="-120"/>
              </a:rPr>
              <a:t>Top 8 — sorted by risk</a:t>
            </a:r>
            <a:endParaRPr lang="en-US" sz="500" dirty="0"/>
          </a:p>
        </p:txBody>
      </p:sp>
      <p:graphicFrame>
        <p:nvGraphicFramePr>
          <p:cNvPr id="181" name="Table 0"/>
          <p:cNvGraphicFramePr>
            <a:graphicFrameLocks noGrp="1"/>
          </p:cNvGraphicFramePr>
          <p:nvPr>
            <p:extLst>
              <p:ext uri="{D42A27DB-BD31-4B8C-83A1-F6EECF244321}">
                <p14:modId xmlns:p14="http://schemas.microsoft.com/office/powerpoint/2010/main" val="2958972226"/>
              </p:ext>
            </p:extLst>
          </p:nvPr>
        </p:nvGraphicFramePr>
        <p:xfrm>
          <a:off x="292608" y="3182112"/>
          <a:ext cx="8546590" cy="1645920"/>
        </p:xfrm>
        <a:graphic>
          <a:graphicData uri="http://schemas.openxmlformats.org/drawingml/2006/table">
            <a:tbl>
              <a:tblPr/>
              <a:tblGrid>
                <a:gridCol w="733918">
                  <a:extLst>
                    <a:ext uri="{9D8B030D-6E8A-4147-A177-3AD203B41FA5}">
                      <a16:colId xmlns:a16="http://schemas.microsoft.com/office/drawing/2014/main" val="20000"/>
                    </a:ext>
                  </a:extLst>
                </a:gridCol>
                <a:gridCol w="686568">
                  <a:extLst>
                    <a:ext uri="{9D8B030D-6E8A-4147-A177-3AD203B41FA5}">
                      <a16:colId xmlns:a16="http://schemas.microsoft.com/office/drawing/2014/main" val="20001"/>
                    </a:ext>
                  </a:extLst>
                </a:gridCol>
                <a:gridCol w="615544">
                  <a:extLst>
                    <a:ext uri="{9D8B030D-6E8A-4147-A177-3AD203B41FA5}">
                      <a16:colId xmlns:a16="http://schemas.microsoft.com/office/drawing/2014/main" val="20002"/>
                    </a:ext>
                  </a:extLst>
                </a:gridCol>
                <a:gridCol w="568194">
                  <a:extLst>
                    <a:ext uri="{9D8B030D-6E8A-4147-A177-3AD203B41FA5}">
                      <a16:colId xmlns:a16="http://schemas.microsoft.com/office/drawing/2014/main" val="20003"/>
                    </a:ext>
                  </a:extLst>
                </a:gridCol>
                <a:gridCol w="568194">
                  <a:extLst>
                    <a:ext uri="{9D8B030D-6E8A-4147-A177-3AD203B41FA5}">
                      <a16:colId xmlns:a16="http://schemas.microsoft.com/office/drawing/2014/main" val="20004"/>
                    </a:ext>
                  </a:extLst>
                </a:gridCol>
                <a:gridCol w="686568">
                  <a:extLst>
                    <a:ext uri="{9D8B030D-6E8A-4147-A177-3AD203B41FA5}">
                      <a16:colId xmlns:a16="http://schemas.microsoft.com/office/drawing/2014/main" val="20005"/>
                    </a:ext>
                  </a:extLst>
                </a:gridCol>
                <a:gridCol w="568194">
                  <a:extLst>
                    <a:ext uri="{9D8B030D-6E8A-4147-A177-3AD203B41FA5}">
                      <a16:colId xmlns:a16="http://schemas.microsoft.com/office/drawing/2014/main" val="20006"/>
                    </a:ext>
                  </a:extLst>
                </a:gridCol>
                <a:gridCol w="686568">
                  <a:extLst>
                    <a:ext uri="{9D8B030D-6E8A-4147-A177-3AD203B41FA5}">
                      <a16:colId xmlns:a16="http://schemas.microsoft.com/office/drawing/2014/main" val="20007"/>
                    </a:ext>
                  </a:extLst>
                </a:gridCol>
                <a:gridCol w="3432842">
                  <a:extLst>
                    <a:ext uri="{9D8B030D-6E8A-4147-A177-3AD203B41FA5}">
                      <a16:colId xmlns:a16="http://schemas.microsoft.com/office/drawing/2014/main" val="20008"/>
                    </a:ext>
                  </a:extLst>
                </a:gridCol>
              </a:tblGrid>
              <a:tr h="182880">
                <a:tc>
                  <a:txBody>
                    <a:bodyPr/>
                    <a:lstStyle/>
                    <a:p>
                      <a:pPr marL="0" indent="0" algn="ctr">
                        <a:buNone/>
                      </a:pPr>
                      <a:r>
                        <a:rPr lang="en-US" sz="500" b="1" dirty="0">
                          <a:solidFill>
                            <a:srgbClr val="FFFFFF"/>
                          </a:solidFill>
                          <a:latin typeface="Trebuchet MS" pitchFamily="34" charset="0"/>
                          <a:ea typeface="Trebuchet MS" pitchFamily="34" charset="-122"/>
                          <a:cs typeface="Trebuchet MS" pitchFamily="34" charset="-120"/>
                        </a:rPr>
                        <a:t>Physician</a:t>
                      </a:r>
                      <a:endParaRPr lang="en-US" sz="500" dirty="0">
                        <a:latin typeface="Trebuchet MS" charset="0"/>
                        <a:ea typeface="Trebuchet MS" charset="0"/>
                        <a:cs typeface="Trebuchet MS"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1A1A2E"/>
                    </a:solidFill>
                  </a:tcPr>
                </a:tc>
                <a:tc>
                  <a:txBody>
                    <a:bodyPr/>
                    <a:lstStyle/>
                    <a:p>
                      <a:pPr marL="0" indent="0" algn="ctr">
                        <a:buNone/>
                      </a:pPr>
                      <a:r>
                        <a:rPr lang="en-US" sz="500" b="1" dirty="0">
                          <a:solidFill>
                            <a:srgbClr val="FFFFFF"/>
                          </a:solidFill>
                          <a:latin typeface="Trebuchet MS" pitchFamily="34" charset="0"/>
                          <a:ea typeface="Trebuchet MS" pitchFamily="34" charset="-122"/>
                          <a:cs typeface="Trebuchet MS" pitchFamily="34" charset="-120"/>
                        </a:rPr>
                        <a:t>Region</a:t>
                      </a:r>
                      <a:endParaRPr lang="en-US" sz="500" dirty="0">
                        <a:latin typeface="Trebuchet MS" charset="0"/>
                        <a:ea typeface="Trebuchet MS" charset="0"/>
                        <a:cs typeface="Trebuchet MS"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1A1A2E"/>
                    </a:solidFill>
                  </a:tcPr>
                </a:tc>
                <a:tc>
                  <a:txBody>
                    <a:bodyPr/>
                    <a:lstStyle/>
                    <a:p>
                      <a:pPr marL="0" indent="0" algn="ctr">
                        <a:buNone/>
                      </a:pPr>
                      <a:r>
                        <a:rPr lang="en-US" sz="500" b="1" dirty="0">
                          <a:solidFill>
                            <a:srgbClr val="FFFFFF"/>
                          </a:solidFill>
                          <a:latin typeface="Trebuchet MS" pitchFamily="34" charset="0"/>
                          <a:ea typeface="Trebuchet MS" pitchFamily="34" charset="-122"/>
                          <a:cs typeface="Trebuchet MS" pitchFamily="34" charset="-120"/>
                        </a:rPr>
                        <a:t>Orders</a:t>
                      </a:r>
                      <a:endParaRPr lang="en-US" sz="500" dirty="0">
                        <a:latin typeface="Trebuchet MS" charset="0"/>
                        <a:ea typeface="Trebuchet MS" charset="0"/>
                        <a:cs typeface="Trebuchet MS" charset="0"/>
                      </a:endParaRPr>
                    </a:p>
                    <a:p>
                      <a:pPr marL="0" indent="0" algn="ctr">
                        <a:buNone/>
                      </a:pPr>
                      <a:r>
                        <a:rPr lang="en-US" sz="500" b="1" dirty="0">
                          <a:solidFill>
                            <a:srgbClr val="FFFFFF"/>
                          </a:solidFill>
                          <a:latin typeface="Trebuchet MS" pitchFamily="34" charset="0"/>
                          <a:ea typeface="Trebuchet MS" pitchFamily="34" charset="-122"/>
                          <a:cs typeface="Trebuchet MS" pitchFamily="34" charset="-120"/>
                        </a:rPr>
                        <a:t>(30d)</a:t>
                      </a:r>
                      <a:endParaRPr lang="en-US" sz="500" dirty="0">
                        <a:latin typeface="Trebuchet MS" charset="0"/>
                        <a:ea typeface="Trebuchet MS" charset="0"/>
                        <a:cs typeface="Trebuchet MS"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1A1A2E"/>
                    </a:solidFill>
                  </a:tcPr>
                </a:tc>
                <a:tc>
                  <a:txBody>
                    <a:bodyPr/>
                    <a:lstStyle/>
                    <a:p>
                      <a:pPr marL="0" indent="0" algn="ctr">
                        <a:buNone/>
                      </a:pPr>
                      <a:r>
                        <a:rPr lang="en-US" sz="500" b="1" dirty="0">
                          <a:solidFill>
                            <a:srgbClr val="FFFFFF"/>
                          </a:solidFill>
                          <a:latin typeface="Trebuchet MS" pitchFamily="34" charset="0"/>
                          <a:ea typeface="Trebuchet MS" pitchFamily="34" charset="-122"/>
                          <a:cs typeface="Trebuchet MS" pitchFamily="34" charset="-120"/>
                        </a:rPr>
                        <a:t>MoM</a:t>
                      </a:r>
                      <a:endParaRPr lang="en-US" sz="500" dirty="0">
                        <a:latin typeface="Trebuchet MS" charset="0"/>
                        <a:ea typeface="Trebuchet MS" charset="0"/>
                        <a:cs typeface="Trebuchet MS" charset="0"/>
                      </a:endParaRPr>
                    </a:p>
                    <a:p>
                      <a:pPr marL="0" indent="0" algn="ctr">
                        <a:buNone/>
                      </a:pPr>
                      <a:r>
                        <a:rPr lang="en-US" sz="500" b="1" dirty="0">
                          <a:solidFill>
                            <a:srgbClr val="FFFFFF"/>
                          </a:solidFill>
                          <a:latin typeface="Trebuchet MS" pitchFamily="34" charset="0"/>
                          <a:ea typeface="Trebuchet MS" pitchFamily="34" charset="-122"/>
                          <a:cs typeface="Trebuchet MS" pitchFamily="34" charset="-120"/>
                        </a:rPr>
                        <a:t>Chg</a:t>
                      </a:r>
                      <a:endParaRPr lang="en-US" sz="500" dirty="0">
                        <a:latin typeface="Trebuchet MS" charset="0"/>
                        <a:ea typeface="Trebuchet MS" charset="0"/>
                        <a:cs typeface="Trebuchet MS"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1A1A2E"/>
                    </a:solidFill>
                  </a:tcPr>
                </a:tc>
                <a:tc>
                  <a:txBody>
                    <a:bodyPr/>
                    <a:lstStyle/>
                    <a:p>
                      <a:pPr marL="0" indent="0" algn="ctr">
                        <a:buNone/>
                      </a:pPr>
                      <a:r>
                        <a:rPr lang="en-US" sz="500" b="1" dirty="0">
                          <a:solidFill>
                            <a:srgbClr val="FFFFFF"/>
                          </a:solidFill>
                          <a:latin typeface="Trebuchet MS" pitchFamily="34" charset="0"/>
                          <a:ea typeface="Trebuchet MS" pitchFamily="34" charset="-122"/>
                          <a:cs typeface="Trebuchet MS" pitchFamily="34" charset="-120"/>
                        </a:rPr>
                        <a:t>QoQ</a:t>
                      </a:r>
                      <a:endParaRPr lang="en-US" sz="500" dirty="0">
                        <a:latin typeface="Trebuchet MS" charset="0"/>
                        <a:ea typeface="Trebuchet MS" charset="0"/>
                        <a:cs typeface="Trebuchet MS" charset="0"/>
                      </a:endParaRPr>
                    </a:p>
                    <a:p>
                      <a:pPr marL="0" indent="0" algn="ctr">
                        <a:buNone/>
                      </a:pPr>
                      <a:r>
                        <a:rPr lang="en-US" sz="500" b="1" dirty="0">
                          <a:solidFill>
                            <a:srgbClr val="FFFFFF"/>
                          </a:solidFill>
                          <a:latin typeface="Trebuchet MS" pitchFamily="34" charset="0"/>
                          <a:ea typeface="Trebuchet MS" pitchFamily="34" charset="-122"/>
                          <a:cs typeface="Trebuchet MS" pitchFamily="34" charset="-120"/>
                        </a:rPr>
                        <a:t>Chg</a:t>
                      </a:r>
                      <a:endParaRPr lang="en-US" sz="500" dirty="0">
                        <a:latin typeface="Trebuchet MS" charset="0"/>
                        <a:ea typeface="Trebuchet MS" charset="0"/>
                        <a:cs typeface="Trebuchet MS"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1A1A2E"/>
                    </a:solidFill>
                  </a:tcPr>
                </a:tc>
                <a:tc>
                  <a:txBody>
                    <a:bodyPr/>
                    <a:lstStyle/>
                    <a:p>
                      <a:pPr marL="0" indent="0" algn="ctr">
                        <a:buNone/>
                      </a:pPr>
                      <a:r>
                        <a:rPr lang="en-US" sz="500" b="1" dirty="0">
                          <a:solidFill>
                            <a:srgbClr val="FFFFFF"/>
                          </a:solidFill>
                          <a:latin typeface="Trebuchet MS" pitchFamily="34" charset="0"/>
                          <a:ea typeface="Trebuchet MS" pitchFamily="34" charset="-122"/>
                          <a:cs typeface="Trebuchet MS" pitchFamily="34" charset="-120"/>
                        </a:rPr>
                        <a:t>Days Since</a:t>
                      </a:r>
                      <a:endParaRPr lang="en-US" sz="500" dirty="0">
                        <a:latin typeface="Trebuchet MS" charset="0"/>
                        <a:ea typeface="Trebuchet MS" charset="0"/>
                        <a:cs typeface="Trebuchet MS" charset="0"/>
                      </a:endParaRPr>
                    </a:p>
                    <a:p>
                      <a:pPr marL="0" indent="0" algn="ctr">
                        <a:buNone/>
                      </a:pPr>
                      <a:r>
                        <a:rPr lang="en-US" sz="500" b="1" dirty="0">
                          <a:solidFill>
                            <a:srgbClr val="FFFFFF"/>
                          </a:solidFill>
                          <a:latin typeface="Trebuchet MS" pitchFamily="34" charset="0"/>
                          <a:ea typeface="Trebuchet MS" pitchFamily="34" charset="-122"/>
                          <a:cs typeface="Trebuchet MS" pitchFamily="34" charset="-120"/>
                        </a:rPr>
                        <a:t>Contact</a:t>
                      </a:r>
                      <a:endParaRPr lang="en-US" sz="500" dirty="0">
                        <a:latin typeface="Trebuchet MS" charset="0"/>
                        <a:ea typeface="Trebuchet MS" charset="0"/>
                        <a:cs typeface="Trebuchet MS"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1A1A2E"/>
                    </a:solidFill>
                  </a:tcPr>
                </a:tc>
                <a:tc>
                  <a:txBody>
                    <a:bodyPr/>
                    <a:lstStyle/>
                    <a:p>
                      <a:pPr marL="0" indent="0" algn="ctr">
                        <a:buNone/>
                      </a:pPr>
                      <a:r>
                        <a:rPr lang="en-US" sz="500" b="1" dirty="0">
                          <a:solidFill>
                            <a:srgbClr val="FFFFFF"/>
                          </a:solidFill>
                          <a:latin typeface="Trebuchet MS" pitchFamily="34" charset="0"/>
                          <a:ea typeface="Trebuchet MS" pitchFamily="34" charset="-122"/>
                          <a:cs typeface="Trebuchet MS" pitchFamily="34" charset="-120"/>
                        </a:rPr>
                        <a:t>Engage</a:t>
                      </a:r>
                      <a:endParaRPr lang="en-US" sz="500" dirty="0">
                        <a:latin typeface="Trebuchet MS" charset="0"/>
                        <a:ea typeface="Trebuchet MS" charset="0"/>
                        <a:cs typeface="Trebuchet MS"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1A1A2E"/>
                    </a:solidFill>
                  </a:tcPr>
                </a:tc>
                <a:tc>
                  <a:txBody>
                    <a:bodyPr/>
                    <a:lstStyle/>
                    <a:p>
                      <a:pPr marL="0" indent="0" algn="ctr">
                        <a:buNone/>
                      </a:pPr>
                      <a:r>
                        <a:rPr lang="en-US" sz="500" b="1" dirty="0">
                          <a:solidFill>
                            <a:srgbClr val="FFFFFF"/>
                          </a:solidFill>
                          <a:latin typeface="Trebuchet MS" pitchFamily="34" charset="0"/>
                          <a:ea typeface="Trebuchet MS" pitchFamily="34" charset="-122"/>
                          <a:cs typeface="Trebuchet MS" pitchFamily="34" charset="-120"/>
                        </a:rPr>
                        <a:t>Health</a:t>
                      </a:r>
                      <a:endParaRPr lang="en-US" sz="500" dirty="0">
                        <a:latin typeface="Trebuchet MS" charset="0"/>
                        <a:ea typeface="Trebuchet MS" charset="0"/>
                        <a:cs typeface="Trebuchet MS" charset="0"/>
                      </a:endParaRPr>
                    </a:p>
                    <a:p>
                      <a:pPr marL="0" indent="0" algn="ctr">
                        <a:buNone/>
                      </a:pPr>
                      <a:r>
                        <a:rPr lang="en-US" sz="500" b="1" dirty="0">
                          <a:solidFill>
                            <a:srgbClr val="FFFFFF"/>
                          </a:solidFill>
                          <a:latin typeface="Trebuchet MS" pitchFamily="34" charset="0"/>
                          <a:ea typeface="Trebuchet MS" pitchFamily="34" charset="-122"/>
                          <a:cs typeface="Trebuchet MS" pitchFamily="34" charset="-120"/>
                        </a:rPr>
                        <a:t>Tier</a:t>
                      </a:r>
                      <a:endParaRPr lang="en-US" sz="500" dirty="0">
                        <a:latin typeface="Trebuchet MS" charset="0"/>
                        <a:ea typeface="Trebuchet MS" charset="0"/>
                        <a:cs typeface="Trebuchet MS"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1A1A2E"/>
                    </a:solidFill>
                  </a:tcPr>
                </a:tc>
                <a:tc>
                  <a:txBody>
                    <a:bodyPr/>
                    <a:lstStyle/>
                    <a:p>
                      <a:pPr marL="0" indent="0" algn="ctr">
                        <a:buNone/>
                      </a:pPr>
                      <a:r>
                        <a:rPr lang="en-US" sz="500" b="1" dirty="0">
                          <a:solidFill>
                            <a:srgbClr val="FFFFFF"/>
                          </a:solidFill>
                          <a:latin typeface="Trebuchet MS" pitchFamily="34" charset="0"/>
                          <a:ea typeface="Trebuchet MS" pitchFamily="34" charset="-122"/>
                          <a:cs typeface="Trebuchet MS" pitchFamily="34" charset="-120"/>
                        </a:rPr>
                        <a:t>Recommended Action</a:t>
                      </a:r>
                      <a:endParaRPr lang="en-US" sz="500" dirty="0">
                        <a:latin typeface="Trebuchet MS" charset="0"/>
                        <a:ea typeface="Trebuchet MS" charset="0"/>
                        <a:cs typeface="Trebuchet MS"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1A1A2E"/>
                    </a:solidFill>
                  </a:tcPr>
                </a:tc>
                <a:extLst>
                  <a:ext uri="{0D108BD9-81ED-4DB2-BD59-A6C34878D82A}">
                    <a16:rowId xmlns:a16="http://schemas.microsoft.com/office/drawing/2014/main" val="10000"/>
                  </a:ext>
                </a:extLst>
              </a:tr>
              <a:tr h="164592">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DR-112</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E2E2"/>
                    </a:solidFill>
                  </a:tcPr>
                </a:tc>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North</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E2E2"/>
                    </a:solidFill>
                  </a:tcPr>
                </a:tc>
                <a:tc>
                  <a:txBody>
                    <a:bodyPr/>
                    <a:lstStyle/>
                    <a:p>
                      <a:pPr marL="0" indent="0" algn="ctr">
                        <a:buNone/>
                      </a:pPr>
                      <a:r>
                        <a:rPr lang="en-US" sz="550" b="1" dirty="0">
                          <a:solidFill>
                            <a:srgbClr val="DC2626"/>
                          </a:solidFill>
                          <a:latin typeface="Calibri" pitchFamily="34" charset="0"/>
                          <a:ea typeface="Calibri" pitchFamily="34" charset="-122"/>
                          <a:cs typeface="Calibri" pitchFamily="34" charset="-120"/>
                        </a:rPr>
                        <a:t>0</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E2E2"/>
                    </a:solidFill>
                  </a:tcPr>
                </a:tc>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N/A</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E2E2"/>
                    </a:solidFill>
                  </a:tcPr>
                </a:tc>
                <a:tc>
                  <a:txBody>
                    <a:bodyPr/>
                    <a:lstStyle/>
                    <a:p>
                      <a:pPr marL="0" indent="0" algn="ctr">
                        <a:buNone/>
                      </a:pPr>
                      <a:r>
                        <a:rPr lang="en-US" sz="550" dirty="0">
                          <a:solidFill>
                            <a:srgbClr val="DC2626"/>
                          </a:solidFill>
                          <a:latin typeface="Calibri" pitchFamily="34" charset="0"/>
                          <a:ea typeface="Calibri" pitchFamily="34" charset="-122"/>
                          <a:cs typeface="Calibri" pitchFamily="34" charset="-120"/>
                        </a:rPr>
                        <a:t>-100%</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E2E2"/>
                    </a:solidFill>
                  </a:tcPr>
                </a:tc>
                <a:tc>
                  <a:txBody>
                    <a:bodyPr/>
                    <a:lstStyle/>
                    <a:p>
                      <a:pPr marL="0" indent="0" algn="ctr">
                        <a:buNone/>
                      </a:pPr>
                      <a:r>
                        <a:rPr lang="en-US" sz="550" b="1" dirty="0">
                          <a:solidFill>
                            <a:srgbClr val="DC2626"/>
                          </a:solidFill>
                          <a:latin typeface="Calibri" pitchFamily="34" charset="0"/>
                          <a:ea typeface="Calibri" pitchFamily="34" charset="-122"/>
                          <a:cs typeface="Calibri" pitchFamily="34" charset="-120"/>
                        </a:rPr>
                        <a:t>95</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E2E2"/>
                    </a:solidFill>
                  </a:tcPr>
                </a:tc>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Low</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E2E2"/>
                    </a:solidFill>
                  </a:tcPr>
                </a:tc>
                <a:tc>
                  <a:txBody>
                    <a:bodyPr/>
                    <a:lstStyle/>
                    <a:p>
                      <a:pPr marL="0" indent="0" algn="ctr">
                        <a:buNone/>
                      </a:pPr>
                      <a:r>
                        <a:rPr lang="en-US" sz="550" b="1" dirty="0">
                          <a:solidFill>
                            <a:srgbClr val="DC2626"/>
                          </a:solidFill>
                          <a:latin typeface="Calibri" pitchFamily="34" charset="0"/>
                          <a:ea typeface="Calibri" pitchFamily="34" charset="-122"/>
                          <a:cs typeface="Calibri" pitchFamily="34" charset="-120"/>
                        </a:rPr>
                        <a:t>Critical</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E2E2"/>
                    </a:solidFill>
                  </a:tcPr>
                </a:tc>
                <a:tc>
                  <a:txBody>
                    <a:bodyPr/>
                    <a:lstStyle/>
                    <a:p>
                      <a:pPr marL="0" indent="0" algn="l">
                        <a:buNone/>
                      </a:pPr>
                      <a:r>
                        <a:rPr lang="en-US" sz="500" dirty="0">
                          <a:solidFill>
                            <a:srgbClr val="374151"/>
                          </a:solidFill>
                          <a:latin typeface="Calibri" pitchFamily="34" charset="0"/>
                          <a:ea typeface="Calibri" pitchFamily="34" charset="-122"/>
                          <a:cs typeface="Calibri" pitchFamily="34" charset="-120"/>
                        </a:rPr>
                        <a:t>Urgent: diagnose ordering friction</a:t>
                      </a:r>
                      <a:endParaRPr lang="en-US" sz="50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E2E2"/>
                    </a:solidFill>
                  </a:tcPr>
                </a:tc>
                <a:extLst>
                  <a:ext uri="{0D108BD9-81ED-4DB2-BD59-A6C34878D82A}">
                    <a16:rowId xmlns:a16="http://schemas.microsoft.com/office/drawing/2014/main" val="10001"/>
                  </a:ext>
                </a:extLst>
              </a:tr>
              <a:tr h="164592">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DR-041</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E2E2"/>
                    </a:solidFill>
                  </a:tcPr>
                </a:tc>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East</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E2E2"/>
                    </a:solidFill>
                  </a:tcPr>
                </a:tc>
                <a:tc>
                  <a:txBody>
                    <a:bodyPr/>
                    <a:lstStyle/>
                    <a:p>
                      <a:pPr marL="0" indent="0" algn="ctr">
                        <a:buNone/>
                      </a:pPr>
                      <a:r>
                        <a:rPr lang="en-US" sz="550" dirty="0">
                          <a:solidFill>
                            <a:srgbClr val="DC2626"/>
                          </a:solidFill>
                          <a:latin typeface="Calibri" pitchFamily="34" charset="0"/>
                          <a:ea typeface="Calibri" pitchFamily="34" charset="-122"/>
                          <a:cs typeface="Calibri" pitchFamily="34" charset="-120"/>
                        </a:rPr>
                        <a:t>3</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E2E2"/>
                    </a:solidFill>
                  </a:tcPr>
                </a:tc>
                <a:tc>
                  <a:txBody>
                    <a:bodyPr/>
                    <a:lstStyle/>
                    <a:p>
                      <a:pPr marL="0" indent="0" algn="ctr">
                        <a:buNone/>
                      </a:pPr>
                      <a:r>
                        <a:rPr lang="en-US" sz="550" dirty="0">
                          <a:solidFill>
                            <a:srgbClr val="DC2626"/>
                          </a:solidFill>
                          <a:latin typeface="Calibri" pitchFamily="34" charset="0"/>
                          <a:ea typeface="Calibri" pitchFamily="34" charset="-122"/>
                          <a:cs typeface="Calibri" pitchFamily="34" charset="-120"/>
                        </a:rPr>
                        <a:t>-70%</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E2E2"/>
                    </a:solidFill>
                  </a:tcPr>
                </a:tc>
                <a:tc>
                  <a:txBody>
                    <a:bodyPr/>
                    <a:lstStyle/>
                    <a:p>
                      <a:pPr marL="0" indent="0" algn="ctr">
                        <a:buNone/>
                      </a:pPr>
                      <a:r>
                        <a:rPr lang="en-US" sz="550" dirty="0">
                          <a:solidFill>
                            <a:srgbClr val="DC2626"/>
                          </a:solidFill>
                          <a:latin typeface="Calibri" pitchFamily="34" charset="0"/>
                          <a:ea typeface="Calibri" pitchFamily="34" charset="-122"/>
                          <a:cs typeface="Calibri" pitchFamily="34" charset="-120"/>
                        </a:rPr>
                        <a:t>-55%</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E2E2"/>
                    </a:solidFill>
                  </a:tcPr>
                </a:tc>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12</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E2E2"/>
                    </a:solidFill>
                  </a:tcPr>
                </a:tc>
                <a:tc>
                  <a:txBody>
                    <a:bodyPr/>
                    <a:lstStyle/>
                    <a:p>
                      <a:pPr marL="0" indent="0" algn="ctr">
                        <a:buNone/>
                      </a:pPr>
                      <a:r>
                        <a:rPr lang="en-US" sz="550" dirty="0">
                          <a:solidFill>
                            <a:srgbClr val="10B981"/>
                          </a:solidFill>
                          <a:latin typeface="Calibri" pitchFamily="34" charset="0"/>
                          <a:ea typeface="Calibri" pitchFamily="34" charset="-122"/>
                          <a:cs typeface="Calibri" pitchFamily="34" charset="-120"/>
                        </a:rPr>
                        <a:t>High</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E2E2"/>
                    </a:solidFill>
                  </a:tcPr>
                </a:tc>
                <a:tc>
                  <a:txBody>
                    <a:bodyPr/>
                    <a:lstStyle/>
                    <a:p>
                      <a:pPr marL="0" indent="0" algn="ctr">
                        <a:buNone/>
                      </a:pPr>
                      <a:r>
                        <a:rPr lang="en-US" sz="550" b="1" dirty="0">
                          <a:solidFill>
                            <a:srgbClr val="DC2626"/>
                          </a:solidFill>
                          <a:latin typeface="Calibri" pitchFamily="34" charset="0"/>
                          <a:ea typeface="Calibri" pitchFamily="34" charset="-122"/>
                          <a:cs typeface="Calibri" pitchFamily="34" charset="-120"/>
                        </a:rPr>
                        <a:t>Critical</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E2E2"/>
                    </a:solidFill>
                  </a:tcPr>
                </a:tc>
                <a:tc>
                  <a:txBody>
                    <a:bodyPr/>
                    <a:lstStyle/>
                    <a:p>
                      <a:pPr marL="0" indent="0" algn="l">
                        <a:buNone/>
                      </a:pPr>
                      <a:r>
                        <a:rPr lang="en-US" sz="500" dirty="0">
                          <a:solidFill>
                            <a:srgbClr val="374151"/>
                          </a:solidFill>
                          <a:latin typeface="Calibri" pitchFamily="34" charset="0"/>
                          <a:ea typeface="Calibri" pitchFamily="34" charset="-122"/>
                          <a:cs typeface="Calibri" pitchFamily="34" charset="-120"/>
                        </a:rPr>
                        <a:t>Escalate: outreach not working, mgr review</a:t>
                      </a:r>
                      <a:endParaRPr lang="en-US" sz="50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E2E2"/>
                    </a:solidFill>
                  </a:tcPr>
                </a:tc>
                <a:extLst>
                  <a:ext uri="{0D108BD9-81ED-4DB2-BD59-A6C34878D82A}">
                    <a16:rowId xmlns:a16="http://schemas.microsoft.com/office/drawing/2014/main" val="10002"/>
                  </a:ext>
                </a:extLst>
              </a:tr>
              <a:tr h="164592">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DR-091</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F3C7"/>
                    </a:solidFill>
                  </a:tcPr>
                </a:tc>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Central</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F3C7"/>
                    </a:solidFill>
                  </a:tcPr>
                </a:tc>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10</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F3C7"/>
                    </a:solidFill>
                  </a:tcPr>
                </a:tc>
                <a:tc>
                  <a:txBody>
                    <a:bodyPr/>
                    <a:lstStyle/>
                    <a:p>
                      <a:pPr marL="0" indent="0" algn="ctr">
                        <a:buNone/>
                      </a:pPr>
                      <a:r>
                        <a:rPr lang="en-US" sz="550" dirty="0">
                          <a:solidFill>
                            <a:srgbClr val="D97706"/>
                          </a:solidFill>
                          <a:latin typeface="Calibri" pitchFamily="34" charset="0"/>
                          <a:ea typeface="Calibri" pitchFamily="34" charset="-122"/>
                          <a:cs typeface="Calibri" pitchFamily="34" charset="-120"/>
                        </a:rPr>
                        <a:t>-18%</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F3C7"/>
                    </a:solidFill>
                  </a:tcPr>
                </a:tc>
                <a:tc>
                  <a:txBody>
                    <a:bodyPr/>
                    <a:lstStyle/>
                    <a:p>
                      <a:pPr marL="0" indent="0" algn="ctr">
                        <a:buNone/>
                      </a:pPr>
                      <a:r>
                        <a:rPr lang="en-US" sz="550" dirty="0">
                          <a:solidFill>
                            <a:srgbClr val="D97706"/>
                          </a:solidFill>
                          <a:latin typeface="Calibri" pitchFamily="34" charset="0"/>
                          <a:ea typeface="Calibri" pitchFamily="34" charset="-122"/>
                          <a:cs typeface="Calibri" pitchFamily="34" charset="-120"/>
                        </a:rPr>
                        <a:t>-22%</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F3C7"/>
                    </a:solidFill>
                  </a:tcPr>
                </a:tc>
                <a:tc>
                  <a:txBody>
                    <a:bodyPr/>
                    <a:lstStyle/>
                    <a:p>
                      <a:pPr marL="0" indent="0" algn="ctr">
                        <a:buNone/>
                      </a:pPr>
                      <a:r>
                        <a:rPr lang="en-US" sz="550" b="1" dirty="0">
                          <a:solidFill>
                            <a:srgbClr val="D97706"/>
                          </a:solidFill>
                          <a:latin typeface="Calibri" pitchFamily="34" charset="0"/>
                          <a:ea typeface="Calibri" pitchFamily="34" charset="-122"/>
                          <a:cs typeface="Calibri" pitchFamily="34" charset="-120"/>
                        </a:rPr>
                        <a:t>68</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F3C7"/>
                    </a:solidFill>
                  </a:tcPr>
                </a:tc>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Low</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F3C7"/>
                    </a:solidFill>
                  </a:tcPr>
                </a:tc>
                <a:tc>
                  <a:txBody>
                    <a:bodyPr/>
                    <a:lstStyle/>
                    <a:p>
                      <a:pPr marL="0" indent="0" algn="ctr">
                        <a:buNone/>
                      </a:pPr>
                      <a:r>
                        <a:rPr lang="en-US" sz="550" b="1" dirty="0">
                          <a:solidFill>
                            <a:srgbClr val="D97706"/>
                          </a:solidFill>
                          <a:latin typeface="Calibri" pitchFamily="34" charset="0"/>
                          <a:ea typeface="Calibri" pitchFamily="34" charset="-122"/>
                          <a:cs typeface="Calibri" pitchFamily="34" charset="-120"/>
                        </a:rPr>
                        <a:t>At Risk</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F3C7"/>
                    </a:solidFill>
                  </a:tcPr>
                </a:tc>
                <a:tc>
                  <a:txBody>
                    <a:bodyPr/>
                    <a:lstStyle/>
                    <a:p>
                      <a:pPr marL="0" indent="0" algn="l">
                        <a:buNone/>
                      </a:pPr>
                      <a:r>
                        <a:rPr lang="en-US" sz="500" dirty="0">
                          <a:solidFill>
                            <a:srgbClr val="374151"/>
                          </a:solidFill>
                          <a:latin typeface="Calibri" pitchFamily="34" charset="0"/>
                          <a:ea typeface="Calibri" pitchFamily="34" charset="-122"/>
                          <a:cs typeface="Calibri" pitchFamily="34" charset="-120"/>
                        </a:rPr>
                        <a:t>Retention check-in + portal onboarding</a:t>
                      </a:r>
                      <a:endParaRPr lang="en-US" sz="50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F3C7"/>
                    </a:solidFill>
                  </a:tcPr>
                </a:tc>
                <a:extLst>
                  <a:ext uri="{0D108BD9-81ED-4DB2-BD59-A6C34878D82A}">
                    <a16:rowId xmlns:a16="http://schemas.microsoft.com/office/drawing/2014/main" val="10003"/>
                  </a:ext>
                </a:extLst>
              </a:tr>
              <a:tr h="164592">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DR-045</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F3C7"/>
                    </a:solidFill>
                  </a:tcPr>
                </a:tc>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East</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F3C7"/>
                    </a:solidFill>
                  </a:tcPr>
                </a:tc>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8</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F3C7"/>
                    </a:solidFill>
                  </a:tcPr>
                </a:tc>
                <a:tc>
                  <a:txBody>
                    <a:bodyPr/>
                    <a:lstStyle/>
                    <a:p>
                      <a:pPr marL="0" indent="0" algn="ctr">
                        <a:buNone/>
                      </a:pPr>
                      <a:r>
                        <a:rPr lang="en-US" sz="550" dirty="0">
                          <a:solidFill>
                            <a:srgbClr val="D97706"/>
                          </a:solidFill>
                          <a:latin typeface="Calibri" pitchFamily="34" charset="0"/>
                          <a:ea typeface="Calibri" pitchFamily="34" charset="-122"/>
                          <a:cs typeface="Calibri" pitchFamily="34" charset="-120"/>
                        </a:rPr>
                        <a:t>-25%</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F3C7"/>
                    </a:solidFill>
                  </a:tcPr>
                </a:tc>
                <a:tc>
                  <a:txBody>
                    <a:bodyPr/>
                    <a:lstStyle/>
                    <a:p>
                      <a:pPr marL="0" indent="0" algn="ctr">
                        <a:buNone/>
                      </a:pPr>
                      <a:r>
                        <a:rPr lang="en-US" sz="550" dirty="0">
                          <a:solidFill>
                            <a:srgbClr val="D97706"/>
                          </a:solidFill>
                          <a:latin typeface="Calibri" pitchFamily="34" charset="0"/>
                          <a:ea typeface="Calibri" pitchFamily="34" charset="-122"/>
                          <a:cs typeface="Calibri" pitchFamily="34" charset="-120"/>
                        </a:rPr>
                        <a:t>-30%</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F3C7"/>
                    </a:solidFill>
                  </a:tcPr>
                </a:tc>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14</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F3C7"/>
                    </a:solidFill>
                  </a:tcPr>
                </a:tc>
                <a:tc>
                  <a:txBody>
                    <a:bodyPr/>
                    <a:lstStyle/>
                    <a:p>
                      <a:pPr marL="0" indent="0" algn="ctr">
                        <a:buNone/>
                      </a:pPr>
                      <a:r>
                        <a:rPr lang="en-US" sz="550" dirty="0">
                          <a:solidFill>
                            <a:srgbClr val="10B981"/>
                          </a:solidFill>
                          <a:latin typeface="Calibri" pitchFamily="34" charset="0"/>
                          <a:ea typeface="Calibri" pitchFamily="34" charset="-122"/>
                          <a:cs typeface="Calibri" pitchFamily="34" charset="-120"/>
                        </a:rPr>
                        <a:t>High</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F3C7"/>
                    </a:solidFill>
                  </a:tcPr>
                </a:tc>
                <a:tc>
                  <a:txBody>
                    <a:bodyPr/>
                    <a:lstStyle/>
                    <a:p>
                      <a:pPr marL="0" indent="0" algn="ctr">
                        <a:buNone/>
                      </a:pPr>
                      <a:r>
                        <a:rPr lang="en-US" sz="550" b="1" dirty="0">
                          <a:solidFill>
                            <a:srgbClr val="D97706"/>
                          </a:solidFill>
                          <a:latin typeface="Calibri" pitchFamily="34" charset="0"/>
                          <a:ea typeface="Calibri" pitchFamily="34" charset="-122"/>
                          <a:cs typeface="Calibri" pitchFamily="34" charset="-120"/>
                        </a:rPr>
                        <a:t>At Risk</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F3C7"/>
                    </a:solidFill>
                  </a:tcPr>
                </a:tc>
                <a:tc>
                  <a:txBody>
                    <a:bodyPr/>
                    <a:lstStyle/>
                    <a:p>
                      <a:pPr marL="0" indent="0" algn="l">
                        <a:buNone/>
                      </a:pPr>
                      <a:r>
                        <a:rPr lang="en-US" sz="500" dirty="0">
                          <a:solidFill>
                            <a:srgbClr val="374151"/>
                          </a:solidFill>
                          <a:latin typeface="Calibri" pitchFamily="34" charset="0"/>
                          <a:ea typeface="Calibri" pitchFamily="34" charset="-122"/>
                          <a:cs typeface="Calibri" pitchFamily="34" charset="-120"/>
                        </a:rPr>
                        <a:t xml:space="preserve">Engaged but declining </a:t>
                      </a:r>
                      <a:endParaRPr lang="en-US" sz="50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EF3C7"/>
                    </a:solidFill>
                  </a:tcPr>
                </a:tc>
                <a:extLst>
                  <a:ext uri="{0D108BD9-81ED-4DB2-BD59-A6C34878D82A}">
                    <a16:rowId xmlns:a16="http://schemas.microsoft.com/office/drawing/2014/main" val="10004"/>
                  </a:ext>
                </a:extLst>
              </a:tr>
              <a:tr h="164592">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DR-023</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West</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14</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550" dirty="0">
                          <a:solidFill>
                            <a:srgbClr val="10B981"/>
                          </a:solidFill>
                          <a:latin typeface="Calibri" pitchFamily="34" charset="0"/>
                          <a:ea typeface="Calibri" pitchFamily="34" charset="-122"/>
                          <a:cs typeface="Calibri" pitchFamily="34" charset="-120"/>
                        </a:rPr>
                        <a:t>+2%</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-3%</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45</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Low</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550" b="1" dirty="0">
                          <a:solidFill>
                            <a:srgbClr val="3B82F6"/>
                          </a:solidFill>
                          <a:latin typeface="Calibri" pitchFamily="34" charset="0"/>
                          <a:ea typeface="Calibri" pitchFamily="34" charset="-122"/>
                          <a:cs typeface="Calibri" pitchFamily="34" charset="-120"/>
                        </a:rPr>
                        <a:t>Watch</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EFF6FF"/>
                    </a:solidFill>
                  </a:tcPr>
                </a:tc>
                <a:tc>
                  <a:txBody>
                    <a:bodyPr/>
                    <a:lstStyle/>
                    <a:p>
                      <a:pPr marL="0" indent="0" algn="l">
                        <a:buNone/>
                      </a:pPr>
                      <a:r>
                        <a:rPr lang="en-US" sz="500" dirty="0">
                          <a:solidFill>
                            <a:srgbClr val="374151"/>
                          </a:solidFill>
                          <a:latin typeface="Calibri" pitchFamily="34" charset="0"/>
                          <a:ea typeface="Calibri" pitchFamily="34" charset="-122"/>
                          <a:cs typeface="Calibri" pitchFamily="34" charset="-120"/>
                        </a:rPr>
                        <a:t>Stable but disengaged; light touch</a:t>
                      </a:r>
                      <a:endParaRPr lang="en-US" sz="50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EFF6FF"/>
                    </a:solidFill>
                  </a:tcPr>
                </a:tc>
                <a:extLst>
                  <a:ext uri="{0D108BD9-81ED-4DB2-BD59-A6C34878D82A}">
                    <a16:rowId xmlns:a16="http://schemas.microsoft.com/office/drawing/2014/main" val="10005"/>
                  </a:ext>
                </a:extLst>
              </a:tr>
              <a:tr h="164592">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DR-156</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South</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12</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-5%</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550" dirty="0">
                          <a:solidFill>
                            <a:srgbClr val="10B981"/>
                          </a:solidFill>
                          <a:latin typeface="Calibri" pitchFamily="34" charset="0"/>
                          <a:ea typeface="Calibri" pitchFamily="34" charset="-122"/>
                          <a:cs typeface="Calibri" pitchFamily="34" charset="-120"/>
                        </a:rPr>
                        <a:t>+4%</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22</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Med</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550" b="1" dirty="0">
                          <a:solidFill>
                            <a:srgbClr val="3B82F6"/>
                          </a:solidFill>
                          <a:latin typeface="Calibri" pitchFamily="34" charset="0"/>
                          <a:ea typeface="Calibri" pitchFamily="34" charset="-122"/>
                          <a:cs typeface="Calibri" pitchFamily="34" charset="-120"/>
                        </a:rPr>
                        <a:t>Watch</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EFF6FF"/>
                    </a:solidFill>
                  </a:tcPr>
                </a:tc>
                <a:tc>
                  <a:txBody>
                    <a:bodyPr/>
                    <a:lstStyle/>
                    <a:p>
                      <a:pPr marL="0" indent="0" algn="l">
                        <a:buNone/>
                      </a:pPr>
                      <a:r>
                        <a:rPr lang="en-US" sz="500" dirty="0">
                          <a:solidFill>
                            <a:srgbClr val="374151"/>
                          </a:solidFill>
                          <a:latin typeface="Calibri" pitchFamily="34" charset="0"/>
                          <a:ea typeface="Calibri" pitchFamily="34" charset="-122"/>
                          <a:cs typeface="Calibri" pitchFamily="34" charset="-120"/>
                        </a:rPr>
                        <a:t>Standard cadence; QoQ stable</a:t>
                      </a:r>
                      <a:endParaRPr lang="en-US" sz="50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EFF6FF"/>
                    </a:solidFill>
                  </a:tcPr>
                </a:tc>
                <a:extLst>
                  <a:ext uri="{0D108BD9-81ED-4DB2-BD59-A6C34878D82A}">
                    <a16:rowId xmlns:a16="http://schemas.microsoft.com/office/drawing/2014/main" val="10006"/>
                  </a:ext>
                </a:extLst>
              </a:tr>
              <a:tr h="164592">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DR-034</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0FDF4"/>
                    </a:solidFill>
                  </a:tcPr>
                </a:tc>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South</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0FDF4"/>
                    </a:solidFill>
                  </a:tcPr>
                </a:tc>
                <a:tc>
                  <a:txBody>
                    <a:bodyPr/>
                    <a:lstStyle/>
                    <a:p>
                      <a:pPr marL="0" indent="0" algn="ctr">
                        <a:buNone/>
                      </a:pPr>
                      <a:r>
                        <a:rPr lang="en-US" sz="550" b="1" dirty="0">
                          <a:solidFill>
                            <a:srgbClr val="059669"/>
                          </a:solidFill>
                          <a:latin typeface="Calibri" pitchFamily="34" charset="0"/>
                          <a:ea typeface="Calibri" pitchFamily="34" charset="-122"/>
                          <a:cs typeface="Calibri" pitchFamily="34" charset="-120"/>
                        </a:rPr>
                        <a:t>24</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0FDF4"/>
                    </a:solidFill>
                  </a:tcPr>
                </a:tc>
                <a:tc>
                  <a:txBody>
                    <a:bodyPr/>
                    <a:lstStyle/>
                    <a:p>
                      <a:pPr marL="0" indent="0" algn="ctr">
                        <a:buNone/>
                      </a:pPr>
                      <a:r>
                        <a:rPr lang="en-US" sz="550" dirty="0">
                          <a:solidFill>
                            <a:srgbClr val="059669"/>
                          </a:solidFill>
                          <a:latin typeface="Calibri" pitchFamily="34" charset="0"/>
                          <a:ea typeface="Calibri" pitchFamily="34" charset="-122"/>
                          <a:cs typeface="Calibri" pitchFamily="34" charset="-120"/>
                        </a:rPr>
                        <a:t>+12%</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0FDF4"/>
                    </a:solidFill>
                  </a:tcPr>
                </a:tc>
                <a:tc>
                  <a:txBody>
                    <a:bodyPr/>
                    <a:lstStyle/>
                    <a:p>
                      <a:pPr marL="0" indent="0" algn="ctr">
                        <a:buNone/>
                      </a:pPr>
                      <a:r>
                        <a:rPr lang="en-US" sz="550" dirty="0">
                          <a:solidFill>
                            <a:srgbClr val="059669"/>
                          </a:solidFill>
                          <a:latin typeface="Calibri" pitchFamily="34" charset="0"/>
                          <a:ea typeface="Calibri" pitchFamily="34" charset="-122"/>
                          <a:cs typeface="Calibri" pitchFamily="34" charset="-120"/>
                        </a:rPr>
                        <a:t>+18%</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0FDF4"/>
                    </a:solidFill>
                  </a:tcPr>
                </a:tc>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5</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0FDF4"/>
                    </a:solidFill>
                  </a:tcPr>
                </a:tc>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High</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0FDF4"/>
                    </a:solidFill>
                  </a:tcPr>
                </a:tc>
                <a:tc>
                  <a:txBody>
                    <a:bodyPr/>
                    <a:lstStyle/>
                    <a:p>
                      <a:pPr marL="0" indent="0" algn="ctr">
                        <a:buNone/>
                      </a:pPr>
                      <a:r>
                        <a:rPr lang="en-US" sz="550" b="1" dirty="0">
                          <a:solidFill>
                            <a:srgbClr val="059669"/>
                          </a:solidFill>
                          <a:latin typeface="Calibri" pitchFamily="34" charset="0"/>
                          <a:ea typeface="Calibri" pitchFamily="34" charset="-122"/>
                          <a:cs typeface="Calibri" pitchFamily="34" charset="-120"/>
                        </a:rPr>
                        <a:t>Healthy</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0FDF4"/>
                    </a:solidFill>
                  </a:tcPr>
                </a:tc>
                <a:tc>
                  <a:txBody>
                    <a:bodyPr/>
                    <a:lstStyle/>
                    <a:p>
                      <a:pPr marL="0" indent="0" algn="l">
                        <a:buNone/>
                      </a:pPr>
                      <a:r>
                        <a:rPr lang="en-US" sz="500" dirty="0">
                          <a:solidFill>
                            <a:srgbClr val="374151"/>
                          </a:solidFill>
                          <a:latin typeface="Calibri" pitchFamily="34" charset="0"/>
                          <a:ea typeface="Calibri" pitchFamily="34" charset="-122"/>
                          <a:cs typeface="Calibri" pitchFamily="34" charset="-120"/>
                        </a:rPr>
                        <a:t>Expansion opp; new assay intro</a:t>
                      </a:r>
                      <a:endParaRPr lang="en-US" sz="50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0FDF4"/>
                    </a:solidFill>
                  </a:tcPr>
                </a:tc>
                <a:extLst>
                  <a:ext uri="{0D108BD9-81ED-4DB2-BD59-A6C34878D82A}">
                    <a16:rowId xmlns:a16="http://schemas.microsoft.com/office/drawing/2014/main" val="10007"/>
                  </a:ext>
                </a:extLst>
              </a:tr>
              <a:tr h="164592">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DR-078</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0FDF4"/>
                    </a:solidFill>
                  </a:tcPr>
                </a:tc>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North</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0FDF4"/>
                    </a:solidFill>
                  </a:tcPr>
                </a:tc>
                <a:tc>
                  <a:txBody>
                    <a:bodyPr/>
                    <a:lstStyle/>
                    <a:p>
                      <a:pPr marL="0" indent="0" algn="ctr">
                        <a:buNone/>
                      </a:pPr>
                      <a:r>
                        <a:rPr lang="en-US" sz="550" b="1" dirty="0">
                          <a:solidFill>
                            <a:srgbClr val="059669"/>
                          </a:solidFill>
                          <a:latin typeface="Calibri" pitchFamily="34" charset="0"/>
                          <a:ea typeface="Calibri" pitchFamily="34" charset="-122"/>
                          <a:cs typeface="Calibri" pitchFamily="34" charset="-120"/>
                        </a:rPr>
                        <a:t>20</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0FDF4"/>
                    </a:solidFill>
                  </a:tcPr>
                </a:tc>
                <a:tc>
                  <a:txBody>
                    <a:bodyPr/>
                    <a:lstStyle/>
                    <a:p>
                      <a:pPr marL="0" indent="0" algn="ctr">
                        <a:buNone/>
                      </a:pPr>
                      <a:r>
                        <a:rPr lang="en-US" sz="550" dirty="0">
                          <a:solidFill>
                            <a:srgbClr val="059669"/>
                          </a:solidFill>
                          <a:latin typeface="Calibri" pitchFamily="34" charset="0"/>
                          <a:ea typeface="Calibri" pitchFamily="34" charset="-122"/>
                          <a:cs typeface="Calibri" pitchFamily="34" charset="-120"/>
                        </a:rPr>
                        <a:t>+8%</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0FDF4"/>
                    </a:solidFill>
                  </a:tcPr>
                </a:tc>
                <a:tc>
                  <a:txBody>
                    <a:bodyPr/>
                    <a:lstStyle/>
                    <a:p>
                      <a:pPr marL="0" indent="0" algn="ctr">
                        <a:buNone/>
                      </a:pPr>
                      <a:r>
                        <a:rPr lang="en-US" sz="550" dirty="0">
                          <a:solidFill>
                            <a:srgbClr val="059669"/>
                          </a:solidFill>
                          <a:latin typeface="Calibri" pitchFamily="34" charset="0"/>
                          <a:ea typeface="Calibri" pitchFamily="34" charset="-122"/>
                          <a:cs typeface="Calibri" pitchFamily="34" charset="-120"/>
                        </a:rPr>
                        <a:t>+15%</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0FDF4"/>
                    </a:solidFill>
                  </a:tcPr>
                </a:tc>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8</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0FDF4"/>
                    </a:solidFill>
                  </a:tcPr>
                </a:tc>
                <a:tc>
                  <a:txBody>
                    <a:bodyPr/>
                    <a:lstStyle/>
                    <a:p>
                      <a:pPr marL="0" indent="0" algn="ctr">
                        <a:buNone/>
                      </a:pPr>
                      <a:r>
                        <a:rPr lang="en-US" sz="550" dirty="0">
                          <a:solidFill>
                            <a:srgbClr val="374151"/>
                          </a:solidFill>
                          <a:latin typeface="Calibri" pitchFamily="34" charset="0"/>
                          <a:ea typeface="Calibri" pitchFamily="34" charset="-122"/>
                          <a:cs typeface="Calibri" pitchFamily="34" charset="-120"/>
                        </a:rPr>
                        <a:t>High</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0FDF4"/>
                    </a:solidFill>
                  </a:tcPr>
                </a:tc>
                <a:tc>
                  <a:txBody>
                    <a:bodyPr/>
                    <a:lstStyle/>
                    <a:p>
                      <a:pPr marL="0" indent="0" algn="ctr">
                        <a:buNone/>
                      </a:pPr>
                      <a:r>
                        <a:rPr lang="en-US" sz="550" b="1" dirty="0">
                          <a:solidFill>
                            <a:srgbClr val="059669"/>
                          </a:solidFill>
                          <a:latin typeface="Calibri" pitchFamily="34" charset="0"/>
                          <a:ea typeface="Calibri" pitchFamily="34" charset="-122"/>
                          <a:cs typeface="Calibri" pitchFamily="34" charset="-120"/>
                        </a:rPr>
                        <a:t>Healthy</a:t>
                      </a:r>
                      <a:endParaRPr lang="en-US" sz="55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0FDF4"/>
                    </a:solidFill>
                  </a:tcPr>
                </a:tc>
                <a:tc>
                  <a:txBody>
                    <a:bodyPr/>
                    <a:lstStyle/>
                    <a:p>
                      <a:pPr marL="0" indent="0" algn="l">
                        <a:buNone/>
                      </a:pPr>
                      <a:r>
                        <a:rPr lang="en-US" sz="500" dirty="0">
                          <a:solidFill>
                            <a:srgbClr val="374151"/>
                          </a:solidFill>
                          <a:latin typeface="Calibri" pitchFamily="34" charset="0"/>
                          <a:ea typeface="Calibri" pitchFamily="34" charset="-122"/>
                          <a:cs typeface="Calibri" pitchFamily="34" charset="-120"/>
                        </a:rPr>
                        <a:t>Maintain; upsell expanded panel</a:t>
                      </a:r>
                      <a:endParaRPr lang="en-US" sz="500" dirty="0">
                        <a:latin typeface="Calibri" charset="0"/>
                        <a:ea typeface="Calibri" charset="0"/>
                        <a:cs typeface="Calibri" charset="0"/>
                      </a:endParaRPr>
                    </a:p>
                  </a:txBody>
                  <a:tcPr>
                    <a:lnL w="2540" cap="flat" cmpd="sng" algn="ctr">
                      <a:solidFill>
                        <a:srgbClr val="E5E7EB"/>
                      </a:solidFill>
                      <a:prstDash val="solid"/>
                      <a:round/>
                      <a:headEnd type="none" w="med" len="med"/>
                      <a:tailEnd type="none" w="med" len="med"/>
                    </a:lnL>
                    <a:lnR w="2540" cap="flat" cmpd="sng" algn="ctr">
                      <a:solidFill>
                        <a:srgbClr val="E5E7EB"/>
                      </a:solidFill>
                      <a:prstDash val="solid"/>
                      <a:round/>
                      <a:headEnd type="none" w="med" len="med"/>
                      <a:tailEnd type="none" w="med" len="med"/>
                    </a:lnR>
                    <a:lnT w="2540" cap="flat" cmpd="sng" algn="ctr">
                      <a:solidFill>
                        <a:srgbClr val="E5E7EB"/>
                      </a:solidFill>
                      <a:prstDash val="solid"/>
                      <a:round/>
                      <a:headEnd type="none" w="med" len="med"/>
                      <a:tailEnd type="none" w="med" len="med"/>
                    </a:lnT>
                    <a:lnB w="2540" cap="flat" cmpd="sng" algn="ctr">
                      <a:solidFill>
                        <a:srgbClr val="E5E7EB"/>
                      </a:solidFill>
                      <a:prstDash val="solid"/>
                      <a:round/>
                      <a:headEnd type="none" w="med" len="med"/>
                      <a:tailEnd type="none" w="med" len="med"/>
                    </a:lnB>
                    <a:solidFill>
                      <a:srgbClr val="F0FDF4"/>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7377"/>
          </a:solidFill>
          <a:ln/>
        </p:spPr>
        <p:txBody>
          <a:bodyPr/>
          <a:lstStyle/>
          <a:p>
            <a:endParaRPr lang="en-US"/>
          </a:p>
        </p:txBody>
      </p:sp>
      <p:sp>
        <p:nvSpPr>
          <p:cNvPr id="3" name="Shape 1"/>
          <p:cNvSpPr/>
          <p:nvPr/>
        </p:nvSpPr>
        <p:spPr>
          <a:xfrm>
            <a:off x="109728" y="0"/>
            <a:ext cx="36576" cy="5143500"/>
          </a:xfrm>
          <a:prstGeom prst="rect">
            <a:avLst/>
          </a:prstGeom>
          <a:solidFill>
            <a:srgbClr val="2DD4BF"/>
          </a:solidFill>
          <a:ln/>
        </p:spPr>
        <p:txBody>
          <a:bodyPr/>
          <a:lstStyle/>
          <a:p>
            <a:endParaRPr lang="en-US"/>
          </a:p>
        </p:txBody>
      </p:sp>
      <p:sp>
        <p:nvSpPr>
          <p:cNvPr id="4" name="Text 2"/>
          <p:cNvSpPr/>
          <p:nvPr/>
        </p:nvSpPr>
        <p:spPr>
          <a:xfrm>
            <a:off x="640080" y="274320"/>
            <a:ext cx="8229600" cy="502920"/>
          </a:xfrm>
          <a:prstGeom prst="rect">
            <a:avLst/>
          </a:prstGeom>
          <a:noFill/>
          <a:ln/>
        </p:spPr>
        <p:txBody>
          <a:bodyPr wrap="square" lIns="0" tIns="0" rIns="0" bIns="0" rtlCol="0" anchor="ctr"/>
          <a:lstStyle/>
          <a:p>
            <a:pPr marL="0" indent="0">
              <a:buNone/>
            </a:pPr>
            <a:r>
              <a:rPr lang="en-US" sz="2600" b="1" dirty="0">
                <a:latin typeface="Trebuchet MS" pitchFamily="34" charset="0"/>
                <a:ea typeface="Trebuchet MS" pitchFamily="34" charset="-122"/>
                <a:cs typeface="Trebuchet MS" pitchFamily="34" charset="-120"/>
              </a:rPr>
              <a:t>Bringing It All Together</a:t>
            </a:r>
            <a:endParaRPr lang="en-US" sz="2600" dirty="0"/>
          </a:p>
        </p:txBody>
      </p:sp>
      <p:sp>
        <p:nvSpPr>
          <p:cNvPr id="5" name="Text 3"/>
          <p:cNvSpPr/>
          <p:nvPr/>
        </p:nvSpPr>
        <p:spPr>
          <a:xfrm>
            <a:off x="640080" y="731520"/>
            <a:ext cx="8229600" cy="274320"/>
          </a:xfrm>
          <a:prstGeom prst="rect">
            <a:avLst/>
          </a:prstGeom>
          <a:noFill/>
          <a:ln/>
        </p:spPr>
        <p:txBody>
          <a:bodyPr wrap="square" lIns="0" tIns="0" rIns="0" bIns="0" rtlCol="0" anchor="ctr"/>
          <a:lstStyle/>
          <a:p>
            <a:pPr marL="0" indent="0">
              <a:buNone/>
            </a:pPr>
            <a:r>
              <a:rPr lang="en-US" sz="1200" dirty="0">
                <a:solidFill>
                  <a:srgbClr val="2DD4BF"/>
                </a:solidFill>
                <a:latin typeface="Calibri" pitchFamily="34" charset="0"/>
                <a:ea typeface="Calibri" pitchFamily="34" charset="-122"/>
                <a:cs typeface="Calibri" pitchFamily="34" charset="-120"/>
              </a:rPr>
              <a:t>Questions 1 &amp; 2: From AI Agent to Physician Health Dashboard</a:t>
            </a:r>
            <a:endParaRPr lang="en-US" sz="1200" dirty="0"/>
          </a:p>
        </p:txBody>
      </p:sp>
      <p:sp>
        <p:nvSpPr>
          <p:cNvPr id="6" name="Shape 4"/>
          <p:cNvSpPr/>
          <p:nvPr/>
        </p:nvSpPr>
        <p:spPr>
          <a:xfrm>
            <a:off x="640080" y="1188720"/>
            <a:ext cx="7863840" cy="1051560"/>
          </a:xfrm>
          <a:prstGeom prst="rect">
            <a:avLst/>
          </a:prstGeom>
          <a:solidFill>
            <a:srgbClr val="0B1D26"/>
          </a:solidFill>
          <a:ln w="9525">
            <a:solidFill>
              <a:srgbClr val="0D7377"/>
            </a:solidFill>
            <a:prstDash val="solid"/>
          </a:ln>
        </p:spPr>
        <p:txBody>
          <a:bodyPr/>
          <a:lstStyle/>
          <a:p>
            <a:endParaRPr lang="en-US"/>
          </a:p>
        </p:txBody>
      </p:sp>
      <p:sp>
        <p:nvSpPr>
          <p:cNvPr id="9" name="Text 6"/>
          <p:cNvSpPr/>
          <p:nvPr/>
        </p:nvSpPr>
        <p:spPr>
          <a:xfrm>
            <a:off x="822960" y="1312164"/>
            <a:ext cx="6400800" cy="32004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The AI Agent Reduces Workload</a:t>
            </a:r>
            <a:endParaRPr lang="en-US" sz="1400" dirty="0"/>
          </a:p>
        </p:txBody>
      </p:sp>
      <p:sp>
        <p:nvSpPr>
          <p:cNvPr id="10" name="Text 7"/>
          <p:cNvSpPr/>
          <p:nvPr/>
        </p:nvSpPr>
        <p:spPr>
          <a:xfrm>
            <a:off x="822960" y="1600200"/>
            <a:ext cx="6400800" cy="548640"/>
          </a:xfrm>
          <a:prstGeom prst="rect">
            <a:avLst/>
          </a:prstGeom>
          <a:noFill/>
          <a:ln/>
        </p:spPr>
        <p:txBody>
          <a:bodyPr wrap="square" lIns="0" tIns="0" rIns="0" bIns="0" rtlCol="0" anchor="t"/>
          <a:lstStyle/>
          <a:p>
            <a:pPr marL="0" indent="0">
              <a:lnSpc>
                <a:spcPct val="135000"/>
              </a:lnSpc>
              <a:buNone/>
            </a:pPr>
            <a:r>
              <a:rPr lang="en-US" sz="1000" dirty="0">
                <a:solidFill>
                  <a:schemeClr val="bg1"/>
                </a:solidFill>
                <a:latin typeface="Calibri" pitchFamily="34" charset="0"/>
                <a:ea typeface="Calibri" pitchFamily="34" charset="-122"/>
                <a:cs typeface="Calibri" pitchFamily="34" charset="-120"/>
              </a:rPr>
              <a:t>A retrieval-based Status &amp; Results agent with confidence routing, human feedback loops, and a phased rollout handles 40% of CS tickets so the team can focus on what drives retention.</a:t>
            </a:r>
            <a:endParaRPr lang="en-US" sz="1000" dirty="0">
              <a:solidFill>
                <a:schemeClr val="bg1"/>
              </a:solidFill>
            </a:endParaRPr>
          </a:p>
        </p:txBody>
      </p:sp>
      <p:sp>
        <p:nvSpPr>
          <p:cNvPr id="11" name="Shape 8"/>
          <p:cNvSpPr/>
          <p:nvPr/>
        </p:nvSpPr>
        <p:spPr>
          <a:xfrm>
            <a:off x="640080" y="2323442"/>
            <a:ext cx="7863840" cy="1051560"/>
          </a:xfrm>
          <a:prstGeom prst="rect">
            <a:avLst/>
          </a:prstGeom>
          <a:solidFill>
            <a:srgbClr val="0B1D26"/>
          </a:solidFill>
          <a:ln w="9525">
            <a:solidFill>
              <a:srgbClr val="0D7377"/>
            </a:solidFill>
            <a:prstDash val="solid"/>
          </a:ln>
        </p:spPr>
        <p:txBody>
          <a:bodyPr/>
          <a:lstStyle/>
          <a:p>
            <a:endParaRPr lang="en-US"/>
          </a:p>
        </p:txBody>
      </p:sp>
      <p:sp>
        <p:nvSpPr>
          <p:cNvPr id="14" name="Text 10"/>
          <p:cNvSpPr/>
          <p:nvPr/>
        </p:nvSpPr>
        <p:spPr>
          <a:xfrm>
            <a:off x="822960" y="2468526"/>
            <a:ext cx="6400800" cy="32004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The Dashboard Surfaces Real Risk</a:t>
            </a:r>
            <a:endParaRPr lang="en-US" sz="1400" dirty="0"/>
          </a:p>
        </p:txBody>
      </p:sp>
      <p:sp>
        <p:nvSpPr>
          <p:cNvPr id="15" name="Text 11"/>
          <p:cNvSpPr/>
          <p:nvPr/>
        </p:nvSpPr>
        <p:spPr>
          <a:xfrm>
            <a:off x="822960" y="2775766"/>
            <a:ext cx="6400800" cy="548640"/>
          </a:xfrm>
          <a:prstGeom prst="rect">
            <a:avLst/>
          </a:prstGeom>
          <a:noFill/>
          <a:ln/>
        </p:spPr>
        <p:txBody>
          <a:bodyPr wrap="square" lIns="0" tIns="0" rIns="0" bIns="0" rtlCol="0" anchor="t"/>
          <a:lstStyle/>
          <a:p>
            <a:pPr>
              <a:lnSpc>
                <a:spcPct val="135000"/>
              </a:lnSpc>
            </a:pPr>
            <a:r>
              <a:rPr lang="en-US" sz="1000" dirty="0">
                <a:solidFill>
                  <a:schemeClr val="bg1"/>
                </a:solidFill>
              </a:rPr>
              <a:t xml:space="preserve">The dashboard replaces a blunt active versus inactive label with a more useful view of order activity, engagement, and CS relationship recency </a:t>
            </a:r>
            <a:r>
              <a:rPr lang="en-US" sz="1000" dirty="0">
                <a:solidFill>
                  <a:schemeClr val="bg1"/>
                </a:solidFill>
                <a:latin typeface="Calibri" pitchFamily="34" charset="0"/>
                <a:ea typeface="Calibri" pitchFamily="34" charset="-122"/>
                <a:cs typeface="Calibri" pitchFamily="34" charset="-120"/>
              </a:rPr>
              <a:t xml:space="preserve">and a </a:t>
            </a:r>
            <a:r>
              <a:rPr lang="en-US" sz="1000" dirty="0">
                <a:solidFill>
                  <a:schemeClr val="bg1"/>
                </a:solidFill>
                <a:latin typeface="Calibri" pitchFamily="34" charset="0"/>
                <a:cs typeface="Calibri" pitchFamily="34" charset="-120"/>
              </a:rPr>
              <a:t>composite</a:t>
            </a:r>
            <a:r>
              <a:rPr lang="en-US" sz="1000" dirty="0">
                <a:solidFill>
                  <a:schemeClr val="bg1"/>
                </a:solidFill>
                <a:latin typeface="Calibri" pitchFamily="34" charset="0"/>
                <a:ea typeface="Calibri" pitchFamily="34" charset="-122"/>
                <a:cs typeface="Calibri" pitchFamily="34" charset="-120"/>
              </a:rPr>
              <a:t xml:space="preserve"> Health Tier </a:t>
            </a:r>
            <a:r>
              <a:rPr lang="en-US" sz="1000" dirty="0">
                <a:solidFill>
                  <a:schemeClr val="bg1"/>
                </a:solidFill>
                <a:latin typeface="Calibri" pitchFamily="34" charset="0"/>
                <a:cs typeface="Calibri" pitchFamily="34" charset="-120"/>
              </a:rPr>
              <a:t>that</a:t>
            </a:r>
            <a:r>
              <a:rPr lang="en-US" sz="1000" dirty="0">
                <a:solidFill>
                  <a:schemeClr val="bg1"/>
                </a:solidFill>
                <a:latin typeface="Calibri" pitchFamily="34" charset="0"/>
                <a:ea typeface="Calibri" pitchFamily="34" charset="-122"/>
                <a:cs typeface="Calibri" pitchFamily="34" charset="-120"/>
              </a:rPr>
              <a:t xml:space="preserve"> tells CS managers exactly where to focus.</a:t>
            </a:r>
            <a:endParaRPr lang="en-US" sz="1000" dirty="0">
              <a:solidFill>
                <a:schemeClr val="bg1"/>
              </a:solidFill>
            </a:endParaRPr>
          </a:p>
        </p:txBody>
      </p:sp>
      <p:sp>
        <p:nvSpPr>
          <p:cNvPr id="16" name="Shape 12"/>
          <p:cNvSpPr/>
          <p:nvPr/>
        </p:nvSpPr>
        <p:spPr>
          <a:xfrm>
            <a:off x="640080" y="3458164"/>
            <a:ext cx="7863840" cy="1051560"/>
          </a:xfrm>
          <a:prstGeom prst="rect">
            <a:avLst/>
          </a:prstGeom>
          <a:solidFill>
            <a:srgbClr val="0B1D26"/>
          </a:solidFill>
          <a:ln w="9525">
            <a:solidFill>
              <a:srgbClr val="0D7377"/>
            </a:solidFill>
            <a:prstDash val="solid"/>
          </a:ln>
        </p:spPr>
        <p:txBody>
          <a:bodyPr/>
          <a:lstStyle/>
          <a:p>
            <a:endParaRPr lang="en-US"/>
          </a:p>
        </p:txBody>
      </p:sp>
      <p:sp>
        <p:nvSpPr>
          <p:cNvPr id="19" name="Text 14"/>
          <p:cNvSpPr/>
          <p:nvPr/>
        </p:nvSpPr>
        <p:spPr>
          <a:xfrm>
            <a:off x="822960" y="3573790"/>
            <a:ext cx="6400800" cy="32004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Together They Create a Closed Loop</a:t>
            </a:r>
            <a:endParaRPr lang="en-US" sz="1400" dirty="0"/>
          </a:p>
        </p:txBody>
      </p:sp>
      <p:sp>
        <p:nvSpPr>
          <p:cNvPr id="20" name="Text 15"/>
          <p:cNvSpPr/>
          <p:nvPr/>
        </p:nvSpPr>
        <p:spPr>
          <a:xfrm>
            <a:off x="822960" y="3922905"/>
            <a:ext cx="6400800" cy="548640"/>
          </a:xfrm>
          <a:prstGeom prst="rect">
            <a:avLst/>
          </a:prstGeom>
          <a:noFill/>
          <a:ln/>
        </p:spPr>
        <p:txBody>
          <a:bodyPr wrap="square" lIns="0" tIns="0" rIns="0" bIns="0" rtlCol="0" anchor="t"/>
          <a:lstStyle/>
          <a:p>
            <a:pPr marL="0" indent="0">
              <a:lnSpc>
                <a:spcPct val="135000"/>
              </a:lnSpc>
              <a:buNone/>
            </a:pPr>
            <a:r>
              <a:rPr lang="en-US" sz="1000" dirty="0">
                <a:solidFill>
                  <a:schemeClr val="bg1"/>
                </a:solidFill>
                <a:latin typeface="Calibri" pitchFamily="34" charset="0"/>
                <a:ea typeface="Calibri" pitchFamily="34" charset="-122"/>
                <a:cs typeface="Calibri" pitchFamily="34" charset="-120"/>
              </a:rPr>
              <a:t>The AI agent frees CS capacity. The dashboard directs that capacity to the physicians who need it most. Churn risk accounts get proactive outreach instead of being hidden behind a green "Active" label.</a:t>
            </a:r>
            <a:endParaRPr lang="en-US" sz="1000" dirty="0">
              <a:solidFill>
                <a:schemeClr val="bg1"/>
              </a:solidFill>
            </a:endParaRPr>
          </a:p>
        </p:txBody>
      </p:sp>
      <p:sp>
        <p:nvSpPr>
          <p:cNvPr id="21" name="Shape 16"/>
          <p:cNvSpPr/>
          <p:nvPr/>
        </p:nvSpPr>
        <p:spPr>
          <a:xfrm>
            <a:off x="0" y="4572000"/>
            <a:ext cx="9144000" cy="571500"/>
          </a:xfrm>
          <a:prstGeom prst="rect">
            <a:avLst/>
          </a:prstGeom>
          <a:solidFill>
            <a:srgbClr val="0D7377">
              <a:alpha val="70000"/>
            </a:srgbClr>
          </a:solidFill>
          <a:ln/>
        </p:spPr>
        <p:txBody>
          <a:bodyPr/>
          <a:lstStyle/>
          <a:p>
            <a:endParaRPr lang="en-US"/>
          </a:p>
        </p:txBody>
      </p:sp>
      <p:sp>
        <p:nvSpPr>
          <p:cNvPr id="22" name="Text 17"/>
          <p:cNvSpPr/>
          <p:nvPr/>
        </p:nvSpPr>
        <p:spPr>
          <a:xfrm>
            <a:off x="640080" y="4617720"/>
            <a:ext cx="7315200" cy="4572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Ash Sarsour  |  The Precision Scale Initiative  |  Parts 1 &amp; 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2025</TotalTime>
  <Words>4760</Words>
  <Application>Microsoft Macintosh PowerPoint</Application>
  <PresentationFormat>On-screen Show (16:9)</PresentationFormat>
  <Paragraphs>495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Precision Scale Strategic Initiative – Part 1: AI Agent Lifecycle Management</dc:title>
  <dc:subject>PptxGenJS Presentation</dc:subject>
  <dc:creator>Ash Sarsour</dc:creator>
  <cp:lastModifiedBy>Ash Sarsour</cp:lastModifiedBy>
  <cp:revision>19</cp:revision>
  <dcterms:created xsi:type="dcterms:W3CDTF">2026-04-10T23:35:30Z</dcterms:created>
  <dcterms:modified xsi:type="dcterms:W3CDTF">2026-04-13T16:11:04Z</dcterms:modified>
</cp:coreProperties>
</file>